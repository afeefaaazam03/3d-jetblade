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
  </p:notesMasterIdLst>
  <p:sldIdLst>
    <p:sldId id="257" r:id="rId5"/>
    <p:sldId id="264" r:id="rId15"/>
    <p:sldId id="265" r:id="rId16"/>
    <p:sldId id="266" r:id="rId17"/>
    <p:sldId id="267" r:id="rId18"/>
    <p:sldId id="268" r:id="rId19"/>
    <p:sldId id="269" r:id="rId20"/>
    <p:sldId id="270" r:id="rId21"/>
    <p:sldId id="271" r:id="rId22"/>
    <p:sldId id="272" r:id="rId23"/>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BB8"/>
    <a:srgbClr val="0047BA"/>
    <a:srgbClr val="E67E22"/>
    <a:srgbClr val="9B59B6"/>
    <a:srgbClr val="2C3E50"/>
    <a:srgbClr val="27AE60"/>
    <a:srgbClr val="F2F2F2"/>
    <a:srgbClr val="E2F0D9"/>
    <a:srgbClr val="C6C6C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8B1032C-EA38-4F05-BA0D-38AFFFC7BED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199" autoAdjust="0"/>
    <p:restoredTop sz="95033" autoAdjust="0"/>
  </p:normalViewPr>
  <p:slideViewPr>
    <p:cSldViewPr snapToGrid="0" showGuides="1">
      <p:cViewPr varScale="1">
        <p:scale>
          <a:sx n="109" d="100"/>
          <a:sy n="109" d="100"/>
        </p:scale>
        <p:origin x="181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5.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Target false alarms (%)</c:v>
                </c:pt>
              </c:strCache>
            </c:strRef>
          </c:tx>
          <c:spPr>
            <a:solidFill>
              <a:srgbClr val="5A657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c:v>
                </c:pt>
                <c:pt idx="2">
                  <c:v>A-contrario</c:v>
                </c:pt>
              </c:strCache>
            </c:strRef>
          </c:cat>
          <c:val>
            <c:numRef>
              <c:f>Sheet1!$B$2:$B$4</c:f>
              <c:numCache>
                <c:formatCode>General</c:formatCode>
                <c:ptCount val="3"/>
                <c:pt idx="0">
                  <c:v>5</c:v>
                </c:pt>
                <c:pt idx="1">
                  <c:v>1</c:v>
                </c:pt>
                <c:pt idx="2">
                  <c:v>0</c:v>
                </c:pt>
              </c:numCache>
            </c:numRef>
          </c:val>
        </c:ser>
        <c:ser>
          <c:idx val="1"/>
          <c:order val="1"/>
          <c:tx>
            <c:strRef>
              <c:f>Sheet1!$C$1</c:f>
              <c:strCache>
                <c:ptCount val="1"/>
                <c:pt idx="0">
                  <c:v>Actual false alarms (%)</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c:v>
                </c:pt>
                <c:pt idx="2">
                  <c:v>A-contrario</c:v>
                </c:pt>
              </c:strCache>
            </c:strRef>
          </c:cat>
          <c:val>
            <c:numRef>
              <c:f>Sheet1!$C$2:$C$4</c:f>
              <c:numCache>
                <c:formatCode>General</c:formatCode>
                <c:ptCount val="3"/>
                <c:pt idx="0">
                  <c:v>10</c:v>
                </c:pt>
                <c:pt idx="1">
                  <c:v>32</c:v>
                </c:pt>
                <c:pt idx="2">
                  <c:v>96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B66FD6-D2A9-4F00-B491-A99A8AA44ED0}"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5F57D8-2956-440C-8FE5-2823967F9ED1}" type="slidenum">
              <a:rPr lang="en-US" smtClean="0"/>
              <a:t>‹#›</a:t>
            </a:fld>
            <a:endParaRPr lang="en-US"/>
          </a:p>
        </p:txBody>
      </p:sp>
    </p:spTree>
    <p:extLst>
      <p:ext uri="{BB962C8B-B14F-4D97-AF65-F5344CB8AC3E}">
        <p14:creationId xmlns:p14="http://schemas.microsoft.com/office/powerpoint/2010/main" val="3816629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Defect estimation on aero-engine blades from a CAD model and a few photos, with the ability to abstain.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causes look alike in a photo. Only a dent changes the shape. We report damage only when the images can prove it, and otherwise abstain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explains the photos with nuisance only. Step 2 proposes locations with a score test. Step 3 fits a parametric dent by differentiable rendering. Step 4 compares the two fits. Note: the deformation is a parametric dent, not a neural network; the neural deformation field is one of our baselines.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physical specialists each explain the photos at the detected spot. The judge picks the clear winner on the same evidence scale as detection, or says type uncertain. Irregular shapes such as folded dents have not been tested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honest limitation. The dent is located correctly but its depth is underestimated. Several fixes did not help, so we present location as the reliable output and depth as the open problem, most likely needing grazing light.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threshold is calibrated on real negatives. Textbook tests assume ideal noise and fail. Class-specific thresholds are a planned next step, not yet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an equal 5 percent false-alarm rate we locate 51 percent of visible dents against at most 19 percent. Cracks are always typed correctly once found; nicks 9 of 15, with 6 honestly uncertain and 6 wrong.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unseen industrial designs the frozen model raised many false alarms. We found two causes, fixed them on blades 1 and 2, and tested on blades 3 to 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include 2D, classical and CAD-prior deformation methods. Two authors of the closest work gave feedback in personal correspondence; paraphrased.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 is real metal blades with measured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0047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63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eg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chemeClr val="bg2"/>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5181600"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7211BEC-8A05-5048-8010-DA55CE467235}"/>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4" y="654528"/>
            <a:ext cx="3540072" cy="774496"/>
          </a:xfrm>
          <a:prstGeom prst="rect">
            <a:avLst/>
          </a:prstGeom>
        </p:spPr>
      </p:pic>
    </p:spTree>
    <p:extLst>
      <p:ext uri="{BB962C8B-B14F-4D97-AF65-F5344CB8AC3E}">
        <p14:creationId xmlns:p14="http://schemas.microsoft.com/office/powerpoint/2010/main" val="3684787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hoto">
    <p:bg>
      <p:bgPr>
        <a:solidFill>
          <a:srgbClr val="0047B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EB21E90-80D8-4070-8157-51F5D9E9B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pic>
        <p:nvPicPr>
          <p:cNvPr id="8" name="Picture 7">
            <a:extLst>
              <a:ext uri="{FF2B5EF4-FFF2-40B4-BE49-F238E27FC236}">
                <a16:creationId xmlns:a16="http://schemas.microsoft.com/office/drawing/2014/main" id="{E14C8DC6-096E-714D-AF28-586972589725}"/>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cxnSp>
        <p:nvCxnSpPr>
          <p:cNvPr id="9" name="Straight Connector 8">
            <a:extLst>
              <a:ext uri="{FF2B5EF4-FFF2-40B4-BE49-F238E27FC236}">
                <a16:creationId xmlns:a16="http://schemas.microsoft.com/office/drawing/2014/main" id="{41EF1488-91C4-7449-841C-78AF4CE5EB83}"/>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40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279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9" name="Rectangle 8"/>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2" name="Rectangle 11"/>
          <p:cNvSpPr/>
          <p:nvPr userDrawn="1"/>
        </p:nvSpPr>
        <p:spPr>
          <a:xfrm>
            <a:off x="2430779"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13" name="Rectangle 12"/>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14" name="Rectangle 13"/>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15" name="Rectangle 14"/>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19" name="Straight Connector 1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8327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72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cxnSp>
        <p:nvCxnSpPr>
          <p:cNvPr id="16" name="Straight Connector 15"/>
          <p:cNvCxnSpPr/>
          <p:nvPr userDrawn="1"/>
        </p:nvCxnSpPr>
        <p:spPr>
          <a:xfrm>
            <a:off x="-2" y="378863"/>
            <a:ext cx="12192002" cy="0"/>
          </a:xfrm>
          <a:prstGeom prst="line">
            <a:avLst/>
          </a:prstGeom>
          <a:ln w="6350">
            <a:solidFill>
              <a:schemeClr val="bg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31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8943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ortrai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B3A0E-D963-4BA4-863C-413B32E51AE7}"/>
              </a:ext>
            </a:extLst>
          </p:cNvPr>
          <p:cNvSpPr>
            <a:spLocks noGrp="1"/>
          </p:cNvSpPr>
          <p:nvPr>
            <p:ph idx="1" hasCustomPrompt="1"/>
          </p:nvPr>
        </p:nvSpPr>
        <p:spPr>
          <a:xfrm>
            <a:off x="6162675" y="1152524"/>
            <a:ext cx="5191124" cy="5162121"/>
          </a:xfrm>
        </p:spPr>
        <p:txBody>
          <a:bodyPr/>
          <a:lstStyle>
            <a:lvl1pPr>
              <a:defRPr b="0"/>
            </a:lvl1pPr>
          </a:lstStyle>
          <a:p>
            <a:pPr lvl="0"/>
            <a:r>
              <a:rPr lang="en-US"/>
              <a:t>Heading 1</a:t>
            </a:r>
          </a:p>
          <a:p>
            <a:pPr lvl="1"/>
            <a:r>
              <a:rPr lang="en-US"/>
              <a:t>Second level</a:t>
            </a:r>
          </a:p>
          <a:p>
            <a:pPr lvl="2"/>
            <a:r>
              <a:rPr lang="en-US"/>
              <a:t>Third level</a:t>
            </a:r>
          </a:p>
          <a:p>
            <a:pPr lvl="3"/>
            <a:r>
              <a:rPr lang="en-US"/>
              <a:t>Fourth level</a:t>
            </a:r>
          </a:p>
          <a:p>
            <a:pPr lvl="4"/>
            <a:r>
              <a:rPr lang="en-US"/>
              <a:t>Fifth level</a:t>
            </a:r>
          </a:p>
        </p:txBody>
      </p:sp>
      <p:sp>
        <p:nvSpPr>
          <p:cNvPr id="11" name="Title 10">
            <a:extLst>
              <a:ext uri="{FF2B5EF4-FFF2-40B4-BE49-F238E27FC236}">
                <a16:creationId xmlns:a16="http://schemas.microsoft.com/office/drawing/2014/main" id="{1C1F0F3F-166A-422E-B49B-E35296BCC605}"/>
              </a:ext>
            </a:extLst>
          </p:cNvPr>
          <p:cNvSpPr>
            <a:spLocks noGrp="1"/>
          </p:cNvSpPr>
          <p:nvPr>
            <p:ph type="title"/>
          </p:nvPr>
        </p:nvSpPr>
        <p:spPr>
          <a:xfrm>
            <a:off x="1362075" y="1123950"/>
            <a:ext cx="4419600" cy="5190695"/>
          </a:xfrm>
        </p:spPr>
        <p:txBody>
          <a:bodyPr anchor="t" anchorCtr="0"/>
          <a:lstStyle/>
          <a:p>
            <a:r>
              <a:rPr lang="en-US"/>
              <a:t>Click to edit Master title style</a:t>
            </a:r>
          </a:p>
        </p:txBody>
      </p:sp>
      <p:sp>
        <p:nvSpPr>
          <p:cNvPr id="2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2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2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26" name="Picture 2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1" name="Rectangle 20"/>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2" name="Rectangle 21"/>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4" name="Rectangle 3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5" name="Rectangle 3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36" name="Rectangle 3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37" name="Straight Connector 3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9095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2"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3"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4" name="Picture 13">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2" name="Rectangle 21"/>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3" name="Rectangle 22"/>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4" name="Rectangle 2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5" name="Rectangle 2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6" name="Rectangle 2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7" name="Straight Connector 2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64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2">
            <a:extLst>
              <a:ext uri="{FF2B5EF4-FFF2-40B4-BE49-F238E27FC236}">
                <a16:creationId xmlns:a16="http://schemas.microsoft.com/office/drawing/2014/main" id="{E4673FD0-9E13-4C1A-B859-688309735A0D}"/>
              </a:ext>
            </a:extLst>
          </p:cNvPr>
          <p:cNvSpPr>
            <a:spLocks noGrp="1"/>
          </p:cNvSpPr>
          <p:nvPr>
            <p:ph type="body" idx="13"/>
          </p:nvPr>
        </p:nvSpPr>
        <p:spPr>
          <a:xfrm>
            <a:off x="1360800" y="1868399"/>
            <a:ext cx="4680000"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4">
            <a:extLst>
              <a:ext uri="{FF2B5EF4-FFF2-40B4-BE49-F238E27FC236}">
                <a16:creationId xmlns:a16="http://schemas.microsoft.com/office/drawing/2014/main" id="{E81F1501-AF73-4AAC-9FF0-0767311D3E75}"/>
              </a:ext>
            </a:extLst>
          </p:cNvPr>
          <p:cNvSpPr>
            <a:spLocks noGrp="1"/>
          </p:cNvSpPr>
          <p:nvPr>
            <p:ph type="body" sz="quarter" idx="3"/>
          </p:nvPr>
        </p:nvSpPr>
        <p:spPr>
          <a:xfrm>
            <a:off x="6667500" y="1868399"/>
            <a:ext cx="4687888"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6" name="Picture 1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36" name="Rectangle 35"/>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37" name="Rectangle 36"/>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8" name="Rectangle 37"/>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9" name="Rectangle 38"/>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40" name="Rectangle 39"/>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41" name="Straight Connector 40"/>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27141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with Caption">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F29153F9-78D4-4D70-B44A-4B9B91D91CB2}"/>
              </a:ext>
            </a:extLst>
          </p:cNvPr>
          <p:cNvSpPr>
            <a:spLocks noGrp="1"/>
          </p:cNvSpPr>
          <p:nvPr>
            <p:ph type="chart" sz="quarter" idx="14"/>
          </p:nvPr>
        </p:nvSpPr>
        <p:spPr>
          <a:xfrm>
            <a:off x="6162675" y="771525"/>
            <a:ext cx="5638800" cy="5534025"/>
          </a:xfrm>
        </p:spPr>
        <p:txBody>
          <a:bodyPr/>
          <a:lstStyle>
            <a:lvl1pPr marL="0" indent="0">
              <a:buNone/>
              <a:defRPr/>
            </a:lvl1pPr>
          </a:lstStyle>
          <a:p>
            <a:r>
              <a:rPr lang="en-US"/>
              <a:t>Click icon to add chart</a:t>
            </a:r>
          </a:p>
        </p:txBody>
      </p:sp>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lvl1pPr marL="0" indent="0">
              <a:buNone/>
              <a:defRPr b="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035F2A6E-69EA-48C4-9878-9F94057E6DBE}"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436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95D80CBD-01E1-4F40-95BB-4CDCB31285D5}"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9" name="Picture Placeholder 8">
            <a:extLst>
              <a:ext uri="{FF2B5EF4-FFF2-40B4-BE49-F238E27FC236}">
                <a16:creationId xmlns:a16="http://schemas.microsoft.com/office/drawing/2014/main" id="{A46E416A-BFDB-410E-9AC9-671259E5DAFB}"/>
              </a:ext>
            </a:extLst>
          </p:cNvPr>
          <p:cNvSpPr>
            <a:spLocks noGrp="1"/>
          </p:cNvSpPr>
          <p:nvPr>
            <p:ph type="pic" sz="quarter" idx="13"/>
          </p:nvPr>
        </p:nvSpPr>
        <p:spPr>
          <a:xfrm>
            <a:off x="6162675" y="771525"/>
            <a:ext cx="5638800" cy="5534025"/>
          </a:xfrm>
          <a:solidFill>
            <a:schemeClr val="bg1">
              <a:lumMod val="85000"/>
            </a:schemeClr>
          </a:solidFill>
        </p:spPr>
        <p:txBody>
          <a:bodyPr/>
          <a:lstStyle>
            <a:lvl1pPr marL="0" indent="0">
              <a:buNone/>
              <a:defRPr/>
            </a:lvl1pPr>
          </a:lstStyle>
          <a:p>
            <a:r>
              <a:rPr lang="en-US"/>
              <a:t>Click icon to add picture</a:t>
            </a:r>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05989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828676" y="542925"/>
            <a:ext cx="10544174" cy="1114425"/>
          </a:xfrm>
        </p:spPr>
        <p:txBody>
          <a:bodyPr/>
          <a:lstStyle>
            <a:lvl1pPr algn="ctr">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E11F5515-C8D0-401B-9D01-89182670CBCD}"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2752725"/>
            <a:ext cx="3714750" cy="3562350"/>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41884930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4" y="1114424"/>
            <a:ext cx="6343651" cy="1438275"/>
          </a:xfrm>
        </p:spPr>
        <p:txBody>
          <a:bodyPr anchor="t" anchorCtr="0"/>
          <a:lstStyle>
            <a:lvl1pPr algn="l">
              <a:lnSpc>
                <a:spcPct val="100000"/>
              </a:lnSpc>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27BE144D-A52D-4A39-B7E7-83B2E7E1D029}"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762000"/>
            <a:ext cx="3714750" cy="5553075"/>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6066545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p>
            <a:fld id="{BAA8F194-9077-4E80-915D-8EF8A5C3402A}"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58844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lvl1pPr>
              <a:defRPr>
                <a:solidFill>
                  <a:schemeClr val="tx2"/>
                </a:solidFill>
              </a:defRPr>
            </a:lvl1pPr>
          </a:lstStyle>
          <a:p>
            <a:fld id="{ED18892A-385F-4913-84E0-6673BA4EFF00}"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lvl1pPr>
              <a:defRPr>
                <a:solidFill>
                  <a:schemeClr val="tx2"/>
                </a:solidFill>
              </a:defRPr>
            </a:lvl1p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lvl1pPr>
              <a:defRPr>
                <a:solidFill>
                  <a:schemeClr val="tx2"/>
                </a:solidFill>
              </a:defRPr>
            </a:lvl1pPr>
          </a:lstStyle>
          <a:p>
            <a:fld id="{1E68DD1B-5CD8-424B-8173-19E182143E0A}" type="slidenum">
              <a:rPr lang="en-US" smtClean="0"/>
              <a:pPr/>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tx2"/>
                </a:solidFill>
              </a:rPr>
              <a:t>ku.ac.ae</a:t>
            </a:r>
            <a:endParaRPr lang="en-US" sz="850">
              <a:solidFill>
                <a:schemeClr val="tx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7"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8852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94EFBB-C8CA-4201-A903-805856BEB310}"/>
              </a:ext>
            </a:extLst>
          </p:cNvPr>
          <p:cNvSpPr>
            <a:spLocks noGrp="1"/>
          </p:cNvSpPr>
          <p:nvPr>
            <p:ph type="dt" sz="half" idx="10"/>
          </p:nvPr>
        </p:nvSpPr>
        <p:spPr/>
        <p:txBody>
          <a:bodyPr/>
          <a:lstStyle/>
          <a:p>
            <a:fld id="{39C56024-30B0-4B46-92B2-A72D2ECADBC7}" type="datetime2">
              <a:rPr lang="en-US" smtClean="0"/>
              <a:t>Tuesday, October 13, 2026</a:t>
            </a:fld>
            <a:endParaRPr lang="en-US"/>
          </a:p>
        </p:txBody>
      </p:sp>
      <p:sp>
        <p:nvSpPr>
          <p:cNvPr id="3" name="Footer Placeholder 2">
            <a:extLst>
              <a:ext uri="{FF2B5EF4-FFF2-40B4-BE49-F238E27FC236}">
                <a16:creationId xmlns:a16="http://schemas.microsoft.com/office/drawing/2014/main" id="{8551DCEB-2462-4151-B7CC-F3EC0D3A59D6}"/>
              </a:ext>
            </a:extLst>
          </p:cNvPr>
          <p:cNvSpPr>
            <a:spLocks noGrp="1"/>
          </p:cNvSpPr>
          <p:nvPr>
            <p:ph type="ftr" sz="quarter" idx="11"/>
          </p:nvPr>
        </p:nvSpPr>
        <p:spPr/>
        <p:txBody>
          <a:bodyPr/>
          <a:lstStyle/>
          <a:p>
            <a:r>
              <a:rPr lang="en-US" dirty="0"/>
              <a:t>Synthesis and Evaluation of Iron Pyrite for Photovoltaic Applications</a:t>
            </a:r>
          </a:p>
        </p:txBody>
      </p:sp>
      <p:sp>
        <p:nvSpPr>
          <p:cNvPr id="4" name="Slide Number Placeholder 3">
            <a:extLst>
              <a:ext uri="{FF2B5EF4-FFF2-40B4-BE49-F238E27FC236}">
                <a16:creationId xmlns:a16="http://schemas.microsoft.com/office/drawing/2014/main" id="{B5A57B99-432B-45A8-9216-9BC01B297D0C}"/>
              </a:ext>
            </a:extLst>
          </p:cNvPr>
          <p:cNvSpPr>
            <a:spLocks noGrp="1"/>
          </p:cNvSpPr>
          <p:nvPr>
            <p:ph type="sldNum" sz="quarter" idx="12"/>
          </p:nvPr>
        </p:nvSpPr>
        <p:spPr/>
        <p:txBody>
          <a:bodyPr/>
          <a:lstStyle/>
          <a:p>
            <a:fld id="{1E68DD1B-5CD8-424B-8173-19E182143E0A}" type="slidenum">
              <a:rPr lang="en-US" smtClean="0"/>
              <a:t>‹#›</a:t>
            </a:fld>
            <a:endParaRPr lang="en-US"/>
          </a:p>
        </p:txBody>
      </p:sp>
    </p:spTree>
    <p:extLst>
      <p:ext uri="{BB962C8B-B14F-4D97-AF65-F5344CB8AC3E}">
        <p14:creationId xmlns:p14="http://schemas.microsoft.com/office/powerpoint/2010/main" val="42591543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D0CFC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204913"/>
            <a:ext cx="10515600" cy="2852737"/>
          </a:xfrm>
        </p:spPr>
        <p:txBody>
          <a:bodyPr anchor="b"/>
          <a:lstStyle>
            <a:lvl1pPr algn="ctr">
              <a:lnSpc>
                <a:spcPct val="100000"/>
              </a:lnSpc>
              <a:defRPr sz="6000"/>
            </a:lvl1pPr>
          </a:lstStyle>
          <a:p>
            <a:r>
              <a:rPr lang="en-US"/>
              <a:t>Click to edit Master title style</a:t>
            </a:r>
          </a:p>
        </p:txBody>
      </p:sp>
      <p:sp>
        <p:nvSpPr>
          <p:cNvPr id="3" name="Text Placeholder 2">
            <a:extLst>
              <a:ext uri="{FF2B5EF4-FFF2-40B4-BE49-F238E27FC236}">
                <a16:creationId xmlns:a16="http://schemas.microsoft.com/office/drawing/2014/main" id="{1104C747-8640-4D13-A1FA-90CDB4EBBF1D}"/>
              </a:ext>
            </a:extLst>
          </p:cNvPr>
          <p:cNvSpPr>
            <a:spLocks noGrp="1"/>
          </p:cNvSpPr>
          <p:nvPr>
            <p:ph type="body" idx="1"/>
          </p:nvPr>
        </p:nvSpPr>
        <p:spPr>
          <a:xfrm>
            <a:off x="831850" y="4000500"/>
            <a:ext cx="10515600" cy="1584326"/>
          </a:xfrm>
        </p:spPr>
        <p:txBody>
          <a:bodyPr>
            <a:normAutofit/>
          </a:bodyPr>
          <a:lstStyle>
            <a:lvl1pPr marL="0" indent="0" algn="ctr">
              <a:buNone/>
              <a:defRPr sz="38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fld id="{BE2FE558-A44A-4071-89ED-CC9811DD0BF9}" type="datetime2">
              <a:rPr lang="en-US" smtClean="0"/>
              <a:t>Tuesday, October 13, 2026</a:t>
            </a:fld>
            <a:endParaRPr lang="en-US"/>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254536105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eading Picture Backgroun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2106613"/>
            <a:ext cx="10515600" cy="2852737"/>
          </a:xfrm>
        </p:spPr>
        <p:txBody>
          <a:bodyPr anchor="b"/>
          <a:lstStyle>
            <a:lvl1pPr algn="ctr">
              <a:lnSpc>
                <a:spcPct val="100000"/>
              </a:lnSpc>
              <a:defRPr sz="6000">
                <a:solidFill>
                  <a:srgbClr val="FFFFFF"/>
                </a:solidFill>
              </a:defRPr>
            </a:lvl1pPr>
          </a:lstStyle>
          <a:p>
            <a:r>
              <a:rPr lang="en-US" dirty="0"/>
              <a:t>Click to edit Master title style</a:t>
            </a:r>
          </a:p>
        </p:txBody>
      </p:sp>
    </p:spTree>
    <p:extLst>
      <p:ext uri="{BB962C8B-B14F-4D97-AF65-F5344CB8AC3E}">
        <p14:creationId xmlns:p14="http://schemas.microsoft.com/office/powerpoint/2010/main" val="3658298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p:bg>
      <p:bgPr>
        <a:solidFill>
          <a:srgbClr val="0047BA"/>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22667" y="891158"/>
            <a:ext cx="2368684" cy="518220"/>
          </a:xfrm>
          <a:prstGeom prst="rect">
            <a:avLst/>
          </a:prstGeom>
        </p:spPr>
      </p:pic>
      <p:sp>
        <p:nvSpPr>
          <p:cNvPr id="4" name="TextBox 3">
            <a:extLst>
              <a:ext uri="{FF2B5EF4-FFF2-40B4-BE49-F238E27FC236}">
                <a16:creationId xmlns:a16="http://schemas.microsoft.com/office/drawing/2014/main" id="{AFAD5768-C7B0-4ABF-BE83-522BCD1F6FE5}"/>
              </a:ext>
            </a:extLst>
          </p:cNvPr>
          <p:cNvSpPr txBox="1"/>
          <p:nvPr userDrawn="1"/>
        </p:nvSpPr>
        <p:spPr>
          <a:xfrm>
            <a:off x="752475" y="2545809"/>
            <a:ext cx="10648950" cy="1769715"/>
          </a:xfrm>
          <a:prstGeom prst="rect">
            <a:avLst/>
          </a:prstGeom>
          <a:noFill/>
        </p:spPr>
        <p:txBody>
          <a:bodyPr wrap="square" lIns="0" tIns="0" rIns="0" bIns="0" rtlCol="0" anchor="ctr" anchorCtr="0">
            <a:spAutoFit/>
          </a:bodyPr>
          <a:lstStyle/>
          <a:p>
            <a:pPr algn="ctr"/>
            <a:r>
              <a:rPr lang="fi-FI" sz="11500" b="1" spc="-100" baseline="0" dirty="0" err="1">
                <a:solidFill>
                  <a:srgbClr val="FFFFFF"/>
                </a:solidFill>
                <a:latin typeface="+mj-lt"/>
              </a:rPr>
              <a:t>Thank</a:t>
            </a:r>
            <a:r>
              <a:rPr lang="fi-FI" sz="11500" b="1" spc="-100" baseline="0" dirty="0">
                <a:solidFill>
                  <a:srgbClr val="FFFFFF"/>
                </a:solidFill>
                <a:latin typeface="+mj-lt"/>
              </a:rPr>
              <a:t> </a:t>
            </a:r>
            <a:r>
              <a:rPr lang="fi-FI" sz="11500" b="1" spc="-100" baseline="0" dirty="0" err="1">
                <a:solidFill>
                  <a:srgbClr val="FFFFFF"/>
                </a:solidFill>
                <a:latin typeface="+mj-lt"/>
              </a:rPr>
              <a:t>You</a:t>
            </a:r>
            <a:endParaRPr lang="en-US" sz="11500" b="1" spc="-100" baseline="0" dirty="0">
              <a:solidFill>
                <a:srgbClr val="FFFFFF"/>
              </a:solidFill>
              <a:latin typeface="+mj-lt"/>
            </a:endParaRPr>
          </a:p>
        </p:txBody>
      </p:sp>
      <p:sp>
        <p:nvSpPr>
          <p:cNvPr id="13" name="TextBox 12">
            <a:extLst>
              <a:ext uri="{FF2B5EF4-FFF2-40B4-BE49-F238E27FC236}">
                <a16:creationId xmlns:a16="http://schemas.microsoft.com/office/drawing/2014/main" id="{A94333D0-73BA-48D2-AA6E-3F2C63C9CA8F}"/>
              </a:ext>
            </a:extLst>
          </p:cNvPr>
          <p:cNvSpPr txBox="1"/>
          <p:nvPr userDrawn="1"/>
        </p:nvSpPr>
        <p:spPr>
          <a:xfrm>
            <a:off x="5181601" y="6146800"/>
            <a:ext cx="1838324" cy="244475"/>
          </a:xfrm>
          <a:prstGeom prst="rect">
            <a:avLst/>
          </a:prstGeom>
          <a:noFill/>
        </p:spPr>
        <p:txBody>
          <a:bodyPr wrap="square" lIns="0" tIns="0" rIns="0" bIns="0" rtlCol="0" anchor="ctr" anchorCtr="0">
            <a:noAutofit/>
          </a:bodyPr>
          <a:lstStyle/>
          <a:p>
            <a:pPr algn="ctr"/>
            <a:r>
              <a:rPr lang="fi-FI" sz="1250" b="1">
                <a:solidFill>
                  <a:srgbClr val="FFFFFF"/>
                </a:solidFill>
              </a:rPr>
              <a:t>ku.ac.ae</a:t>
            </a:r>
            <a:endParaRPr lang="en-US" sz="1250" b="1">
              <a:solidFill>
                <a:srgbClr val="FFFFFF"/>
              </a:solidFill>
            </a:endParaRPr>
          </a:p>
        </p:txBody>
      </p:sp>
    </p:spTree>
    <p:extLst>
      <p:ext uri="{BB962C8B-B14F-4D97-AF65-F5344CB8AC3E}">
        <p14:creationId xmlns:p14="http://schemas.microsoft.com/office/powerpoint/2010/main" val="24195699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7564FE-F745-443F-8321-B0EFD169FAC6}"/>
              </a:ext>
            </a:extLst>
          </p:cNvPr>
          <p:cNvSpPr>
            <a:spLocks noGrp="1"/>
          </p:cNvSpPr>
          <p:nvPr>
            <p:ph type="title"/>
          </p:nvPr>
        </p:nvSpPr>
        <p:spPr>
          <a:xfrm>
            <a:off x="1362074" y="542925"/>
            <a:ext cx="9991725" cy="1114425"/>
          </a:xfrm>
          <a:prstGeom prst="rect">
            <a:avLst/>
          </a:prstGeom>
        </p:spPr>
        <p:txBody>
          <a:bodyPr vert="horz" lIns="0" tIns="0" rIns="0" bIns="0" rtlCol="0" anchor="b"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06911581-2B37-40B3-825A-043921DFB80C}"/>
              </a:ext>
            </a:extLst>
          </p:cNvPr>
          <p:cNvSpPr>
            <a:spLocks noGrp="1"/>
          </p:cNvSpPr>
          <p:nvPr>
            <p:ph type="body" idx="1"/>
          </p:nvPr>
        </p:nvSpPr>
        <p:spPr>
          <a:xfrm>
            <a:off x="1362074" y="1866900"/>
            <a:ext cx="9991725" cy="4448175"/>
          </a:xfrm>
          <a:prstGeom prst="rect">
            <a:avLst/>
          </a:prstGeom>
        </p:spPr>
        <p:txBody>
          <a:bodyPr vert="horz" lIns="0" tIns="0" rIns="0" bIns="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172D0-FD25-45C4-A82E-F4094DCDE0CC}"/>
              </a:ext>
            </a:extLst>
          </p:cNvPr>
          <p:cNvSpPr>
            <a:spLocks noGrp="1"/>
          </p:cNvSpPr>
          <p:nvPr>
            <p:ph type="dt" sz="half" idx="2"/>
          </p:nvPr>
        </p:nvSpPr>
        <p:spPr>
          <a:xfrm>
            <a:off x="8086725" y="203200"/>
            <a:ext cx="1733550" cy="244475"/>
          </a:xfrm>
          <a:prstGeom prst="rect">
            <a:avLst/>
          </a:prstGeom>
        </p:spPr>
        <p:txBody>
          <a:bodyPr vert="horz" lIns="0" tIns="0" rIns="0" bIns="0" rtlCol="0" anchor="ctr"/>
          <a:lstStyle>
            <a:lvl1pPr algn="r">
              <a:defRPr sz="850">
                <a:solidFill>
                  <a:schemeClr val="bg2"/>
                </a:solidFill>
              </a:defRPr>
            </a:lvl1pPr>
          </a:lstStyle>
          <a:p>
            <a:fld id="{5E3B0699-7100-486A-9638-650B3590B671}"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F5B18871-7BC3-4A13-9CC9-B9A1DB22F262}"/>
              </a:ext>
            </a:extLst>
          </p:cNvPr>
          <p:cNvSpPr>
            <a:spLocks noGrp="1"/>
          </p:cNvSpPr>
          <p:nvPr>
            <p:ph type="ftr" sz="quarter" idx="3"/>
          </p:nvPr>
        </p:nvSpPr>
        <p:spPr>
          <a:xfrm>
            <a:off x="2867025" y="203200"/>
            <a:ext cx="4114800" cy="244475"/>
          </a:xfrm>
          <a:prstGeom prst="rect">
            <a:avLst/>
          </a:prstGeom>
        </p:spPr>
        <p:txBody>
          <a:bodyPr vert="horz" lIns="0" tIns="0" rIns="0" bIns="0" rtlCol="0" anchor="ctr"/>
          <a:lstStyle>
            <a:lvl1pPr algn="ctr">
              <a:defRPr sz="850">
                <a:solidFill>
                  <a:schemeClr val="bg2"/>
                </a:solidFill>
              </a:defRPr>
            </a:lvl1p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A7EA17DA-0D3F-410F-A9AA-3171ED151327}"/>
              </a:ext>
            </a:extLst>
          </p:cNvPr>
          <p:cNvSpPr>
            <a:spLocks noGrp="1"/>
          </p:cNvSpPr>
          <p:nvPr>
            <p:ph type="sldNum" sz="quarter" idx="4"/>
          </p:nvPr>
        </p:nvSpPr>
        <p:spPr>
          <a:xfrm>
            <a:off x="11563349" y="203200"/>
            <a:ext cx="523875" cy="244475"/>
          </a:xfrm>
          <a:prstGeom prst="rect">
            <a:avLst/>
          </a:prstGeom>
        </p:spPr>
        <p:txBody>
          <a:bodyPr vert="horz" lIns="0" tIns="0" rIns="0" bIns="0" rtlCol="0" anchor="ctr"/>
          <a:lstStyle>
            <a:lvl1pPr algn="ctr">
              <a:defRPr sz="850">
                <a:solidFill>
                  <a:schemeClr val="bg2"/>
                </a:solidFill>
              </a:defRPr>
            </a:lvl1pPr>
          </a:lstStyle>
          <a:p>
            <a:fld id="{E4594ECE-BF10-44A5-B643-757A8D096D80}" type="slidenum">
              <a:rPr lang="en-US" smtClean="0"/>
              <a:pPr/>
              <a:t>‹#›</a:t>
            </a:fld>
            <a:endParaRPr lang="en-US" dirty="0"/>
          </a:p>
        </p:txBody>
      </p:sp>
      <p:sp>
        <p:nvSpPr>
          <p:cNvPr id="13" name="TextBox 12">
            <a:extLst>
              <a:ext uri="{FF2B5EF4-FFF2-40B4-BE49-F238E27FC236}">
                <a16:creationId xmlns:a16="http://schemas.microsoft.com/office/drawing/2014/main" id="{AC18493A-1FC9-483C-BC41-405831F9D96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1107456480"/>
      </p:ext>
    </p:extLst>
  </p:cSld>
  <p:clrMap bg1="lt1" tx1="dk1" bg2="lt2" tx2="dk2" accent1="accent1" accent2="accent2" accent3="accent3" accent4="accent4" accent5="accent5" accent6="accent6" hlink="hlink" folHlink="folHlink"/>
  <p:sldLayoutIdLst>
    <p:sldLayoutId id="2147483649" r:id="rId1"/>
    <p:sldLayoutId id="2147483669" r:id="rId2"/>
    <p:sldLayoutId id="2147483668" r:id="rId3"/>
    <p:sldLayoutId id="2147483650" r:id="rId4"/>
    <p:sldLayoutId id="2147483672" r:id="rId5"/>
    <p:sldLayoutId id="2147483673" r:id="rId6"/>
    <p:sldLayoutId id="2147483674" r:id="rId7"/>
    <p:sldLayoutId id="2147483675" r:id="rId8"/>
    <p:sldLayoutId id="2147483662" r:id="rId9"/>
    <p:sldLayoutId id="2147483652" r:id="rId10"/>
    <p:sldLayoutId id="2147483661" r:id="rId11"/>
    <p:sldLayoutId id="2147483663" r:id="rId12"/>
    <p:sldLayoutId id="2147483660" r:id="rId13"/>
    <p:sldLayoutId id="2147483664" r:id="rId14"/>
    <p:sldLayoutId id="2147483665" r:id="rId15"/>
    <p:sldLayoutId id="2147483654" r:id="rId16"/>
    <p:sldLayoutId id="2147483671" r:id="rId17"/>
    <p:sldLayoutId id="2147483655" r:id="rId18"/>
    <p:sldLayoutId id="2147483651" r:id="rId19"/>
    <p:sldLayoutId id="2147483666" r:id="rId20"/>
    <p:sldLayoutId id="2147483667" r:id="rId21"/>
  </p:sldLayoutIdLst>
  <p:hf hdr="0"/>
  <p:txStyles>
    <p:titleStyle>
      <a:lvl1pPr algn="l" defTabSz="914400" rtl="0" eaLnBrk="1" latinLnBrk="0" hangingPunct="1">
        <a:lnSpc>
          <a:spcPct val="100000"/>
        </a:lnSpc>
        <a:spcBef>
          <a:spcPct val="0"/>
        </a:spcBef>
        <a:buNone/>
        <a:defRPr sz="3600" b="1" kern="1200" spc="50" baseline="0">
          <a:solidFill>
            <a:schemeClr val="tx2"/>
          </a:solidFill>
          <a:latin typeface="+mj-lt"/>
          <a:ea typeface="+mj-ea"/>
          <a:cs typeface="+mj-cs"/>
        </a:defRPr>
      </a:lvl1pPr>
    </p:titleStyle>
    <p:bodyStyle>
      <a:lvl1pPr marL="180975" indent="-180975" algn="l" defTabSz="914400" rtl="0" eaLnBrk="1" latinLnBrk="0" hangingPunct="1">
        <a:lnSpc>
          <a:spcPct val="100000"/>
        </a:lnSpc>
        <a:spcBef>
          <a:spcPts val="400"/>
        </a:spcBef>
        <a:buFont typeface="Arial" panose="020B0604020202020204" pitchFamily="34" charset="0"/>
        <a:buChar char="•"/>
        <a:defRPr sz="1850" b="1" kern="1200">
          <a:solidFill>
            <a:schemeClr val="tx1"/>
          </a:solidFill>
          <a:latin typeface="+mn-lt"/>
          <a:ea typeface="+mn-ea"/>
          <a:cs typeface="+mn-cs"/>
        </a:defRPr>
      </a:lvl1pPr>
      <a:lvl2pPr marL="542925" indent="-180975" algn="l" defTabSz="914400" rtl="0" eaLnBrk="1" latinLnBrk="0" hangingPunct="1">
        <a:lnSpc>
          <a:spcPct val="100000"/>
        </a:lnSpc>
        <a:spcBef>
          <a:spcPts val="400"/>
        </a:spcBef>
        <a:buFont typeface="Arial" panose="020B0604020202020204" pitchFamily="34" charset="0"/>
        <a:buChar char="•"/>
        <a:defRPr sz="1850" kern="1200">
          <a:solidFill>
            <a:schemeClr val="tx1"/>
          </a:solidFill>
          <a:latin typeface="+mn-lt"/>
          <a:ea typeface="+mn-ea"/>
          <a:cs typeface="+mn-cs"/>
        </a:defRPr>
      </a:lvl2pPr>
      <a:lvl3pPr marL="714375" indent="-171450"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3pPr>
      <a:lvl4pPr marL="895350"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4pPr>
      <a:lvl5pPr marL="1076325"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9.png"/><Relationship Id="rId3" Type="http://schemas.openxmlformats.org/officeDocument/2006/relationships/image" Target="../media/image20.jpg"/><Relationship Id="rId4" Type="http://schemas.openxmlformats.org/officeDocument/2006/relationships/image" Target="../media/image21.jp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5.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t>Evidence-Bounded 3D Defect Estimation</a:t>
            </a:r>
          </a:p>
        </p:txBody>
      </p:sp>
      <p:sp>
        <p:nvSpPr>
          <p:cNvPr id="3" name="Subtitle 2"/>
          <p:cNvSpPr>
            <a:spLocks noGrp="1"/>
          </p:cNvSpPr>
          <p:nvPr>
            <p:ph type="subTitle" idx="1"/>
          </p:nvPr>
        </p:nvSpPr>
        <p:spPr/>
        <p:txBody>
          <a:bodyPr/>
          <a:lstStyle/>
          <a:p>
            <a:r>
              <a:t>For aero-engine blades, from CAD and a few views</a:t>
            </a:r>
          </a:p>
        </p:txBody>
      </p:sp>
      <p:sp>
        <p:nvSpPr>
          <p:cNvPr id="4" name="Text Placeholder 3"/>
          <p:cNvSpPr>
            <a:spLocks noGrp="1"/>
          </p:cNvSpPr>
          <p:nvPr>
            <p:ph type="body" sz="quarter" idx="10"/>
          </p:nvPr>
        </p:nvSpPr>
        <p:spPr/>
        <p:txBody>
          <a:bodyPr/>
          <a:lstStyle/>
          <a:p>
            <a:r>
              <a:t>Afeefa Azam  ·  Khalifa University</a:t>
            </a:r>
          </a:p>
        </p:txBody>
      </p:sp>
      <p:pic>
        <p:nvPicPr>
          <p:cNvPr id="6" name="Picture 5"/>
          <p:cNvPicPr>
            <a:picLocks noChangeAspect="1"/>
          </p:cNvPicPr>
          <p:nvPr/>
        </p:nvPicPr>
        <p:blipFill>
          <a:blip r:embed="rId2"/>
          <a:stretch>
            <a:fillRect/>
          </a:stretch>
        </p:blipFill>
        <p:spPr>
          <a:xfrm>
            <a:off x="9591675" y="300769"/>
            <a:ext cx="2152650" cy="2124075"/>
          </a:xfrm>
          <a:prstGeom prst="rect">
            <a:avLst/>
          </a:prstGeom>
        </p:spPr>
      </p:pic>
    </p:spTree>
    <p:extLst>
      <p:ext uri="{BB962C8B-B14F-4D97-AF65-F5344CB8AC3E}">
        <p14:creationId xmlns:p14="http://schemas.microsoft.com/office/powerpoint/2010/main" val="421325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71600" y="5239512"/>
            <a:ext cx="9418320" cy="822960"/>
          </a:xfrm>
          <a:prstGeom prst="rect">
            <a:avLst/>
          </a:prstGeom>
          <a:noFill/>
        </p:spPr>
        <p:txBody>
          <a:bodyPr wrap="square" anchor="t">
            <a:spAutoFit/>
          </a:bodyPr>
          <a:lstStyle/>
          <a:p>
            <a:pPr algn="ctr">
              <a:spcAft>
                <a:spcPts val="200"/>
              </a:spcAft>
            </a:pPr>
            <a:r>
              <a:rPr sz="1400" b="0">
                <a:solidFill>
                  <a:srgbClr val="FFFFFF"/>
                </a:solidFill>
              </a:rPr>
              <a:t>Results dashboard: afeefaaazam03.github.io/3D-Jetblade/visual_results.html</a:t>
            </a:r>
          </a:p>
        </p:txBody>
      </p:sp>
    </p:spTree>
    <p:extLst>
      <p:ext uri="{BB962C8B-B14F-4D97-AF65-F5344CB8AC3E}">
        <p14:creationId xmlns:p14="http://schemas.microsoft.com/office/powerpoint/2010/main" val="3493193385"/>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Problem Formulation</a:t>
            </a:r>
          </a:p>
        </p:txBody>
      </p:sp>
      <p:pic>
        <p:nvPicPr>
          <p:cNvPr id="3" name="Picture 2" descr="f_causes.png"/>
          <p:cNvPicPr>
            <a:picLocks noChangeAspect="1"/>
          </p:cNvPicPr>
          <p:nvPr/>
        </p:nvPicPr>
        <p:blipFill>
          <a:blip r:embed="rId2"/>
          <a:stretch>
            <a:fillRect/>
          </a:stretch>
        </p:blipFill>
        <p:spPr>
          <a:xfrm>
            <a:off x="1942446" y="1824228"/>
            <a:ext cx="8276626" cy="1810512"/>
          </a:xfrm>
          <a:prstGeom prst="rect">
            <a:avLst/>
          </a:prstGeom>
        </p:spPr>
      </p:pic>
      <p:sp>
        <p:nvSpPr>
          <p:cNvPr id="4" name="TextBox 3"/>
          <p:cNvSpPr txBox="1"/>
          <p:nvPr/>
        </p:nvSpPr>
        <p:spPr>
          <a:xfrm>
            <a:off x="548640" y="3840480"/>
            <a:ext cx="11064240" cy="2386584"/>
          </a:xfrm>
          <a:prstGeom prst="rect">
            <a:avLst/>
          </a:prstGeom>
          <a:noFill/>
        </p:spPr>
        <p:txBody>
          <a:bodyPr wrap="square" anchor="t">
            <a:spAutoFit/>
          </a:bodyPr>
          <a:lstStyle/>
          <a:p>
            <a:pPr algn="l">
              <a:spcAft>
                <a:spcPts val="800"/>
              </a:spcAft>
            </a:pPr>
            <a:r>
              <a:rPr sz="1700" b="0">
                <a:solidFill>
                  <a:srgbClr val="1F2937"/>
                </a:solidFill>
              </a:rPr>
              <a:t>•  The challenge: a dent, a stain, a lighting change and a 1° camera error can produce nearly identical pixel changes</a:t>
            </a:r>
          </a:p>
          <a:p>
            <a:pPr algn="l">
              <a:spcAft>
                <a:spcPts val="800"/>
              </a:spcAft>
            </a:pPr>
            <a:r>
              <a:rPr sz="1700" b="0">
                <a:solidFill>
                  <a:srgbClr val="1F2937"/>
                </a:solidFill>
              </a:rPr>
              <a:t>•  The flaw: methods that must always answer either invent damage when the signal is weak or miss small defects</a:t>
            </a:r>
          </a:p>
          <a:p>
            <a:pPr algn="l">
              <a:spcAft>
                <a:spcPts val="800"/>
              </a:spcAft>
            </a:pPr>
            <a:r>
              <a:rPr sz="1700" b="0">
                <a:solidFill>
                  <a:srgbClr val="1F2937"/>
                </a:solidFill>
              </a:rPr>
              <a:t>•  The objective: treat it as an identifiability problem: report 3D damage only when the evidence clears a calibrated threshold; otherwise abstain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Methodology: The Pipeline</a:t>
            </a:r>
          </a:p>
        </p:txBody>
      </p:sp>
      <p:pic>
        <p:nvPicPr>
          <p:cNvPr id="3" name="Picture 2" descr="f_method3.png"/>
          <p:cNvPicPr>
            <a:picLocks noChangeAspect="1"/>
          </p:cNvPicPr>
          <p:nvPr/>
        </p:nvPicPr>
        <p:blipFill>
          <a:blip r:embed="rId2"/>
          <a:stretch>
            <a:fillRect/>
          </a:stretch>
        </p:blipFill>
        <p:spPr>
          <a:xfrm>
            <a:off x="2135930" y="1824228"/>
            <a:ext cx="7889658" cy="1563624"/>
          </a:xfrm>
          <a:prstGeom prst="rect">
            <a:avLst/>
          </a:prstGeom>
        </p:spPr>
      </p:pic>
      <p:sp>
        <p:nvSpPr>
          <p:cNvPr id="4" name="TextBox 3"/>
          <p:cNvSpPr txBox="1"/>
          <p:nvPr/>
        </p:nvSpPr>
        <p:spPr>
          <a:xfrm>
            <a:off x="548640" y="3552444"/>
            <a:ext cx="5760720" cy="2798064"/>
          </a:xfrm>
          <a:prstGeom prst="rect">
            <a:avLst/>
          </a:prstGeom>
          <a:noFill/>
        </p:spPr>
        <p:txBody>
          <a:bodyPr wrap="square" anchor="t">
            <a:spAutoFit/>
          </a:bodyPr>
          <a:lstStyle/>
          <a:p>
            <a:pPr algn="l">
              <a:spcAft>
                <a:spcPts val="800"/>
              </a:spcAft>
            </a:pPr>
            <a:r>
              <a:rPr sz="1300" b="0">
                <a:solidFill>
                  <a:srgbClr val="1F2937"/>
                </a:solidFill>
              </a:rPr>
              <a:t>•  Input: healthy CAD mesh (STEP) + 2–7 calibrated RGB views</a:t>
            </a:r>
          </a:p>
          <a:p>
            <a:pPr algn="l">
              <a:spcAft>
                <a:spcPts val="800"/>
              </a:spcAft>
            </a:pPr>
            <a:r>
              <a:rPr sz="1300" b="0">
                <a:solidFill>
                  <a:srgbClr val="1F2937"/>
                </a:solidFill>
              </a:rPr>
              <a:t>•  Nuisance fit: camera pose from silhouettes; light-linear neural shader; light gains, smooth brightness field, stain patch → L(no damage)</a:t>
            </a:r>
          </a:p>
          <a:p>
            <a:pPr algn="l">
              <a:spcAft>
                <a:spcPts val="800"/>
              </a:spcAft>
            </a:pPr>
            <a:r>
              <a:rPr sz="1300" b="0">
                <a:solidFill>
                  <a:srgbClr val="1F2937"/>
                </a:solidFill>
              </a:rPr>
              <a:t>•  Proposals: Rao score test over the whole surface (one backward pass)</a:t>
            </a:r>
          </a:p>
          <a:p>
            <a:pPr algn="l">
              <a:spcAft>
                <a:spcPts val="800"/>
              </a:spcAft>
            </a:pPr>
            <a:r>
              <a:rPr sz="1300" b="0">
                <a:solidFill>
                  <a:srgbClr val="1F2937"/>
                </a:solidFill>
              </a:rPr>
              <a:t>•  Dent fit: parametric 3D dent, differentiable rendering (nvdiffrast), Adam → L(damage)</a:t>
            </a:r>
          </a:p>
          <a:p>
            <a:pPr algn="l">
              <a:spcAft>
                <a:spcPts val="800"/>
              </a:spcAft>
            </a:pPr>
            <a:r>
              <a:rPr sz="1300" b="0">
                <a:solidFill>
                  <a:srgbClr val="1F2937"/>
                </a:solidFill>
              </a:rPr>
              <a:t>•  Evidence test: gain = L(no damage) − L(damage) &gt; calibrated threshold</a:t>
            </a:r>
          </a:p>
        </p:txBody>
      </p:sp>
      <p:pic>
        <p:nvPicPr>
          <p:cNvPr id="5" name="Picture 4" descr="f_example.png"/>
          <p:cNvPicPr>
            <a:picLocks noChangeAspect="1"/>
          </p:cNvPicPr>
          <p:nvPr/>
        </p:nvPicPr>
        <p:blipFill>
          <a:blip r:embed="rId3"/>
          <a:stretch>
            <a:fillRect/>
          </a:stretch>
        </p:blipFill>
        <p:spPr>
          <a:xfrm>
            <a:off x="6492240" y="4017073"/>
            <a:ext cx="5303520" cy="1292733"/>
          </a:xfrm>
          <a:prstGeom prst="rect">
            <a:avLst/>
          </a:prstGeom>
        </p:spPr>
      </p:pic>
      <p:sp>
        <p:nvSpPr>
          <p:cNvPr id="6" name="TextBox 5"/>
          <p:cNvSpPr txBox="1"/>
          <p:nvPr/>
        </p:nvSpPr>
        <p:spPr>
          <a:xfrm>
            <a:off x="6492240" y="5815584"/>
            <a:ext cx="5303520" cy="411480"/>
          </a:xfrm>
          <a:prstGeom prst="rect">
            <a:avLst/>
          </a:prstGeom>
          <a:noFill/>
        </p:spPr>
        <p:txBody>
          <a:bodyPr wrap="square" anchor="t">
            <a:spAutoFit/>
          </a:bodyPr>
          <a:lstStyle/>
          <a:p>
            <a:pPr algn="ctr">
              <a:spcAft>
                <a:spcPts val="200"/>
              </a:spcAft>
            </a:pPr>
            <a:r>
              <a:rPr sz="1200" b="0">
                <a:solidFill>
                  <a:srgbClr val="5A6577"/>
                </a:solidFill>
              </a:rPr>
              <a:t>Real output: found 0.35 mm, true 0.36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Multi-Class Classification: Specialists and Judge</a:t>
            </a:r>
          </a:p>
        </p:txBody>
      </p:sp>
      <p:pic>
        <p:nvPicPr>
          <p:cNvPr id="3" name="Picture 2" descr="f_judge.png"/>
          <p:cNvPicPr>
            <a:picLocks noChangeAspect="1"/>
          </p:cNvPicPr>
          <p:nvPr/>
        </p:nvPicPr>
        <p:blipFill>
          <a:blip r:embed="rId2"/>
          <a:stretch>
            <a:fillRect/>
          </a:stretch>
        </p:blipFill>
        <p:spPr>
          <a:xfrm>
            <a:off x="1151513" y="1824228"/>
            <a:ext cx="9858493" cy="2221992"/>
          </a:xfrm>
          <a:prstGeom prst="rect">
            <a:avLst/>
          </a:prstGeom>
        </p:spPr>
      </p:pic>
      <p:sp>
        <p:nvSpPr>
          <p:cNvPr id="4" name="TextBox 3"/>
          <p:cNvSpPr txBox="1"/>
          <p:nvPr/>
        </p:nvSpPr>
        <p:spPr>
          <a:xfrm>
            <a:off x="548640" y="4210812"/>
            <a:ext cx="5852160" cy="2139696"/>
          </a:xfrm>
          <a:prstGeom prst="rect">
            <a:avLst/>
          </a:prstGeom>
          <a:noFill/>
        </p:spPr>
        <p:txBody>
          <a:bodyPr wrap="square" anchor="t">
            <a:spAutoFit/>
          </a:bodyPr>
          <a:lstStyle/>
          <a:p>
            <a:pPr algn="l">
              <a:spcAft>
                <a:spcPts val="800"/>
              </a:spcAft>
            </a:pPr>
            <a:r>
              <a:rPr sz="1500" b="0">
                <a:solidFill>
                  <a:srgbClr val="1F2937"/>
                </a:solidFill>
              </a:rPr>
              <a:t>•  Dent: smooth parametric profile (optional rim)</a:t>
            </a:r>
          </a:p>
          <a:p>
            <a:pPr algn="l">
              <a:spcAft>
                <a:spcPts val="800"/>
              </a:spcAft>
            </a:pPr>
            <a:r>
              <a:rPr sz="1500" b="0">
                <a:solidFill>
                  <a:srgbClr val="1F2937"/>
                </a:solidFill>
              </a:rPr>
              <a:t>•  Nick: soft-edged ellipsoid carved from the surface</a:t>
            </a:r>
          </a:p>
          <a:p>
            <a:pPr algn="l">
              <a:spcAft>
                <a:spcPts val="800"/>
              </a:spcAft>
            </a:pPr>
            <a:r>
              <a:rPr sz="1500" b="0">
                <a:solidFill>
                  <a:srgbClr val="1F2937"/>
                </a:solidFill>
              </a:rPr>
              <a:t>•  Crack: thin dark line + tiny groove along a fitted curved path</a:t>
            </a:r>
          </a:p>
          <a:p>
            <a:pPr algn="l">
              <a:spcAft>
                <a:spcPts val="800"/>
              </a:spcAft>
            </a:pPr>
            <a:r>
              <a:rPr sz="1500" b="0">
                <a:solidFill>
                  <a:srgbClr val="1F2937"/>
                </a:solidFill>
              </a:rPr>
              <a:t>•  Stain: colour-only patch</a:t>
            </a:r>
          </a:p>
        </p:txBody>
      </p:sp>
      <p:sp>
        <p:nvSpPr>
          <p:cNvPr id="5" name="Rounded Rectangle 4"/>
          <p:cNvSpPr/>
          <p:nvPr/>
        </p:nvSpPr>
        <p:spPr>
          <a:xfrm>
            <a:off x="6675120" y="4251960"/>
            <a:ext cx="5029200" cy="1892807"/>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2937"/>
                </a:solidFill>
              </a:rPr>
              <a:t>Judge: lowest rendering loss wins</a:t>
            </a:r>
          </a:p>
          <a:p>
            <a:pPr algn="ctr"/>
            <a:r>
              <a:rPr sz="1300" b="0">
                <a:solidFill>
                  <a:srgbClr val="1F2937"/>
                </a:solidFill>
              </a:rPr>
              <a:t>"Type uncertain" if the runner-up is within the detection threshold</a:t>
            </a:r>
          </a:p>
          <a:p>
            <a:pPr algn="ctr"/>
            <a:r>
              <a:rPr sz="1300" b="0">
                <a:solidFill>
                  <a:srgbClr val="1F2937"/>
                </a:solidFill>
              </a:rPr>
              <a:t>Labels only damage already detected: adds no false alarms</a:t>
            </a:r>
          </a:p>
          <a:p>
            <a:pPr algn="ctr"/>
            <a:r>
              <a:rPr sz="1300" b="0">
                <a:solidFill>
                  <a:srgbClr val="1F2937"/>
                </a:solidFill>
              </a:rPr>
              <a:t>Idea adapted from MedGuards (multi-agent checking)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Identifiability: Why Depth Is the Hard Part</a:t>
            </a:r>
          </a:p>
        </p:txBody>
      </p:sp>
      <p:pic>
        <p:nvPicPr>
          <p:cNvPr id="3" name="Picture 2" descr="cad6_1006_67.jpg"/>
          <p:cNvPicPr>
            <a:picLocks noChangeAspect="1"/>
          </p:cNvPicPr>
          <p:nvPr/>
        </p:nvPicPr>
        <p:blipFill>
          <a:blip r:embed="rId2"/>
          <a:stretch>
            <a:fillRect/>
          </a:stretch>
        </p:blipFill>
        <p:spPr>
          <a:xfrm>
            <a:off x="620648" y="1865376"/>
            <a:ext cx="5708142" cy="1810512"/>
          </a:xfrm>
          <a:prstGeom prst="rect">
            <a:avLst/>
          </a:prstGeom>
        </p:spPr>
      </p:pic>
      <p:sp>
        <p:nvSpPr>
          <p:cNvPr id="4" name="TextBox 3"/>
          <p:cNvSpPr txBox="1"/>
          <p:nvPr/>
        </p:nvSpPr>
        <p:spPr>
          <a:xfrm>
            <a:off x="457200" y="3758184"/>
            <a:ext cx="6035040" cy="411480"/>
          </a:xfrm>
          <a:prstGeom prst="rect">
            <a:avLst/>
          </a:prstGeom>
          <a:noFill/>
        </p:spPr>
        <p:txBody>
          <a:bodyPr wrap="square" anchor="t">
            <a:spAutoFit/>
          </a:bodyPr>
          <a:lstStyle/>
          <a:p>
            <a:pPr algn="ctr">
              <a:spcAft>
                <a:spcPts val="200"/>
              </a:spcAft>
            </a:pPr>
            <a:r>
              <a:rPr sz="1300" b="0">
                <a:solidFill>
                  <a:srgbClr val="5A6577"/>
                </a:solidFill>
              </a:rPr>
              <a:t>Unseen blade: found in the right place; true 0.64 mm, measured 0.06 mm</a:t>
            </a:r>
          </a:p>
        </p:txBody>
      </p:sp>
      <p:sp>
        <p:nvSpPr>
          <p:cNvPr id="5" name="TextBox 4"/>
          <p:cNvSpPr txBox="1"/>
          <p:nvPr/>
        </p:nvSpPr>
        <p:spPr>
          <a:xfrm>
            <a:off x="6675120" y="1947672"/>
            <a:ext cx="5120640" cy="3785615"/>
          </a:xfrm>
          <a:prstGeom prst="rect">
            <a:avLst/>
          </a:prstGeom>
          <a:noFill/>
        </p:spPr>
        <p:txBody>
          <a:bodyPr wrap="square" anchor="t">
            <a:spAutoFit/>
          </a:bodyPr>
          <a:lstStyle/>
          <a:p>
            <a:pPr algn="l">
              <a:spcAft>
                <a:spcPts val="800"/>
              </a:spcAft>
            </a:pPr>
            <a:r>
              <a:rPr sz="1500" b="0">
                <a:solidFill>
                  <a:srgbClr val="1F2937"/>
                </a:solidFill>
              </a:rPr>
              <a:t>•  Two passive views: sharp dents of very different depth give nearly identical pixels</a:t>
            </a:r>
          </a:p>
          <a:p>
            <a:pPr algn="l">
              <a:spcAft>
                <a:spcPts val="800"/>
              </a:spcAft>
            </a:pPr>
            <a:r>
              <a:rPr sz="1500" b="0">
                <a:solidFill>
                  <a:srgbClr val="1F2937"/>
                </a:solidFill>
              </a:rPr>
              <a:t>•  On new designs, found dents are measured at a median 60% of true depth</a:t>
            </a:r>
          </a:p>
          <a:p>
            <a:pPr algn="l">
              <a:spcAft>
                <a:spcPts val="800"/>
              </a:spcAft>
            </a:pPr>
            <a:r>
              <a:rPr sz="1500" b="0">
                <a:solidFill>
                  <a:srgbClr val="1F2937"/>
                </a:solidFill>
              </a:rPr>
              <a:t>•  Not fixed by better search, deeper restarts, 4 views, or profile-likelihood depth intervals (36/109 contain the truth)</a:t>
            </a:r>
          </a:p>
          <a:p>
            <a:pPr algn="l">
              <a:spcAft>
                <a:spcPts val="800"/>
              </a:spcAft>
            </a:pPr>
            <a:r>
              <a:rPr sz="1500" b="0">
                <a:solidFill>
                  <a:srgbClr val="1F2937"/>
                </a:solidFill>
              </a:rPr>
              <a:t>•  So: location is reported; depth is an open limitation, not a guaranteed bound</a:t>
            </a:r>
          </a:p>
        </p:txBody>
      </p:sp>
      <p:pic>
        <p:nvPicPr>
          <p:cNvPr id="6" name="Picture 5" descr="s16_map.png"/>
          <p:cNvPicPr>
            <a:picLocks noChangeAspect="1"/>
          </p:cNvPicPr>
          <p:nvPr/>
        </p:nvPicPr>
        <p:blipFill>
          <a:blip r:embed="rId3"/>
          <a:stretch>
            <a:fillRect/>
          </a:stretch>
        </p:blipFill>
        <p:spPr>
          <a:xfrm>
            <a:off x="980040" y="4251960"/>
            <a:ext cx="2063278" cy="2139696"/>
          </a:xfrm>
          <a:prstGeom prst="rect">
            <a:avLst/>
          </a:prstGeom>
        </p:spPr>
      </p:pic>
      <p:sp>
        <p:nvSpPr>
          <p:cNvPr id="7" name="TextBox 6"/>
          <p:cNvSpPr txBox="1"/>
          <p:nvPr/>
        </p:nvSpPr>
        <p:spPr>
          <a:xfrm>
            <a:off x="3291840" y="4416552"/>
            <a:ext cx="3291840" cy="1810512"/>
          </a:xfrm>
          <a:prstGeom prst="rect">
            <a:avLst/>
          </a:prstGeom>
          <a:noFill/>
        </p:spPr>
        <p:txBody>
          <a:bodyPr wrap="square" anchor="t">
            <a:spAutoFit/>
          </a:bodyPr>
          <a:lstStyle/>
          <a:p>
            <a:pPr algn="l">
              <a:spcAft>
                <a:spcPts val="800"/>
              </a:spcAft>
            </a:pPr>
            <a:r>
              <a:rPr sz="1300" b="0">
                <a:solidFill>
                  <a:srgbClr val="1F2937"/>
                </a:solidFill>
              </a:rPr>
              <a:t>•  Detectability prediction (per dent): AUROC 0.90–0.95</a:t>
            </a:r>
          </a:p>
          <a:p>
            <a:pPr algn="l">
              <a:spcAft>
                <a:spcPts val="800"/>
              </a:spcAft>
            </a:pPr>
            <a:r>
              <a:rPr sz="1300" b="0">
                <a:solidFill>
                  <a:srgbClr val="1F2937"/>
                </a:solidFill>
              </a:rPr>
              <a:t>•  Per-point maps are optimistic below 0.2 mm: an upper bound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Threshold Calibration</a:t>
            </a:r>
          </a:p>
        </p:txBody>
      </p:sp>
      <p:graphicFrame>
        <p:nvGraphicFramePr>
          <p:cNvPr id="3" name="Chart 2"/>
          <p:cNvGraphicFramePr>
            <a:graphicFrameLocks noGrp="1"/>
          </p:cNvGraphicFramePr>
          <p:nvPr/>
        </p:nvGraphicFramePr>
        <p:xfrm>
          <a:off x="457200" y="1865376"/>
          <a:ext cx="5852160" cy="3785615"/>
        </p:xfrm>
        <a:graphic>
          <a:graphicData uri="http://schemas.openxmlformats.org/drawingml/2006/chart">
            <c:chart xmlns:c="http://schemas.openxmlformats.org/drawingml/2006/chart" r:id="rId2"/>
          </a:graphicData>
        </a:graphic>
      </p:graphicFrame>
      <p:sp>
        <p:nvSpPr>
          <p:cNvPr id="4" name="TextBox 3"/>
          <p:cNvSpPr txBox="1"/>
          <p:nvPr/>
        </p:nvSpPr>
        <p:spPr>
          <a:xfrm>
            <a:off x="6583680" y="1947672"/>
            <a:ext cx="5212080" cy="3291840"/>
          </a:xfrm>
          <a:prstGeom prst="rect">
            <a:avLst/>
          </a:prstGeom>
          <a:noFill/>
        </p:spPr>
        <p:txBody>
          <a:bodyPr wrap="square" anchor="t">
            <a:spAutoFit/>
          </a:bodyPr>
          <a:lstStyle/>
          <a:p>
            <a:pPr algn="l">
              <a:spcAft>
                <a:spcPts val="800"/>
              </a:spcAft>
            </a:pPr>
            <a:r>
              <a:rPr sz="1500" b="0">
                <a:solidFill>
                  <a:srgbClr val="1F2937"/>
                </a:solidFill>
              </a:rPr>
              <a:t>•  Threshold set by split-conformal calibration on healthy and stained blades</a:t>
            </a:r>
          </a:p>
          <a:p>
            <a:pPr algn="l">
              <a:spcAft>
                <a:spcPts val="800"/>
              </a:spcAft>
            </a:pPr>
            <a:r>
              <a:rPr sz="1500" b="0">
                <a:solidFill>
                  <a:srgbClr val="1F2937"/>
                </a:solidFill>
              </a:rPr>
              <a:t>•  Recalibrated on 360 negatives: target 2% → 4% actual on the sealed test</a:t>
            </a:r>
          </a:p>
          <a:p>
            <a:pPr algn="l">
              <a:spcAft>
                <a:spcPts val="800"/>
              </a:spcAft>
            </a:pPr>
            <a:r>
              <a:rPr sz="1500" b="0">
                <a:solidFill>
                  <a:srgbClr val="1F2937"/>
                </a:solidFill>
              </a:rPr>
              <a:t>•  Textbook statistical thresholds do not control false alarms under real mismatch</a:t>
            </a:r>
          </a:p>
          <a:p>
            <a:pPr algn="l">
              <a:spcAft>
                <a:spcPts val="800"/>
              </a:spcAft>
            </a:pPr>
            <a:r>
              <a:rPr sz="1500" b="0">
                <a:solidFill>
                  <a:srgbClr val="1F2937"/>
                </a:solidFill>
              </a:rPr>
              <a:t>•  Planned: class-specific thresholds (dent / nick / crack), since their error distributions differ</a:t>
            </a:r>
          </a:p>
        </p:txBody>
      </p:sp>
      <p:sp>
        <p:nvSpPr>
          <p:cNvPr id="5" name="Rounded Rectangle 4"/>
          <p:cNvSpPr/>
          <p:nvPr/>
        </p:nvSpPr>
        <p:spPr>
          <a:xfrm>
            <a:off x="6583680" y="5239512"/>
            <a:ext cx="5212080" cy="82296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Calibration is required, not cosmetic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Quantitative Results (about 1,350 rendered cases)</a:t>
            </a:r>
          </a:p>
        </p:txBody>
      </p:sp>
      <p:pic>
        <p:nvPicPr>
          <p:cNvPr id="3" name="Picture 2" descr="f_bar.png"/>
          <p:cNvPicPr>
            <a:picLocks noChangeAspect="1"/>
          </p:cNvPicPr>
          <p:nvPr/>
        </p:nvPicPr>
        <p:blipFill>
          <a:blip r:embed="rId2"/>
          <a:stretch>
            <a:fillRect/>
          </a:stretch>
        </p:blipFill>
        <p:spPr>
          <a:xfrm>
            <a:off x="668818" y="1865376"/>
            <a:ext cx="4514523" cy="2633472"/>
          </a:xfrm>
          <a:prstGeom prst="rect">
            <a:avLst/>
          </a:prstGeom>
        </p:spPr>
      </p:pic>
      <p:sp>
        <p:nvSpPr>
          <p:cNvPr id="4" name="TextBox 3"/>
          <p:cNvSpPr txBox="1"/>
          <p:nvPr/>
        </p:nvSpPr>
        <p:spPr>
          <a:xfrm>
            <a:off x="457200" y="4539996"/>
            <a:ext cx="4937760" cy="329184"/>
          </a:xfrm>
          <a:prstGeom prst="rect">
            <a:avLst/>
          </a:prstGeom>
          <a:noFill/>
        </p:spPr>
        <p:txBody>
          <a:bodyPr wrap="square" anchor="t">
            <a:spAutoFit/>
          </a:bodyPr>
          <a:lstStyle/>
          <a:p>
            <a:pPr algn="ctr">
              <a:spcAft>
                <a:spcPts val="200"/>
              </a:spcAft>
            </a:pPr>
            <a:r>
              <a:rPr sz="1100" b="0">
                <a:solidFill>
                  <a:srgbClr val="5A6577"/>
                </a:solidFill>
              </a:rPr>
              <a:t>*re-implementations of the CADSplat idea</a:t>
            </a:r>
          </a:p>
        </p:txBody>
      </p:sp>
      <p:sp>
        <p:nvSpPr>
          <p:cNvPr id="5" name="Rounded Rectangle 4"/>
          <p:cNvSpPr/>
          <p:nvPr/>
        </p:nvSpPr>
        <p:spPr>
          <a:xfrm>
            <a:off x="5669280" y="1865376"/>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100%</a:t>
            </a:r>
          </a:p>
          <a:p>
            <a:pPr algn="ctr"/>
            <a:r>
              <a:rPr sz="1300" b="0">
                <a:solidFill>
                  <a:srgbClr val="0047BB"/>
                </a:solidFill>
              </a:rPr>
              <a:t>cracks typed correctly (22/22)</a:t>
            </a:r>
          </a:p>
        </p:txBody>
      </p:sp>
      <p:sp>
        <p:nvSpPr>
          <p:cNvPr id="6" name="Rounded Rectangle 5"/>
          <p:cNvSpPr/>
          <p:nvPr/>
        </p:nvSpPr>
        <p:spPr>
          <a:xfrm>
            <a:off x="8778240" y="1865376"/>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9 / 15</a:t>
            </a:r>
          </a:p>
          <a:p>
            <a:pPr algn="ctr"/>
            <a:r>
              <a:rPr sz="1300" b="0">
                <a:solidFill>
                  <a:srgbClr val="0047BB"/>
                </a:solidFill>
              </a:rPr>
              <a:t>nicks typed correctly; 6 more "uncertain", 6 wrong</a:t>
            </a:r>
          </a:p>
        </p:txBody>
      </p:sp>
      <p:sp>
        <p:nvSpPr>
          <p:cNvPr id="7" name="Rounded Rectangle 6"/>
          <p:cNvSpPr/>
          <p:nvPr/>
        </p:nvSpPr>
        <p:spPr>
          <a:xfrm>
            <a:off x="5669280" y="3140963"/>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0.7 mm</a:t>
            </a:r>
          </a:p>
          <a:p>
            <a:pPr algn="ctr"/>
            <a:r>
              <a:rPr sz="1300" b="0">
                <a:solidFill>
                  <a:srgbClr val="0047BB"/>
                </a:solidFill>
              </a:rPr>
              <a:t>median 3D centre error (sealed test)</a:t>
            </a:r>
          </a:p>
        </p:txBody>
      </p:sp>
      <p:sp>
        <p:nvSpPr>
          <p:cNvPr id="8" name="Rounded Rectangle 7"/>
          <p:cNvSpPr/>
          <p:nvPr/>
        </p:nvSpPr>
        <p:spPr>
          <a:xfrm>
            <a:off x="8778240" y="3140963"/>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12 / 13</a:t>
            </a:r>
          </a:p>
          <a:p>
            <a:pPr algn="ctr"/>
            <a:r>
              <a:rPr sz="1300" b="0">
                <a:solidFill>
                  <a:srgbClr val="0047BB"/>
                </a:solidFill>
              </a:rPr>
              <a:t>dents deeper than 0.2 mm found</a:t>
            </a:r>
          </a:p>
        </p:txBody>
      </p:sp>
      <p:pic>
        <p:nvPicPr>
          <p:cNvPr id="9" name="Picture 8" descr="cad6dmg2_1004_11.jpg"/>
          <p:cNvPicPr>
            <a:picLocks noChangeAspect="1"/>
          </p:cNvPicPr>
          <p:nvPr/>
        </p:nvPicPr>
        <p:blipFill>
          <a:blip r:embed="rId3"/>
          <a:stretch>
            <a:fillRect/>
          </a:stretch>
        </p:blipFill>
        <p:spPr>
          <a:xfrm>
            <a:off x="5702998" y="4539996"/>
            <a:ext cx="2904363" cy="905256"/>
          </a:xfrm>
          <a:prstGeom prst="rect">
            <a:avLst/>
          </a:prstGeom>
        </p:spPr>
      </p:pic>
      <p:pic>
        <p:nvPicPr>
          <p:cNvPr id="10" name="Picture 9" descr="cad6dmg2_1003_02.jpg"/>
          <p:cNvPicPr>
            <a:picLocks noChangeAspect="1"/>
          </p:cNvPicPr>
          <p:nvPr/>
        </p:nvPicPr>
        <p:blipFill>
          <a:blip r:embed="rId4"/>
          <a:stretch>
            <a:fillRect/>
          </a:stretch>
        </p:blipFill>
        <p:spPr>
          <a:xfrm>
            <a:off x="8810701" y="4539996"/>
            <a:ext cx="2906877" cy="905256"/>
          </a:xfrm>
          <a:prstGeom prst="rect">
            <a:avLst/>
          </a:prstGeom>
        </p:spPr>
      </p:pic>
      <p:sp>
        <p:nvSpPr>
          <p:cNvPr id="11" name="TextBox 10"/>
          <p:cNvSpPr txBox="1"/>
          <p:nvPr/>
        </p:nvSpPr>
        <p:spPr>
          <a:xfrm>
            <a:off x="5669280" y="5527548"/>
            <a:ext cx="6126480" cy="493776"/>
          </a:xfrm>
          <a:prstGeom prst="rect">
            <a:avLst/>
          </a:prstGeom>
          <a:noFill/>
        </p:spPr>
        <p:txBody>
          <a:bodyPr wrap="square" anchor="t">
            <a:spAutoFit/>
          </a:bodyPr>
          <a:lstStyle/>
          <a:p>
            <a:pPr algn="ctr">
              <a:spcAft>
                <a:spcPts val="200"/>
              </a:spcAft>
            </a:pPr>
            <a:r>
              <a:rPr sz="1100" b="0">
                <a:solidFill>
                  <a:srgbClr val="5A6577"/>
                </a:solidFill>
              </a:rPr>
              <a:t>Real outputs: crack and nick, found and typed (orange = truth, blue = found)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Generalization to New Blade Designs (v1.1)</a:t>
            </a:r>
          </a:p>
        </p:txBody>
      </p:sp>
      <p:sp>
        <p:nvSpPr>
          <p:cNvPr id="3" name="TextBox 2"/>
          <p:cNvSpPr txBox="1"/>
          <p:nvPr/>
        </p:nvSpPr>
        <p:spPr>
          <a:xfrm>
            <a:off x="548640" y="1783080"/>
            <a:ext cx="5486400" cy="329184"/>
          </a:xfrm>
          <a:prstGeom prst="rect">
            <a:avLst/>
          </a:prstGeom>
          <a:noFill/>
        </p:spPr>
        <p:txBody>
          <a:bodyPr wrap="square" anchor="t">
            <a:spAutoFit/>
          </a:bodyPr>
          <a:lstStyle/>
          <a:p>
            <a:pPr algn="l">
              <a:spcAft>
                <a:spcPts val="200"/>
              </a:spcAft>
            </a:pPr>
            <a:r>
              <a:rPr sz="1500" b="1">
                <a:solidFill>
                  <a:srgbClr val="C62828"/>
                </a:solidFill>
              </a:rPr>
              <a:t>Frozen v1</a:t>
            </a:r>
          </a:p>
        </p:txBody>
      </p:sp>
      <p:sp>
        <p:nvSpPr>
          <p:cNvPr id="4" name="TextBox 3"/>
          <p:cNvSpPr txBox="1"/>
          <p:nvPr/>
        </p:nvSpPr>
        <p:spPr>
          <a:xfrm>
            <a:off x="6309360" y="1783080"/>
            <a:ext cx="5486400" cy="329184"/>
          </a:xfrm>
          <a:prstGeom prst="rect">
            <a:avLst/>
          </a:prstGeom>
          <a:noFill/>
        </p:spPr>
        <p:txBody>
          <a:bodyPr wrap="square" anchor="t">
            <a:spAutoFit/>
          </a:bodyPr>
          <a:lstStyle/>
          <a:p>
            <a:pPr algn="l">
              <a:spcAft>
                <a:spcPts val="200"/>
              </a:spcAft>
            </a:pPr>
            <a:r>
              <a:rPr sz="1500" b="1">
                <a:solidFill>
                  <a:srgbClr val="1A7F37"/>
                </a:solidFill>
              </a:rPr>
              <a:t>v1.1 (fixed)</a:t>
            </a:r>
          </a:p>
        </p:txBody>
      </p:sp>
      <p:pic>
        <p:nvPicPr>
          <p:cNvPr id="5" name="Picture 4" descr="fix_before.jpg"/>
          <p:cNvPicPr>
            <a:picLocks noChangeAspect="1"/>
          </p:cNvPicPr>
          <p:nvPr/>
        </p:nvPicPr>
        <p:blipFill>
          <a:blip r:embed="rId2"/>
          <a:stretch>
            <a:fillRect/>
          </a:stretch>
        </p:blipFill>
        <p:spPr>
          <a:xfrm>
            <a:off x="1177747" y="2153412"/>
            <a:ext cx="4228185" cy="1316736"/>
          </a:xfrm>
          <a:prstGeom prst="rect">
            <a:avLst/>
          </a:prstGeom>
        </p:spPr>
      </p:pic>
      <p:pic>
        <p:nvPicPr>
          <p:cNvPr id="6" name="Picture 5" descr="fix_after.jpg"/>
          <p:cNvPicPr>
            <a:picLocks noChangeAspect="1"/>
          </p:cNvPicPr>
          <p:nvPr/>
        </p:nvPicPr>
        <p:blipFill>
          <a:blip r:embed="rId3"/>
          <a:stretch>
            <a:fillRect/>
          </a:stretch>
        </p:blipFill>
        <p:spPr>
          <a:xfrm>
            <a:off x="6938467" y="2153412"/>
            <a:ext cx="4228185" cy="1316736"/>
          </a:xfrm>
          <a:prstGeom prst="rect">
            <a:avLst/>
          </a:prstGeom>
        </p:spPr>
      </p:pic>
      <p:sp>
        <p:nvSpPr>
          <p:cNvPr id="7" name="TextBox 6"/>
          <p:cNvSpPr txBox="1"/>
          <p:nvPr/>
        </p:nvSpPr>
        <p:spPr>
          <a:xfrm>
            <a:off x="548640" y="3675888"/>
            <a:ext cx="11155680" cy="1645920"/>
          </a:xfrm>
          <a:prstGeom prst="rect">
            <a:avLst/>
          </a:prstGeom>
          <a:noFill/>
        </p:spPr>
        <p:txBody>
          <a:bodyPr wrap="square" anchor="t">
            <a:spAutoFit/>
          </a:bodyPr>
          <a:lstStyle/>
          <a:p>
            <a:pPr algn="l">
              <a:spcAft>
                <a:spcPts val="800"/>
              </a:spcAft>
            </a:pPr>
            <a:r>
              <a:rPr sz="1500" b="0">
                <a:solidFill>
                  <a:srgbClr val="1F2937"/>
                </a:solidFill>
              </a:rPr>
              <a:t>•  Two causes found: a silhouette pose bias, and a reference (brightness) correction that did not move with the camera</a:t>
            </a:r>
          </a:p>
          <a:p>
            <a:pPr algn="l">
              <a:spcAft>
                <a:spcPts val="800"/>
              </a:spcAft>
            </a:pPr>
            <a:r>
              <a:rPr sz="1500" b="0">
                <a:solidFill>
                  <a:srgbClr val="1F2937"/>
                </a:solidFill>
              </a:rPr>
              <a:t>•  Fix: correct the silhouette bias and re-project the healthy reference with the fitted pose; no retraining</a:t>
            </a:r>
          </a:p>
          <a:p>
            <a:pPr algn="l">
              <a:spcAft>
                <a:spcPts val="800"/>
              </a:spcAft>
            </a:pPr>
            <a:r>
              <a:rPr sz="1500" b="0">
                <a:solidFill>
                  <a:srgbClr val="1F2937"/>
                </a:solidFill>
              </a:rPr>
              <a:t>•  Held-out blades 3–6: false alarms 51% → 4%, AUROC 0.72 → 0.95, hidden dents declined 50% → 98%</a:t>
            </a:r>
          </a:p>
        </p:txBody>
      </p:sp>
      <p:pic>
        <p:nvPicPr>
          <p:cNvPr id="8" name="Picture 7" descr="cad6_blades.png"/>
          <p:cNvPicPr>
            <a:picLocks noChangeAspect="1"/>
          </p:cNvPicPr>
          <p:nvPr/>
        </p:nvPicPr>
        <p:blipFill>
          <a:blip r:embed="rId4"/>
          <a:stretch>
            <a:fillRect/>
          </a:stretch>
        </p:blipFill>
        <p:spPr>
          <a:xfrm>
            <a:off x="3613669" y="5239512"/>
            <a:ext cx="4934181" cy="115214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Baselines and Expert Feedback</a:t>
            </a:r>
          </a:p>
        </p:txBody>
      </p:sp>
      <p:sp>
        <p:nvSpPr>
          <p:cNvPr id="3" name="TextBox 2"/>
          <p:cNvSpPr txBox="1"/>
          <p:nvPr/>
        </p:nvSpPr>
        <p:spPr>
          <a:xfrm>
            <a:off x="548640" y="1865376"/>
            <a:ext cx="5669280" cy="3950208"/>
          </a:xfrm>
          <a:prstGeom prst="rect">
            <a:avLst/>
          </a:prstGeom>
          <a:noFill/>
        </p:spPr>
        <p:txBody>
          <a:bodyPr wrap="square" anchor="t">
            <a:spAutoFit/>
          </a:bodyPr>
          <a:lstStyle/>
          <a:p>
            <a:pPr algn="l">
              <a:spcAft>
                <a:spcPts val="800"/>
              </a:spcAft>
            </a:pPr>
            <a:r>
              <a:rPr sz="1500" b="0">
                <a:solidFill>
                  <a:srgbClr val="1F2937"/>
                </a:solidFill>
              </a:rPr>
              <a:t>•  2D U-Net detector, lifted to 3D</a:t>
            </a:r>
          </a:p>
          <a:p>
            <a:pPr algn="l">
              <a:spcAft>
                <a:spcPts val="800"/>
              </a:spcAft>
            </a:pPr>
            <a:r>
              <a:rPr sz="1500" b="0">
                <a:solidFill>
                  <a:srgbClr val="1F2937"/>
                </a:solidFill>
              </a:rPr>
              <a:t>•  SIFT change detector (16–47% of defects; no location)</a:t>
            </a:r>
          </a:p>
          <a:p>
            <a:pPr algn="l">
              <a:spcAft>
                <a:spcPts val="800"/>
              </a:spcAft>
            </a:pPr>
            <a:r>
              <a:rPr sz="1500" b="0">
                <a:solidFill>
                  <a:srgbClr val="1F2937"/>
                </a:solidFill>
              </a:rPr>
              <a:t>•  Free-form and MLP deformation fields (CADSplat-style re-implementations)</a:t>
            </a:r>
          </a:p>
          <a:p>
            <a:pPr algn="l">
              <a:spcAft>
                <a:spcPts val="800"/>
              </a:spcAft>
            </a:pPr>
            <a:r>
              <a:rPr sz="1500" b="0">
                <a:solidFill>
                  <a:srgbClr val="1F2937"/>
                </a:solidFill>
              </a:rPr>
              <a:t>•  Textbook χ² and a-contrario thresholds</a:t>
            </a:r>
          </a:p>
          <a:p>
            <a:pPr algn="l">
              <a:spcAft>
                <a:spcPts val="800"/>
              </a:spcAft>
            </a:pPr>
            <a:r>
              <a:rPr sz="1500" b="0">
                <a:solidFill>
                  <a:srgbClr val="1F2937"/>
                </a:solidFill>
              </a:rPr>
              <a:t>•  All calibrated the same way; ours locates ≥2× more dents at equal false alarms</a:t>
            </a:r>
          </a:p>
        </p:txBody>
      </p:sp>
      <p:sp>
        <p:nvSpPr>
          <p:cNvPr id="4" name="Rounded Rectangle 3"/>
          <p:cNvSpPr/>
          <p:nvPr/>
        </p:nvSpPr>
        <p:spPr>
          <a:xfrm>
            <a:off x="6492240" y="1865376"/>
            <a:ext cx="5303520" cy="172821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2937"/>
                </a:solidFill>
              </a:rPr>
              <a:t>Author of CADSplat (personal correspondence)</a:t>
            </a:r>
          </a:p>
          <a:p>
            <a:pPr algn="ctr"/>
            <a:r>
              <a:rPr sz="1300" b="0">
                <a:solidFill>
                  <a:srgbClr val="1F2937"/>
                </a:solidFill>
              </a:rPr>
              <a:t>their method does not detect minor defects; suggested deflectometry</a:t>
            </a:r>
          </a:p>
        </p:txBody>
      </p:sp>
      <p:sp>
        <p:nvSpPr>
          <p:cNvPr id="5" name="Rounded Rectangle 4"/>
          <p:cNvSpPr/>
          <p:nvPr/>
        </p:nvSpPr>
        <p:spPr>
          <a:xfrm>
            <a:off x="6492240" y="3758184"/>
            <a:ext cx="5303520" cy="172821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2937"/>
                </a:solidFill>
              </a:rPr>
              <a:t>Author of PIAD (personal correspondence)</a:t>
            </a:r>
          </a:p>
          <a:p>
            <a:pPr algn="ctr"/>
            <a:r>
              <a:rPr sz="1300" b="0">
                <a:solidFill>
                  <a:srgbClr val="1F2937"/>
                </a:solidFill>
              </a:rPr>
              <a:t>identifiability and abstention are a meaningful contribution in themselves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Future Work: Physical Validation</a:t>
            </a:r>
          </a:p>
        </p:txBody>
      </p:sp>
      <p:pic>
        <p:nvPicPr>
          <p:cNvPr id="3" name="Picture 2" descr="f_plan.png"/>
          <p:cNvPicPr>
            <a:picLocks noChangeAspect="1"/>
          </p:cNvPicPr>
          <p:nvPr/>
        </p:nvPicPr>
        <p:blipFill>
          <a:blip r:embed="rId2"/>
          <a:stretch>
            <a:fillRect/>
          </a:stretch>
        </p:blipFill>
        <p:spPr>
          <a:xfrm>
            <a:off x="1223620" y="1865376"/>
            <a:ext cx="9714279" cy="1563624"/>
          </a:xfrm>
          <a:prstGeom prst="rect">
            <a:avLst/>
          </a:prstGeom>
        </p:spPr>
      </p:pic>
      <p:sp>
        <p:nvSpPr>
          <p:cNvPr id="4" name="TextBox 3"/>
          <p:cNvSpPr txBox="1"/>
          <p:nvPr/>
        </p:nvSpPr>
        <p:spPr>
          <a:xfrm>
            <a:off x="548640" y="3675888"/>
            <a:ext cx="11064240" cy="2468880"/>
          </a:xfrm>
          <a:prstGeom prst="rect">
            <a:avLst/>
          </a:prstGeom>
          <a:noFill/>
        </p:spPr>
        <p:txBody>
          <a:bodyPr wrap="square" anchor="t">
            <a:spAutoFit/>
          </a:bodyPr>
          <a:lstStyle/>
          <a:p>
            <a:pPr algn="l">
              <a:spcAft>
                <a:spcPts val="800"/>
              </a:spcAft>
            </a:pPr>
            <a:r>
              <a:rPr sz="1600" b="0">
                <a:solidFill>
                  <a:srgbClr val="1F2937"/>
                </a:solidFill>
              </a:rPr>
              <a:t>•  3D-print 10 stainless-steel blades from our CAD models</a:t>
            </a:r>
          </a:p>
          <a:p>
            <a:pPr algn="l">
              <a:spcAft>
                <a:spcPts val="800"/>
              </a:spcAft>
            </a:pPr>
            <a:r>
              <a:rPr sz="1600" b="0">
                <a:solidFill>
                  <a:srgbClr val="1F2937"/>
                </a:solidFill>
              </a:rPr>
              <a:t>•  Induce damage: ball bearings (dents), files (nicks), paint (stains)</a:t>
            </a:r>
          </a:p>
          <a:p>
            <a:pPr algn="l">
              <a:spcAft>
                <a:spcPts val="800"/>
              </a:spcAft>
            </a:pPr>
            <a:r>
              <a:rPr sz="1600" b="0">
                <a:solidFill>
                  <a:srgbClr val="1F2937"/>
                </a:solidFill>
              </a:rPr>
              <a:t>•  Ground truth: dial gauge and 3D scanner; photographs with ArUco markers and grazing light</a:t>
            </a:r>
          </a:p>
          <a:p>
            <a:pPr algn="l">
              <a:spcAft>
                <a:spcPts val="800"/>
              </a:spcAft>
            </a:pPr>
            <a:r>
              <a:rPr sz="1600" b="0">
                <a:solidFill>
                  <a:srgbClr val="1F2937"/>
                </a:solidFill>
              </a:rPr>
              <a:t>•  Compare the frozen pipeline’s 3D estimates with metrology; test robustness to specular reflection and sensor noise</a:t>
            </a:r>
          </a:p>
        </p:txBody>
      </p:sp>
    </p:spTree>
  </p:cSld>
  <p:clrMapOvr>
    <a:masterClrMapping/>
  </p:clrMapOvr>
</p:sld>
</file>

<file path=ppt/theme/theme1.xml><?xml version="1.0" encoding="utf-8"?>
<a:theme xmlns:a="http://schemas.openxmlformats.org/drawingml/2006/main" name="KU Theme">
  <a:themeElements>
    <a:clrScheme name="KU">
      <a:dk1>
        <a:sysClr val="windowText" lastClr="000000"/>
      </a:dk1>
      <a:lt1>
        <a:sysClr val="window" lastClr="FFFFFF"/>
      </a:lt1>
      <a:dk2>
        <a:srgbClr val="0047BA"/>
      </a:dk2>
      <a:lt2>
        <a:srgbClr val="96969A"/>
      </a:lt2>
      <a:accent1>
        <a:srgbClr val="00CE7C"/>
      </a:accent1>
      <a:accent2>
        <a:srgbClr val="E53E51"/>
      </a:accent2>
      <a:accent3>
        <a:srgbClr val="84DADE"/>
      </a:accent3>
      <a:accent4>
        <a:srgbClr val="4C3041"/>
      </a:accent4>
      <a:accent5>
        <a:srgbClr val="F5CE3E"/>
      </a:accent5>
      <a:accent6>
        <a:srgbClr val="D0CFCD"/>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50" smtClean="0"/>
        </a:defPPr>
      </a:lstStyle>
    </a:txDef>
  </a:objectDefaults>
  <a:extraClrSchemeLst/>
  <a:extLst>
    <a:ext uri="{05A4C25C-085E-4340-85A3-A5531E510DB2}">
      <thm15:themeFamily xmlns:thm15="http://schemas.microsoft.com/office/thememl/2012/main" name="KU_presentation_template_v2018-04-09 E.potx" id="{AF960482-6B50-417C-AC38-1AFEBFC77BA4}" vid="{1F04D338-456F-4FFC-9561-BAAA645232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7BCE9BEE86D22418B98990A0B028EF2" ma:contentTypeVersion="2" ma:contentTypeDescription="Create a new document." ma:contentTypeScope="" ma:versionID="c92d080676834feb7a8d6e7ac37a685f">
  <xsd:schema xmlns:xsd="http://www.w3.org/2001/XMLSchema" xmlns:xs="http://www.w3.org/2001/XMLSchema" xmlns:p="http://schemas.microsoft.com/office/2006/metadata/properties" xmlns:ns1="http://schemas.microsoft.com/sharepoint/v3" xmlns:ns2="557946a8-a765-46f2-8d44-445b86b509b9" targetNamespace="http://schemas.microsoft.com/office/2006/metadata/properties" ma:root="true" ma:fieldsID="773afa511ca0245c4474d0f23d29f83c" ns1:_="" ns2:_="">
    <xsd:import namespace="http://schemas.microsoft.com/sharepoint/v3"/>
    <xsd:import namespace="557946a8-a765-46f2-8d44-445b86b509b9"/>
    <xsd:element name="properties">
      <xsd:complexType>
        <xsd:sequence>
          <xsd:element name="documentManagement">
            <xsd:complexType>
              <xsd:all>
                <xsd:element ref="ns1:PublishingStartDate" minOccurs="0"/>
                <xsd:element ref="ns1:PublishingExpirationDate"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57946a8-a765-46f2-8d44-445b86b509b9" elementFormDefault="qualified">
    <xsd:import namespace="http://schemas.microsoft.com/office/2006/documentManagement/types"/>
    <xsd:import namespace="http://schemas.microsoft.com/office/infopath/2007/PartnerControls"/>
    <xsd:element name="SharedWithUsers" ma:index="10"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510135-11A2-4CE9-AC9A-F9B5F7E81A9F}">
  <ds:schemaRefs>
    <ds:schemaRef ds:uri="http://www.w3.org/XML/1998/namespace"/>
    <ds:schemaRef ds:uri="http://schemas.microsoft.com/office/2006/documentManagement/types"/>
    <ds:schemaRef ds:uri="http://purl.org/dc/terms/"/>
    <ds:schemaRef ds:uri="http://schemas.microsoft.com/sharepoint/v3"/>
    <ds:schemaRef ds:uri="557946a8-a765-46f2-8d44-445b86b509b9"/>
    <ds:schemaRef ds:uri="http://purl.org/dc/elements/1.1/"/>
    <ds:schemaRef ds:uri="http://schemas.microsoft.com/office/2006/metadata/properties"/>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1FD50A8C-CA97-4410-A798-5A85CCD8F172}">
  <ds:schemaRefs>
    <ds:schemaRef ds:uri="http://schemas.microsoft.com/sharepoint/v3/contenttype/forms"/>
  </ds:schemaRefs>
</ds:datastoreItem>
</file>

<file path=customXml/itemProps3.xml><?xml version="1.0" encoding="utf-8"?>
<ds:datastoreItem xmlns:ds="http://schemas.openxmlformats.org/officeDocument/2006/customXml" ds:itemID="{AC14F958-FA86-4F8B-BDB0-691B121869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57946a8-a765-46f2-8d44-445b86b509b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KU Theme</Template>
  <TotalTime>30283</TotalTime>
  <Words>122</Words>
  <Application>Microsoft Office PowerPoint</Application>
  <PresentationFormat>Widescreen</PresentationFormat>
  <Paragraphs>24</Paragraphs>
  <Slides>5</Slides>
  <Notes>0</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KU Theme</vt:lpstr>
      <vt:lpstr>Silal &amp; Khalifa University Incubation Program</vt:lpstr>
      <vt:lpstr>Dataset Summary</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 Title Goes Here</dc:title>
  <dc:creator>Majed Almansoori</dc:creator>
  <cp:lastModifiedBy>Muhammad  Shafay</cp:lastModifiedBy>
  <cp:revision>182</cp:revision>
  <dcterms:created xsi:type="dcterms:W3CDTF">2018-04-29T10:48:36Z</dcterms:created>
  <dcterms:modified xsi:type="dcterms:W3CDTF">2026-10-13T07:33:33Z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0x010100E7BCE9BEE86D22418B98990A0B028EF2</vt:lpwstr>
  </property>
</Properties>
</file>