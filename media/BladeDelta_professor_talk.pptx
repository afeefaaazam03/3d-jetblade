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7" r:id="rId5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BBB8"/>
    <a:srgbClr val="0047BA"/>
    <a:srgbClr val="E67E22"/>
    <a:srgbClr val="9B59B6"/>
    <a:srgbClr val="2C3E50"/>
    <a:srgbClr val="27AE60"/>
    <a:srgbClr val="F2F2F2"/>
    <a:srgbClr val="E2F0D9"/>
    <a:srgbClr val="C6C6C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99" autoAdjust="0"/>
    <p:restoredTop sz="95033" autoAdjust="0"/>
  </p:normalViewPr>
  <p:slideViewPr>
    <p:cSldViewPr snapToGrid="0" showGuides="1">
      <p:cViewPr varScale="1">
        <p:scale>
          <a:sx n="109" d="100"/>
          <a:sy n="109" d="100"/>
        </p:scale>
        <p:origin x="181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talk asks when a CAD model and a few calibrated photographs are sufficient to conclude that an aero-engine blade is physically damaged, and what a method should do when they are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the first cause is physical damage. The signal of interest is much smaller than the nuisance. This motivates a decision that can abstain.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Formally a nested hypothesis comparison. The threshold is calibrated, not assumed. The constraints are what make geometry separable from appearance.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closest methods output 2D maps or digital twins. None outputs a tested physical displacement with abstention.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deformation is a parametric dent fitted by Adam through nvdiffrast; neural deformation fields are baselines. The type stage only labels damage already reported, so it adds no false alarms.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sealed-test case. The difference image indicates where; the evidence test decides whether; the fitted dent gives location and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 ground truth is only available in rendering; physical validation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Matched false-alarm comparison removes threshold effects. The baselines lack an appearance model, so stains force their thresholds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misses are physically small. The detectability predictor works per dent; the aggregated maps are optimistic and are reported as such.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Calibration on real negatives is what makes false-alarm control work under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Frozen v1 transferred poorly to new designs. Two causes were identified and fixed; held-out results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Frozen detector, two views, no retuning. Nicks and cracks are not modelled by the detector but produce enough evidence. The elevated false-alarm rate is an honest weakness.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nick specialist was too smooth; a carved-notch model raised nick recognition from 2 to 9. Uncertain is preferred to a wrong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Several fixes were tested and failed, which locates the limitation in the information content of the capture and in the appearance model on new designs.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stated in the paper. The SiM3D failure motivates the controlled physical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frozen pipeline will be compared against metrology on real metal.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points to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78" y="836468"/>
            <a:ext cx="9991725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78" y="2160443"/>
            <a:ext cx="9991725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86725" y="76201"/>
            <a:ext cx="1733550" cy="244475"/>
          </a:xfrm>
        </p:spPr>
        <p:txBody>
          <a:bodyPr/>
          <a:lstStyle/>
          <a:p>
            <a:fld id="{F50DD33E-EA77-4969-99D9-A522168339B7}" type="datetime2">
              <a:rPr lang="en-US" smtClean="0"/>
              <a:t>Tuesday, October 13,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7025" y="76201"/>
            <a:ext cx="4114800" cy="244475"/>
          </a:xfrm>
        </p:spPr>
        <p:txBody>
          <a:bodyPr/>
          <a:lstStyle/>
          <a:p>
            <a:r>
              <a:rPr lang="en-US" dirty="0"/>
              <a:t>Deep Learning Driven Automated Plant Disease Detection and Classification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350" y="0"/>
            <a:ext cx="523874" cy="396878"/>
          </a:xfrm>
        </p:spPr>
        <p:txBody>
          <a:bodyPr/>
          <a:lstStyle>
            <a:lvl1pPr>
              <a:defRPr sz="1400"/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109125"/>
            <a:ext cx="1811848" cy="185303"/>
          </a:xfrm>
          <a:prstGeom prst="rect">
            <a:avLst/>
          </a:prstGeom>
        </p:spPr>
      </p:pic>
      <p:sp>
        <p:nvSpPr>
          <p:cNvPr id="24" name="Rectangle 23"/>
          <p:cNvSpPr/>
          <p:nvPr userDrawn="1"/>
        </p:nvSpPr>
        <p:spPr>
          <a:xfrm>
            <a:off x="-2" y="393873"/>
            <a:ext cx="2468880" cy="182880"/>
          </a:xfrm>
          <a:prstGeom prst="rect">
            <a:avLst/>
          </a:prstGeom>
          <a:solidFill>
            <a:srgbClr val="0047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Introduction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2430779" y="393873"/>
            <a:ext cx="2468880" cy="182880"/>
          </a:xfrm>
          <a:prstGeom prst="rect">
            <a:avLst/>
          </a:prstGeom>
          <a:solidFill>
            <a:srgbClr val="BCBB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(I)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4861560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(II)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7292341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(III)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9723120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Conclusion</a:t>
            </a:r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0" y="598671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78" y="836468"/>
            <a:ext cx="9991725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78" y="2160443"/>
            <a:ext cx="9991725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86725" y="76201"/>
            <a:ext cx="1733550" cy="244475"/>
          </a:xfrm>
        </p:spPr>
        <p:txBody>
          <a:bodyPr/>
          <a:lstStyle/>
          <a:p>
            <a:fld id="{F50DD33E-EA77-4969-99D9-A522168339B7}" type="datetime2">
              <a:rPr lang="en-US" smtClean="0"/>
              <a:t>Tuesday, October 13,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7025" y="76201"/>
            <a:ext cx="4114800" cy="244475"/>
          </a:xfrm>
        </p:spPr>
        <p:txBody>
          <a:bodyPr/>
          <a:lstStyle/>
          <a:p>
            <a:r>
              <a:rPr lang="en-US" dirty="0"/>
              <a:t>Deep Learning Driven Automated Plant Disease Detection and Classification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350" y="0"/>
            <a:ext cx="523874" cy="396878"/>
          </a:xfrm>
        </p:spPr>
        <p:txBody>
          <a:bodyPr/>
          <a:lstStyle>
            <a:lvl1pPr>
              <a:defRPr sz="1400"/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109125"/>
            <a:ext cx="1811848" cy="18530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2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Introduction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2430779" y="393873"/>
            <a:ext cx="2468880" cy="18288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(I)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4861560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(II)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7292341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(III)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9723120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Conclusion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0" y="598671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327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78" y="836468"/>
            <a:ext cx="9991725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78" y="2160443"/>
            <a:ext cx="9991725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86725" y="76201"/>
            <a:ext cx="1733550" cy="244475"/>
          </a:xfrm>
        </p:spPr>
        <p:txBody>
          <a:bodyPr/>
          <a:lstStyle/>
          <a:p>
            <a:fld id="{F50DD33E-EA77-4969-99D9-A522168339B7}" type="datetime2">
              <a:rPr lang="en-US" smtClean="0"/>
              <a:t>Tuesday, October 13,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7025" y="76201"/>
            <a:ext cx="4114800" cy="244475"/>
          </a:xfrm>
        </p:spPr>
        <p:txBody>
          <a:bodyPr/>
          <a:lstStyle/>
          <a:p>
            <a:r>
              <a:rPr lang="en-US" dirty="0"/>
              <a:t>Deep Learning Driven Automated Plant Disease Detection and Classification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350" y="0"/>
            <a:ext cx="523874" cy="396878"/>
          </a:xfrm>
        </p:spPr>
        <p:txBody>
          <a:bodyPr/>
          <a:lstStyle>
            <a:lvl1pPr>
              <a:defRPr sz="1400"/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109125"/>
            <a:ext cx="1811848" cy="185303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-2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Introduction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2430779" y="393873"/>
            <a:ext cx="2468880" cy="182880"/>
          </a:xfrm>
          <a:prstGeom prst="rect">
            <a:avLst/>
          </a:prstGeom>
          <a:solidFill>
            <a:srgbClr val="BCBB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(I)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4861560" y="393873"/>
            <a:ext cx="2468880" cy="18288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(II)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7292341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(III)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9723120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Conclusion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0" y="598671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212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78" y="836468"/>
            <a:ext cx="9991725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78" y="2160443"/>
            <a:ext cx="9991725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86725" y="76201"/>
            <a:ext cx="1733550" cy="244475"/>
          </a:xfrm>
        </p:spPr>
        <p:txBody>
          <a:bodyPr/>
          <a:lstStyle/>
          <a:p>
            <a:fld id="{F50DD33E-EA77-4969-99D9-A522168339B7}" type="datetime2">
              <a:rPr lang="en-US" smtClean="0"/>
              <a:t>Tuesday, October 13,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7025" y="76201"/>
            <a:ext cx="4114800" cy="244475"/>
          </a:xfrm>
        </p:spPr>
        <p:txBody>
          <a:bodyPr/>
          <a:lstStyle/>
          <a:p>
            <a:r>
              <a:rPr lang="en-US" dirty="0"/>
              <a:t>Deep Learning Driven Automated Plant Disease Detection and Classification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350" y="0"/>
            <a:ext cx="523874" cy="396878"/>
          </a:xfrm>
        </p:spPr>
        <p:txBody>
          <a:bodyPr/>
          <a:lstStyle>
            <a:lvl1pPr>
              <a:defRPr sz="1400"/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109125"/>
            <a:ext cx="1811848" cy="185303"/>
          </a:xfrm>
          <a:prstGeom prst="rect">
            <a:avLst/>
          </a:prstGeom>
        </p:spPr>
      </p:pic>
      <p:cxnSp>
        <p:nvCxnSpPr>
          <p:cNvPr id="16" name="Straight Connector 15"/>
          <p:cNvCxnSpPr/>
          <p:nvPr userDrawn="1"/>
        </p:nvCxnSpPr>
        <p:spPr>
          <a:xfrm>
            <a:off x="-2" y="378863"/>
            <a:ext cx="12192002" cy="0"/>
          </a:xfrm>
          <a:prstGeom prst="line">
            <a:avLst/>
          </a:prstGeom>
          <a:ln w="635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-2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Introduction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2430779" y="393873"/>
            <a:ext cx="2468880" cy="182880"/>
          </a:xfrm>
          <a:prstGeom prst="rect">
            <a:avLst/>
          </a:prstGeom>
          <a:solidFill>
            <a:srgbClr val="BCBB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(I)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4861560" y="393873"/>
            <a:ext cx="2468880" cy="182880"/>
          </a:xfrm>
          <a:prstGeom prst="rect">
            <a:avLst/>
          </a:prstGeom>
          <a:solidFill>
            <a:srgbClr val="BCBB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(II)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7292341" y="393873"/>
            <a:ext cx="2468880" cy="18288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(III)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9723120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Conclusion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0" y="598671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10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78" y="836468"/>
            <a:ext cx="9991725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78" y="2160443"/>
            <a:ext cx="9991725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86725" y="76201"/>
            <a:ext cx="1733550" cy="244475"/>
          </a:xfrm>
        </p:spPr>
        <p:txBody>
          <a:bodyPr/>
          <a:lstStyle/>
          <a:p>
            <a:fld id="{F50DD33E-EA77-4969-99D9-A522168339B7}" type="datetime2">
              <a:rPr lang="en-US" smtClean="0"/>
              <a:t>Tuesday, October 13,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7025" y="76201"/>
            <a:ext cx="4114800" cy="244475"/>
          </a:xfrm>
        </p:spPr>
        <p:txBody>
          <a:bodyPr/>
          <a:lstStyle/>
          <a:p>
            <a:r>
              <a:rPr lang="en-US" dirty="0"/>
              <a:t>Deep Learning Driven Automated Plant Disease Detection and Classification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350" y="0"/>
            <a:ext cx="523874" cy="396878"/>
          </a:xfrm>
        </p:spPr>
        <p:txBody>
          <a:bodyPr/>
          <a:lstStyle>
            <a:lvl1pPr>
              <a:defRPr sz="1400"/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109125"/>
            <a:ext cx="1811848" cy="185303"/>
          </a:xfrm>
          <a:prstGeom prst="rect">
            <a:avLst/>
          </a:prstGeom>
        </p:spPr>
      </p:pic>
      <p:sp>
        <p:nvSpPr>
          <p:cNvPr id="24" name="Rectangle 23"/>
          <p:cNvSpPr/>
          <p:nvPr userDrawn="1"/>
        </p:nvSpPr>
        <p:spPr>
          <a:xfrm>
            <a:off x="-2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Introduction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2430779" y="393873"/>
            <a:ext cx="2468880" cy="182880"/>
          </a:xfrm>
          <a:prstGeom prst="rect">
            <a:avLst/>
          </a:prstGeom>
          <a:solidFill>
            <a:srgbClr val="BCBB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(I)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4861560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(II)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7292341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(III)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9723120" y="393873"/>
            <a:ext cx="2468880" cy="18288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Conclusion</a:t>
            </a:r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0" y="598671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943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86725" y="76201"/>
            <a:ext cx="1733550" cy="244475"/>
          </a:xfrm>
        </p:spPr>
        <p:txBody>
          <a:bodyPr/>
          <a:lstStyle/>
          <a:p>
            <a:fld id="{F50DD33E-EA77-4969-99D9-A522168339B7}" type="datetime2">
              <a:rPr lang="en-US" smtClean="0"/>
              <a:t>Tuesday, October 13, 2026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7025" y="76201"/>
            <a:ext cx="4114800" cy="244475"/>
          </a:xfrm>
        </p:spPr>
        <p:txBody>
          <a:bodyPr/>
          <a:lstStyle/>
          <a:p>
            <a:r>
              <a:rPr lang="en-US" dirty="0"/>
              <a:t>Deep Learning Driven Automated Plant Disease Detection and Classification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350" y="0"/>
            <a:ext cx="523874" cy="396878"/>
          </a:xfrm>
        </p:spPr>
        <p:txBody>
          <a:bodyPr/>
          <a:lstStyle>
            <a:lvl1pPr>
              <a:defRPr sz="1400"/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109125"/>
            <a:ext cx="1811848" cy="185303"/>
          </a:xfrm>
          <a:prstGeom prst="rect">
            <a:avLst/>
          </a:prstGeom>
        </p:spPr>
      </p:pic>
      <p:sp>
        <p:nvSpPr>
          <p:cNvPr id="21" name="Rectangle 20"/>
          <p:cNvSpPr/>
          <p:nvPr userDrawn="1"/>
        </p:nvSpPr>
        <p:spPr>
          <a:xfrm>
            <a:off x="-2" y="393873"/>
            <a:ext cx="2468880" cy="182880"/>
          </a:xfrm>
          <a:prstGeom prst="rect">
            <a:avLst/>
          </a:prstGeom>
          <a:solidFill>
            <a:srgbClr val="0047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Introduction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2430779" y="393873"/>
            <a:ext cx="2468880" cy="182880"/>
          </a:xfrm>
          <a:prstGeom prst="rect">
            <a:avLst/>
          </a:prstGeom>
          <a:solidFill>
            <a:srgbClr val="BCBB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(I)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4861560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(II)</a:t>
            </a:r>
          </a:p>
        </p:txBody>
      </p:sp>
      <p:sp>
        <p:nvSpPr>
          <p:cNvPr id="35" name="Rectangle 34"/>
          <p:cNvSpPr/>
          <p:nvPr userDrawn="1"/>
        </p:nvSpPr>
        <p:spPr>
          <a:xfrm>
            <a:off x="7292341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(III)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9723120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Conclusion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0" y="598671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86725" y="76201"/>
            <a:ext cx="1733550" cy="244475"/>
          </a:xfrm>
        </p:spPr>
        <p:txBody>
          <a:bodyPr/>
          <a:lstStyle/>
          <a:p>
            <a:fld id="{F50DD33E-EA77-4969-99D9-A522168339B7}" type="datetime2">
              <a:rPr lang="en-US" smtClean="0"/>
              <a:t>Tuesday, October 13, 2026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7025" y="76201"/>
            <a:ext cx="4114800" cy="244475"/>
          </a:xfrm>
        </p:spPr>
        <p:txBody>
          <a:bodyPr/>
          <a:lstStyle/>
          <a:p>
            <a:r>
              <a:rPr lang="en-US" dirty="0"/>
              <a:t>Deep Learning Driven Automated Plant Disease Detection and Classification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350" y="0"/>
            <a:ext cx="523874" cy="396878"/>
          </a:xfrm>
        </p:spPr>
        <p:txBody>
          <a:bodyPr/>
          <a:lstStyle>
            <a:lvl1pPr>
              <a:defRPr sz="1400"/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109125"/>
            <a:ext cx="1811848" cy="185303"/>
          </a:xfrm>
          <a:prstGeom prst="rect">
            <a:avLst/>
          </a:prstGeom>
        </p:spPr>
      </p:pic>
      <p:sp>
        <p:nvSpPr>
          <p:cNvPr id="22" name="Rectangle 21"/>
          <p:cNvSpPr/>
          <p:nvPr userDrawn="1"/>
        </p:nvSpPr>
        <p:spPr>
          <a:xfrm>
            <a:off x="-2" y="393873"/>
            <a:ext cx="2468880" cy="182880"/>
          </a:xfrm>
          <a:prstGeom prst="rect">
            <a:avLst/>
          </a:prstGeom>
          <a:solidFill>
            <a:srgbClr val="0047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Introduction</a:t>
            </a:r>
          </a:p>
        </p:txBody>
      </p:sp>
      <p:sp>
        <p:nvSpPr>
          <p:cNvPr id="23" name="Rectangle 22"/>
          <p:cNvSpPr/>
          <p:nvPr userDrawn="1"/>
        </p:nvSpPr>
        <p:spPr>
          <a:xfrm>
            <a:off x="2430779" y="393873"/>
            <a:ext cx="2468880" cy="182880"/>
          </a:xfrm>
          <a:prstGeom prst="rect">
            <a:avLst/>
          </a:prstGeom>
          <a:solidFill>
            <a:srgbClr val="BCBB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(I)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4861560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(II)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7292341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(III)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9723120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Conclusion</a:t>
            </a:r>
          </a:p>
        </p:txBody>
      </p:sp>
      <p:cxnSp>
        <p:nvCxnSpPr>
          <p:cNvPr id="27" name="Straight Connector 26"/>
          <p:cNvCxnSpPr/>
          <p:nvPr userDrawn="1"/>
        </p:nvCxnSpPr>
        <p:spPr>
          <a:xfrm>
            <a:off x="0" y="598671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86725" y="76201"/>
            <a:ext cx="1733550" cy="244475"/>
          </a:xfrm>
        </p:spPr>
        <p:txBody>
          <a:bodyPr/>
          <a:lstStyle/>
          <a:p>
            <a:fld id="{F50DD33E-EA77-4969-99D9-A522168339B7}" type="datetime2">
              <a:rPr lang="en-US" smtClean="0"/>
              <a:t>Tuesday, October 13, 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7025" y="76201"/>
            <a:ext cx="4114800" cy="244475"/>
          </a:xfrm>
        </p:spPr>
        <p:txBody>
          <a:bodyPr/>
          <a:lstStyle/>
          <a:p>
            <a:r>
              <a:rPr lang="en-US" dirty="0"/>
              <a:t>Deep Learning Driven Automated Plant Disease Detection and Classification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350" y="0"/>
            <a:ext cx="523874" cy="396878"/>
          </a:xfrm>
        </p:spPr>
        <p:txBody>
          <a:bodyPr/>
          <a:lstStyle>
            <a:lvl1pPr>
              <a:defRPr sz="1400"/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109125"/>
            <a:ext cx="1811848" cy="185303"/>
          </a:xfrm>
          <a:prstGeom prst="rect">
            <a:avLst/>
          </a:prstGeom>
        </p:spPr>
      </p:pic>
      <p:sp>
        <p:nvSpPr>
          <p:cNvPr id="36" name="Rectangle 35"/>
          <p:cNvSpPr/>
          <p:nvPr userDrawn="1"/>
        </p:nvSpPr>
        <p:spPr>
          <a:xfrm>
            <a:off x="-2" y="393873"/>
            <a:ext cx="2468880" cy="182880"/>
          </a:xfrm>
          <a:prstGeom prst="rect">
            <a:avLst/>
          </a:prstGeom>
          <a:solidFill>
            <a:srgbClr val="0047B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Introduction</a:t>
            </a:r>
          </a:p>
        </p:txBody>
      </p:sp>
      <p:sp>
        <p:nvSpPr>
          <p:cNvPr id="37" name="Rectangle 36"/>
          <p:cNvSpPr/>
          <p:nvPr userDrawn="1"/>
        </p:nvSpPr>
        <p:spPr>
          <a:xfrm>
            <a:off x="2430779" y="393873"/>
            <a:ext cx="2468880" cy="182880"/>
          </a:xfrm>
          <a:prstGeom prst="rect">
            <a:avLst/>
          </a:prstGeom>
          <a:solidFill>
            <a:srgbClr val="BCBB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(I)</a:t>
            </a:r>
          </a:p>
        </p:txBody>
      </p:sp>
      <p:sp>
        <p:nvSpPr>
          <p:cNvPr id="38" name="Rectangle 37"/>
          <p:cNvSpPr/>
          <p:nvPr userDrawn="1"/>
        </p:nvSpPr>
        <p:spPr>
          <a:xfrm>
            <a:off x="4861560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(II)</a:t>
            </a:r>
          </a:p>
        </p:txBody>
      </p:sp>
      <p:sp>
        <p:nvSpPr>
          <p:cNvPr id="39" name="Rectangle 38"/>
          <p:cNvSpPr/>
          <p:nvPr userDrawn="1"/>
        </p:nvSpPr>
        <p:spPr>
          <a:xfrm>
            <a:off x="7292341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Contribution (III)</a:t>
            </a:r>
          </a:p>
        </p:txBody>
      </p:sp>
      <p:sp>
        <p:nvSpPr>
          <p:cNvPr id="40" name="Rectangle 39"/>
          <p:cNvSpPr/>
          <p:nvPr userDrawn="1"/>
        </p:nvSpPr>
        <p:spPr>
          <a:xfrm>
            <a:off x="9723120" y="393873"/>
            <a:ext cx="2468880" cy="18288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Conclusion</a:t>
            </a:r>
          </a:p>
        </p:txBody>
      </p:sp>
      <p:cxnSp>
        <p:nvCxnSpPr>
          <p:cNvPr id="41" name="Straight Connector 40"/>
          <p:cNvCxnSpPr/>
          <p:nvPr userDrawn="1"/>
        </p:nvCxnSpPr>
        <p:spPr>
          <a:xfrm>
            <a:off x="0" y="598671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F2A6E-69EA-48C4-9878-9F94057E6DBE}" type="datetime2">
              <a:rPr lang="en-US" smtClean="0"/>
              <a:t>Tuesday, October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Synthesis and Evaluation of Iron Pyrite for Photovoltaic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0CBD-01E1-4F40-95BB-4CDCB31285D5}" type="datetime2">
              <a:rPr lang="en-US" smtClean="0"/>
              <a:t>Tuesday, October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Synthesis and Evaluation of Iron Pyrite for Photovoltaic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5515-C8D0-401B-9D01-89182670CBCD}" type="datetime2">
              <a:rPr lang="en-US" smtClean="0"/>
              <a:t>Tuesday, October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Synthesis and Evaluation of Iron Pyrite for Photovoltaic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E144D-A52D-4A39-B7E7-83B2E7E1D029}" type="datetime2">
              <a:rPr lang="en-US" smtClean="0"/>
              <a:t>Tuesday, October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Synthesis and Evaluation of Iron Pyrite for Photovoltaic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F194-9077-4E80-915D-8EF8A5C3402A}" type="datetime2">
              <a:rPr lang="en-US" smtClean="0"/>
              <a:t>Tuesday, October 13,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Synthesis and Evaluation of Iron Pyrite for Photovoltaic Applications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18892A-385F-4913-84E0-6673BA4EFF00}" type="datetime2">
              <a:rPr lang="en-US" smtClean="0"/>
              <a:t>Tuesday, October 13,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Synthesis and Evaluation of Iron Pyrite for Photovoltaic Applications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tx2"/>
                </a:solidFill>
              </a:rPr>
              <a:t>ku.ac.ae</a:t>
            </a:r>
            <a:endParaRPr lang="en-US" sz="85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6024-30B0-4B46-92B2-A72D2ECADBC7}" type="datetime2">
              <a:rPr lang="en-US" smtClean="0"/>
              <a:t>Tuesday, October 13,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Synthesis and Evaluation of Iron Pyrite for Photovoltaic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FE558-A44A-4071-89ED-CC9811DD0BF9}" type="datetime2">
              <a:rPr lang="en-US" smtClean="0"/>
              <a:t>Tuesday, October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Synthesis and Evaluation of Iron Pyrite for Photovoltaic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1066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67" y="891158"/>
            <a:ext cx="2368684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752475" y="2545809"/>
            <a:ext cx="10648950" cy="17697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Thank</a:t>
            </a:r>
            <a:r>
              <a:rPr lang="fi-FI" sz="11500" b="1" spc="-100" baseline="0" dirty="0">
                <a:solidFill>
                  <a:srgbClr val="FFFFFF"/>
                </a:solidFill>
                <a:latin typeface="+mj-lt"/>
              </a:rPr>
              <a:t> </a:t>
            </a:r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You</a:t>
            </a:r>
            <a:endParaRPr lang="en-US" sz="11500" b="1" spc="-100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5181601" y="6146800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i-FI" sz="1250" b="1">
                <a:solidFill>
                  <a:srgbClr val="FFFFFF"/>
                </a:solidFill>
              </a:rPr>
              <a:t>ku.ac.ae</a:t>
            </a:r>
            <a:endParaRPr lang="en-US" sz="125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fld id="{5E3B0699-7100-486A-9638-650B3590B671}" type="datetime2">
              <a:rPr lang="en-US" smtClean="0"/>
              <a:t>Tuesday, October 13,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Synthesis and Evaluation of Iron Pyrite for Photovoltaic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fld id="{E4594ECE-BF10-44A5-B643-757A8D096D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72" r:id="rId5"/>
    <p:sldLayoutId id="2147483673" r:id="rId6"/>
    <p:sldLayoutId id="2147483674" r:id="rId7"/>
    <p:sldLayoutId id="2147483675" r:id="rId8"/>
    <p:sldLayoutId id="2147483662" r:id="rId9"/>
    <p:sldLayoutId id="2147483652" r:id="rId10"/>
    <p:sldLayoutId id="2147483661" r:id="rId11"/>
    <p:sldLayoutId id="2147483663" r:id="rId12"/>
    <p:sldLayoutId id="2147483660" r:id="rId13"/>
    <p:sldLayoutId id="2147483664" r:id="rId14"/>
    <p:sldLayoutId id="2147483665" r:id="rId15"/>
    <p:sldLayoutId id="2147483654" r:id="rId16"/>
    <p:sldLayoutId id="2147483671" r:id="rId17"/>
    <p:sldLayoutId id="2147483655" r:id="rId18"/>
    <p:sldLayoutId id="2147483651" r:id="rId19"/>
    <p:sldLayoutId id="2147483666" r:id="rId20"/>
    <p:sldLayoutId id="2147483667" r:id="rId2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When Do Images Prove a Defect?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Evidence-bounded 3D defect estimation for aero-engine blades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Afeefa Azam  ·  Khalifa University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675" y="300769"/>
            <a:ext cx="215265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250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5239512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Dashboard: afeefaaazam03.github.io/3D-Jetblade/visual_results.html</a:t>
            </a:r>
          </a:p>
        </p:txBody>
      </p:sp>
    </p:spTree>
    <p:extLst>
      <p:ext uri="{BB962C8B-B14F-4D97-AF65-F5344CB8AC3E}">
        <p14:creationId xmlns:p14="http://schemas.microsoft.com/office/powerpoint/2010/main" val="34931933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 b="1"/>
              <a:t>A dark region in an image has several physically different causes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577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47BB"/>
                </a:solidFill>
              </a:rPr>
              <a:t>MOTIVATION</a:t>
            </a:r>
          </a:p>
        </p:txBody>
      </p:sp>
      <p:pic>
        <p:nvPicPr>
          <p:cNvPr id="5" name="Picture 4" descr="f_cau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499" y="1783080"/>
            <a:ext cx="8088521" cy="17693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717036"/>
            <a:ext cx="1106424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0047BB"/>
                </a:solidFill>
              </a:rPr>
              <a:t>▪  </a:t>
            </a:r>
            <a:r>
              <a:rPr sz="1500" b="1">
                <a:solidFill>
                  <a:srgbClr val="1F2937"/>
                </a:solidFill>
              </a:rPr>
              <a:t>Signal scale.  </a:t>
            </a:r>
            <a:r>
              <a:rPr sz="1500">
                <a:solidFill>
                  <a:srgbClr val="1F2937"/>
                </a:solidFill>
              </a:rPr>
              <a:t>A 0.1 mm dent changes a few hundred pixels by a few grey levels; a 1° pose error or a 10% lighting change alters thousands.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047BB"/>
                </a:solidFill>
              </a:rPr>
              <a:t>▪  </a:t>
            </a:r>
            <a:r>
              <a:rPr sz="1500" b="1">
                <a:solidFill>
                  <a:srgbClr val="1F2937"/>
                </a:solidFill>
              </a:rPr>
              <a:t>Consequence.  </a:t>
            </a:r>
            <a:r>
              <a:rPr sz="1500">
                <a:solidFill>
                  <a:srgbClr val="1F2937"/>
                </a:solidFill>
              </a:rPr>
              <a:t>A detector that flags any unexplained change confuses appearance with geometry; one that must always answer reports damage the images do not support.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047BB"/>
                </a:solidFill>
              </a:rPr>
              <a:t>▪  </a:t>
            </a:r>
            <a:r>
              <a:rPr sz="1500" b="1">
                <a:solidFill>
                  <a:srgbClr val="1F2937"/>
                </a:solidFill>
              </a:rPr>
              <a:t>Requirement.  </a:t>
            </a:r>
            <a:r>
              <a:rPr sz="1500">
                <a:solidFill>
                  <a:srgbClr val="1F2937"/>
                </a:solidFill>
              </a:rPr>
              <a:t>Separate geometric change from pose, illumination and reflectance, and abstain when they cannot be separated.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 b="1"/>
              <a:t>We pose defect estimation as a calibrated test that can abstain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577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47BB"/>
                </a:solidFill>
              </a:rPr>
              <a:t>PROBLEM FORMULATION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4228"/>
          <a:ext cx="5760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97680"/>
              </a:tblGrid>
              <a:tr h="457200">
                <a:tc>
                  <a:txBody>
                    <a:bodyPr/>
                    <a:lstStyle/>
                    <a:p>
                      <a:pPr algn="l"/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Definition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Input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Healthy CAD mesh + K = 2–7 calibrated views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H0 (nuisance)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Per-view pose, light gains, smooth brightness field, local albedo patch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H1 (damage)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H0 + a continuous parametric surface displacement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Evidence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gain = L(H0) − L(H1), robust image loss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Decision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Report if gain &gt; τ, else abstain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Calibration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τ = split-conformal quantile on healthy + stained blades (α = 5%)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29400" y="1865376"/>
            <a:ext cx="5120640" cy="4032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Constraints.  </a:t>
            </a:r>
            <a:r>
              <a:rPr sz="1400">
                <a:solidFill>
                  <a:srgbClr val="1F2937"/>
                </a:solidFill>
              </a:rPr>
              <a:t>Calibrated rig, fixed light positions, appearance change only through the brightness field and a local patch. Without such constraints, nuisance can explain any change.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Output.  </a:t>
            </a:r>
            <a:r>
              <a:rPr sz="1400">
                <a:solidFill>
                  <a:srgbClr val="1F2937"/>
                </a:solidFill>
              </a:rPr>
              <a:t>A per-vertex displacement (location, depth) when supported; otherwise “not supported by these views”.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Guarantee.  </a:t>
            </a:r>
            <a:r>
              <a:rPr sz="1400">
                <a:solidFill>
                  <a:srgbClr val="1F2937"/>
                </a:solidFill>
              </a:rPr>
              <a:t>False-change rate controlled on negatives exchangeable with the calibration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 b="1"/>
              <a:t>Prior work either localises anomalies in 2D or reconstructs a twin; none abstains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577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47BB"/>
                </a:solidFill>
              </a:rPr>
              <a:t>RELATED WORK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65376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840480"/>
                <a:gridCol w="2103120"/>
                <a:gridCol w="128016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Line of work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Representative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3D change (mm)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Abstains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Pose/illumination-agnostic 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PAD (NeurIPS 23), SplatPose (24), PIAD (CVPR 25)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2D anomaly map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✗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✗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Reference/CAD-based AD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Looking 3D (CVPR 24)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Class, box, mask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✗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✗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CAD-prior reconstruction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CAD-NeRF (24), CADSplat (26)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Digital twin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✗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✗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Blade defect datasets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BladeSynth (Sci. Data 25)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2D detection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✗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✗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3D AD benchmarks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MVTec 3D-AD, Real3D-AD, SiM3D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Anomaly score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✗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✗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47BB"/>
                          </a:solidFill>
                        </a:rPr>
                        <a:t>This work</a:t>
                      </a:r>
                    </a:p>
                  </a:txBody>
                  <a:tcPr marL="73152" marR="73152">
                    <a:solidFill>
                      <a:srgbClr val="E3E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47BB"/>
                          </a:solidFill>
                        </a:rPr>
                        <a:t>Render-and-test with calibration</a:t>
                      </a:r>
                    </a:p>
                  </a:txBody>
                  <a:tcPr marL="73152" marR="73152">
                    <a:solidFill>
                      <a:srgbClr val="E3E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47BB"/>
                          </a:solidFill>
                        </a:rPr>
                        <a:t>3D displacement or abstain</a:t>
                      </a:r>
                    </a:p>
                  </a:txBody>
                  <a:tcPr marL="73152" marR="73152">
                    <a:solidFill>
                      <a:srgbClr val="E3E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47BB"/>
                          </a:solidFill>
                        </a:rPr>
                        <a:t>✓</a:t>
                      </a:r>
                    </a:p>
                  </a:txBody>
                  <a:tcPr marL="73152" marR="73152">
                    <a:solidFill>
                      <a:srgbClr val="E3E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47BB"/>
                          </a:solidFill>
                        </a:rPr>
                        <a:t>✓</a:t>
                      </a:r>
                    </a:p>
                  </a:txBody>
                  <a:tcPr marL="73152" marR="73152">
                    <a:solidFill>
                      <a:srgbClr val="E3EC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33772"/>
            <a:ext cx="1106424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0047BB"/>
                </a:solidFill>
              </a:rPr>
              <a:t>▪  </a:t>
            </a:r>
            <a:r>
              <a:rPr sz="1300">
                <a:solidFill>
                  <a:srgbClr val="1F2937"/>
                </a:solidFill>
              </a:rPr>
              <a:t>Building blocks: differentiable rasterisation (nvdiffrast), score and likelihood-ratio tests, split-conformal calibration.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 b="1"/>
              <a:t>Method: nuisance profiling, score-test proposals and a calibrated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577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47BB"/>
                </a:solidFill>
              </a:rPr>
              <a:t>METHOD</a:t>
            </a:r>
          </a:p>
        </p:txBody>
      </p:sp>
      <p:pic>
        <p:nvPicPr>
          <p:cNvPr id="5" name="Picture 4" descr="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64" y="1783080"/>
            <a:ext cx="10114191" cy="3086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33772"/>
            <a:ext cx="110642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0047BB"/>
                </a:solidFill>
              </a:rPr>
              <a:t>▪  </a:t>
            </a:r>
            <a:r>
              <a:rPr sz="1300" b="1">
                <a:solidFill>
                  <a:srgbClr val="1F2937"/>
                </a:solidFill>
              </a:rPr>
              <a:t>Design choices.  </a:t>
            </a:r>
            <a:r>
              <a:rPr sz="1300">
                <a:solidFill>
                  <a:srgbClr val="1F2937"/>
                </a:solidFill>
              </a:rPr>
              <a:t>pose from silhouettes (lighting-independent); evidence on interior, non-grazing pixels; dent and stain searched symmetrically so a stain cannot hide a dent.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 b="1"/>
              <a:t>Worked example: the evidence exceeds the threshold by a wide margin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577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47BB"/>
                </a:solidFill>
              </a:rPr>
              <a:t>METHOD</a:t>
            </a:r>
          </a:p>
        </p:txBody>
      </p:sp>
      <p:pic>
        <p:nvPicPr>
          <p:cNvPr id="5" name="Picture 4" descr="f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31720"/>
            <a:ext cx="7315200" cy="17830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46720" y="1947672"/>
          <a:ext cx="3657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5448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Quantity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L(H0), no damage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89.3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L(H1), with dent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19.9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47BB"/>
                          </a:solidFill>
                        </a:rPr>
                        <a:t>Evidence (gain)</a:t>
                      </a:r>
                    </a:p>
                  </a:txBody>
                  <a:tcPr marL="73152" marR="73152">
                    <a:solidFill>
                      <a:srgbClr val="E3E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47BB"/>
                          </a:solidFill>
                        </a:rPr>
                        <a:t>69.4</a:t>
                      </a:r>
                    </a:p>
                  </a:txBody>
                  <a:tcPr marL="73152" marR="73152">
                    <a:solidFill>
                      <a:srgbClr val="E3EC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Threshold τ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1.02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Depth found / true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0.35 / 0.36 mm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0533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A6577"/>
                </a:solidFill>
              </a:rPr>
              <a:t>Sealed test case test2_0083_3 (Rotor37, unseen blade).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 b="1"/>
              <a:t>BladeDelta: 1,352 rendered cases with exact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577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47BB"/>
                </a:solidFill>
              </a:rPr>
              <a:t>BENCHMARK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65376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Cases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Rotor37 dev / calib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96 / 120 (+300)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Development, calibration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Rotor37 sealed test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240 (30 blades)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Main result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Rotor37 second test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240 (30 blades)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Reproduction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Six industrial designs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456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Transfer (blades 3–6 held out)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Defect types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136 + 64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Nicks, cracks, stains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ad6_bl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989957"/>
            <a:ext cx="4572000" cy="10675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342900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0047BB"/>
                </a:solidFill>
              </a:rPr>
              <a:t>▪  </a:t>
            </a:r>
            <a:r>
              <a:rPr sz="1300">
                <a:solidFill>
                  <a:srgbClr val="1F2937"/>
                </a:solidFill>
              </a:rPr>
              <a:t>Blender (Cycles) renders; damage applied to the mesh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047BB"/>
                </a:solidFill>
              </a:rPr>
              <a:t>▪  </a:t>
            </a:r>
            <a:r>
              <a:rPr sz="1300">
                <a:solidFill>
                  <a:srgbClr val="1F2937"/>
                </a:solidFill>
              </a:rPr>
              <a:t>Controlled camera error (≤1.5°) and lighting change (±15%)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047BB"/>
                </a:solidFill>
              </a:rPr>
              <a:t>▪  </a:t>
            </a:r>
            <a:r>
              <a:rPr sz="1300">
                <a:solidFill>
                  <a:srgbClr val="1F2937"/>
                </a:solidFill>
              </a:rPr>
              <a:t>Damage families differ from the estimator’s model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047BB"/>
                </a:solidFill>
              </a:rPr>
              <a:t>▪  </a:t>
            </a:r>
            <a:r>
              <a:rPr sz="1300">
                <a:solidFill>
                  <a:srgbClr val="1F2937"/>
                </a:solidFill>
              </a:rPr>
              <a:t>Test splits sealed until the method was frozen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 b="1"/>
              <a:t>At equal false-alarm rates, the method locates 2.7–6× more 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577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47BB"/>
                </a:solidFill>
              </a:rPr>
              <a:t>RESULTS</a:t>
            </a:r>
          </a:p>
        </p:txBody>
      </p:sp>
      <p:pic>
        <p:nvPicPr>
          <p:cNvPr id="5" name="Picture 4" descr="g_match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97" y="1783080"/>
            <a:ext cx="5946044" cy="378561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947672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AUROC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Located @5%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47BB"/>
                          </a:solidFill>
                        </a:rPr>
                        <a:t>Ours</a:t>
                      </a:r>
                    </a:p>
                  </a:txBody>
                  <a:tcPr marL="73152" marR="73152">
                    <a:solidFill>
                      <a:srgbClr val="E3E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47BB"/>
                          </a:solidFill>
                        </a:rPr>
                        <a:t>0.82</a:t>
                      </a:r>
                    </a:p>
                  </a:txBody>
                  <a:tcPr marL="73152" marR="73152">
                    <a:solidFill>
                      <a:srgbClr val="E3EC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47BB"/>
                          </a:solidFill>
                        </a:rPr>
                        <a:t>51%</a:t>
                      </a:r>
                    </a:p>
                  </a:txBody>
                  <a:tcPr marL="73152" marR="73152">
                    <a:solidFill>
                      <a:srgbClr val="E3EC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Free-form field*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0.63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19%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2D detector (lifted)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0.72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16%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MLP field*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0.74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8%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4293108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0047BB"/>
                </a:solidFill>
              </a:rPr>
              <a:t>▪  </a:t>
            </a:r>
            <a:r>
              <a:rPr sz="1300">
                <a:solidFill>
                  <a:srgbClr val="1F2937"/>
                </a:solidFill>
              </a:rPr>
              <a:t>Second sealed test reproduces it (46% located, AUROC 0.79)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0047BB"/>
                </a:solidFill>
              </a:rPr>
              <a:t>▪  </a:t>
            </a:r>
            <a:r>
              <a:rPr sz="1300">
                <a:solidFill>
                  <a:srgbClr val="1F2937"/>
                </a:solidFill>
              </a:rPr>
              <a:t>12 of 13 visible dents deeper than 0.2 mm found; median centre error 0.7 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533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A6577"/>
                </a:solidFill>
              </a:rPr>
              <a:t>Sealed test, 240 cases, 30 unseen Rotor37 blades; 90 negatives, 37 visible dents. *Re-implementations of the CADSplat idea.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 b="1"/>
              <a:t>Misses concentrate below 0.2 mm, where the image signal is weakest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577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47BB"/>
                </a:solidFill>
              </a:rPr>
              <a:t>RESULTS</a:t>
            </a:r>
          </a:p>
        </p:txBody>
      </p:sp>
      <p:pic>
        <p:nvPicPr>
          <p:cNvPr id="5" name="Picture 4" descr="g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44" y="1824228"/>
            <a:ext cx="4914111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947672"/>
            <a:ext cx="5486400" cy="378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Detectability is predictable.  </a:t>
            </a:r>
            <a:r>
              <a:rPr sz="1400">
                <a:solidFill>
                  <a:srgbClr val="1F2937"/>
                </a:solidFill>
              </a:rPr>
              <a:t>The profiled information of a dent predicts found vs missed with AUROC 0.90 / 0.95 on the two sealed tests.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Safety-weighted recall.  </a:t>
            </a:r>
            <a:r>
              <a:rPr sz="1400">
                <a:solidFill>
                  <a:srgbClr val="1F2937"/>
                </a:solidFill>
              </a:rPr>
              <a:t>Weighting misses by depth: 73%; critical defects (&gt; 0.2 mm): 92%.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Per-point maps are optimistic.  </a:t>
            </a:r>
            <a:r>
              <a:rPr sz="1400">
                <a:solidFill>
                  <a:srgbClr val="1F2937"/>
                </a:solidFill>
              </a:rPr>
              <a:t>They imply 49–66% recall below 0.1 mm against 10% observed; reported as an upper bound.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 b="1"/>
              <a:t>Calibration is necessary: textbook thresholds do not control false alarms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577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47BB"/>
                </a:solidFill>
              </a:rPr>
              <a:t>RESULTS</a:t>
            </a:r>
          </a:p>
        </p:txBody>
      </p:sp>
      <p:pic>
        <p:nvPicPr>
          <p:cNvPr id="5" name="Picture 4" descr="g_ca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28" y="1824228"/>
            <a:ext cx="5284903" cy="3456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947672"/>
            <a:ext cx="5212080" cy="378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Why.  </a:t>
            </a:r>
            <a:r>
              <a:rPr sz="1400">
                <a:solidFill>
                  <a:srgbClr val="1F2937"/>
                </a:solidFill>
              </a:rPr>
              <a:t>Textbook thresholds assume ideal pixel noise; the residual after the best nuisance fit is dominated by model mismatch.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χ².  </a:t>
            </a:r>
            <a:r>
              <a:rPr sz="1400">
                <a:solidFill>
                  <a:srgbClr val="1F2937"/>
                </a:solidFill>
              </a:rPr>
              <a:t>Nominal 1% → 32% false alarms (≈30×).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A-contrario.  </a:t>
            </a:r>
            <a:r>
              <a:rPr sz="1400">
                <a:solidFill>
                  <a:srgbClr val="1F2937"/>
                </a:solidFill>
              </a:rPr>
              <a:t>Flags 96% of healthy blades.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Ours.  </a:t>
            </a:r>
            <a:r>
              <a:rPr sz="1400">
                <a:solidFill>
                  <a:srgbClr val="1F2937"/>
                </a:solidFill>
              </a:rPr>
              <a:t>Recalibrated on 360 negatives: 2% target → 4% observed.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533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A6577"/>
                </a:solidFill>
              </a:rPr>
              <a:t>Same fits on the sealed 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 b="1"/>
              <a:t>Two corrections restore transfer to unseen industrial designs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577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47BB"/>
                </a:solidFill>
              </a:rPr>
              <a:t>RESULTS</a:t>
            </a:r>
          </a:p>
        </p:txBody>
      </p:sp>
      <p:pic>
        <p:nvPicPr>
          <p:cNvPr id="5" name="Picture 4" descr="g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879" y="1824228"/>
            <a:ext cx="4189920" cy="3044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824228"/>
            <a:ext cx="5394960" cy="2880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62828"/>
                </a:solidFill>
              </a:rPr>
              <a:t>v1 (frozen): a false dent on a healthy blade</a:t>
            </a:r>
          </a:p>
        </p:txBody>
      </p:sp>
      <p:pic>
        <p:nvPicPr>
          <p:cNvPr id="7" name="Picture 6" descr="fix_bef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383" y="2153412"/>
            <a:ext cx="3831793" cy="11932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3429000"/>
            <a:ext cx="5394960" cy="2880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7F37"/>
                </a:solidFill>
              </a:rPr>
              <a:t>v1.1: correctly nothing reported</a:t>
            </a:r>
          </a:p>
        </p:txBody>
      </p:sp>
      <p:pic>
        <p:nvPicPr>
          <p:cNvPr id="9" name="Picture 8" descr="fix_af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383" y="3758184"/>
            <a:ext cx="3831793" cy="1193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992624"/>
            <a:ext cx="111556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0047BB"/>
                </a:solidFill>
              </a:rPr>
              <a:t>▪  </a:t>
            </a:r>
            <a:r>
              <a:rPr sz="1300" b="1">
                <a:solidFill>
                  <a:srgbClr val="1F2937"/>
                </a:solidFill>
              </a:rPr>
              <a:t>Causes.  </a:t>
            </a:r>
            <a:r>
              <a:rPr sz="1300">
                <a:solidFill>
                  <a:srgbClr val="1F2937"/>
                </a:solidFill>
              </a:rPr>
              <a:t>a silhouette pose bias, and a healthy-reference correction that did not move with the camera. Fixed on blades 1–2, no retraining; evaluated on 3–6.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 b="1"/>
              <a:t>Detection extends to nicks and cracks without retraining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577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47BB"/>
                </a:solidFill>
              </a:rPr>
              <a:t>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65376"/>
          <a:ext cx="6583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Defect (held-out designs)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Cases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Ours: located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SIFT: reported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Dent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24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23 (96%)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6 (25%)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Sharp nick (edge notch)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32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21 (66%)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9 (28%)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Hairline crack (dark line)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32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22 (69%)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15 (47%)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Stain (should be 0)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24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4 reported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3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Healthy (should be 0)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24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2 reported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ad6dmg2_1003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107" y="1865376"/>
            <a:ext cx="4228185" cy="1316736"/>
          </a:xfrm>
          <a:prstGeom prst="rect">
            <a:avLst/>
          </a:prstGeom>
        </p:spPr>
      </p:pic>
      <p:pic>
        <p:nvPicPr>
          <p:cNvPr id="7" name="Picture 6" descr="cad6dmg2_1004_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3346704"/>
            <a:ext cx="4224528" cy="13167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4745736"/>
            <a:ext cx="43891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A6577"/>
                </a:solidFill>
              </a:rPr>
              <a:t>Sharp nick (top), hairline crack (bottom): orange = truth, blue =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22292"/>
            <a:ext cx="6583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0047BB"/>
                </a:solidFill>
              </a:rPr>
              <a:t>▪  </a:t>
            </a:r>
            <a:r>
              <a:rPr sz="1300">
                <a:solidFill>
                  <a:srgbClr val="1F2937"/>
                </a:solidFill>
              </a:rPr>
              <a:t>False alarms 6/48 (12.5%) exceed the 5% target set on Rotor37: recalibration on these designs is required.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 b="1"/>
              <a:t>Physical specialists and a judge recognise the damage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577"/>
                </a:solidFill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47BB"/>
                </a:solidFill>
              </a:rPr>
              <a:t>RESULTS</a:t>
            </a:r>
          </a:p>
        </p:txBody>
      </p:sp>
      <p:pic>
        <p:nvPicPr>
          <p:cNvPr id="5" name="Picture 4" descr="g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02" y="1783080"/>
            <a:ext cx="6263194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1865376"/>
            <a:ext cx="2194560" cy="10287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47BB"/>
                </a:solidFill>
              </a:rPr>
              <a:t>22 / 22</a:t>
            </a:r>
          </a:p>
          <a:p>
            <a:pPr algn="ctr"/>
            <a:r>
              <a:rPr sz="1200" b="0">
                <a:solidFill>
                  <a:srgbClr val="0047BB"/>
                </a:solidFill>
              </a:rPr>
              <a:t>cracks typed correctly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65376"/>
            <a:ext cx="2194560" cy="10287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47BB"/>
                </a:solidFill>
              </a:rPr>
              <a:t>9 / 15</a:t>
            </a:r>
          </a:p>
          <a:p>
            <a:pPr algn="ctr"/>
            <a:r>
              <a:rPr sz="1200" b="0">
                <a:solidFill>
                  <a:srgbClr val="0047BB"/>
                </a:solidFill>
              </a:rPr>
              <a:t>nicks typed; 6 more uncertain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3058668"/>
            <a:ext cx="2194560" cy="10287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47BB"/>
                </a:solidFill>
              </a:rPr>
              <a:t>42 / 43</a:t>
            </a:r>
          </a:p>
          <a:p>
            <a:pPr algn="ctr"/>
            <a:r>
              <a:rPr sz="1200" b="0">
                <a:solidFill>
                  <a:srgbClr val="0047BB"/>
                </a:solidFill>
              </a:rPr>
              <a:t>location preserved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3058668"/>
            <a:ext cx="2194560" cy="10287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47BB"/>
                </a:solidFill>
              </a:rPr>
              <a:t>2 → 9</a:t>
            </a:r>
          </a:p>
          <a:p>
            <a:pPr algn="ctr"/>
            <a:r>
              <a:rPr sz="1200" b="0">
                <a:solidFill>
                  <a:srgbClr val="0047BB"/>
                </a:solidFill>
              </a:rPr>
              <a:t>nicks recognised, round 1 →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4334256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0047BB"/>
                </a:solidFill>
              </a:rPr>
              <a:t>▪  </a:t>
            </a:r>
            <a:r>
              <a:rPr sz="1200">
                <a:solidFill>
                  <a:srgbClr val="1F2937"/>
                </a:solidFill>
              </a:rPr>
              <a:t>Specialists: smooth dent, soft-ellipsoid notch, dark-line crack, colour patch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047BB"/>
                </a:solidFill>
              </a:rPr>
              <a:t>▪  </a:t>
            </a:r>
            <a:r>
              <a:rPr sz="1200">
                <a:solidFill>
                  <a:srgbClr val="1F2937"/>
                </a:solidFill>
              </a:rPr>
              <a:t>Judge: lowest loss wins; “uncertain” if within τ. Adapted from MedGuards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A6577"/>
                </a:solidFill>
              </a:rPr>
              <a:t>Nick and crack: 32 realistic cases each (round 2); dent, stain, healthy: 24 each. Stain/nothing on damage = detector miss.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 b="1"/>
              <a:t>Location is identifiable from two views; depth is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577"/>
                </a:solidFill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47BB"/>
                </a:solidFill>
              </a:rPr>
              <a:t>FINDINGS</a:t>
            </a:r>
          </a:p>
        </p:txBody>
      </p:sp>
      <p:pic>
        <p:nvPicPr>
          <p:cNvPr id="5" name="Picture 4" descr="cad6_1006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74" y="1824228"/>
            <a:ext cx="5578411" cy="17693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34739"/>
            <a:ext cx="5852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A6577"/>
                </a:solidFill>
              </a:rPr>
              <a:t>Unseen design: correct location, depth 0.06 mm for a true 0.64 mm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128515"/>
          <a:ext cx="57607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Depth, measured / true (median)</a:t>
                      </a:r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73152" marR="73152">
                    <a:solidFill>
                      <a:srgbClr val="0047B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Rotor37 sealed test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0.89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Industrial held-out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0.60</a:t>
                      </a:r>
                    </a:p>
                  </a:txBody>
                  <a:tcPr marL="73152" marR="73152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</a:rPr>
                        <a:t>4 views instead of 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</a:rPr>
                        <a:t>no change (0.68 vs 0.71)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906524"/>
            <a:ext cx="521208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Not a search failure.  </a:t>
            </a:r>
            <a:r>
              <a:rPr sz="1400">
                <a:solidFill>
                  <a:srgbClr val="1F2937"/>
                </a:solidFill>
              </a:rPr>
              <a:t>Better proposals and restarts at the true location recover ≤ 4 of 42 misses.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Not ambiguity alone.  </a:t>
            </a:r>
            <a:r>
              <a:rPr sz="1400">
                <a:solidFill>
                  <a:srgbClr val="1F2937"/>
                </a:solidFill>
              </a:rPr>
              <a:t>Profile-likelihood depth intervals are narrow yet contain the truth in 36 of 109 cases: a systematic bias.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Implication.  </a:t>
            </a:r>
            <a:r>
              <a:rPr sz="1400">
                <a:solidFill>
                  <a:srgbClr val="1F2937"/>
                </a:solidFill>
              </a:rPr>
              <a:t>Report location; treat depth as unresolved under passive two-view capture. Controlled (grazing) illumination is the next lever.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577"/>
                </a:solidFill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47BB"/>
                </a:solidFill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65376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0047BB"/>
                </a:solidFill>
              </a:rPr>
              <a:t>▪  </a:t>
            </a:r>
            <a:r>
              <a:rPr sz="1500" b="1">
                <a:solidFill>
                  <a:srgbClr val="1F2937"/>
                </a:solidFill>
              </a:rPr>
              <a:t>Rendered data only.  </a:t>
            </a:r>
            <a:r>
              <a:rPr sz="1500">
                <a:solidFill>
                  <a:srgbClr val="1F2937"/>
                </a:solidFill>
              </a:rPr>
              <a:t>All positive results use rendered images with known materials.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047BB"/>
                </a:solidFill>
              </a:rPr>
              <a:t>▪  </a:t>
            </a:r>
            <a:r>
              <a:rPr sz="1500" b="1">
                <a:solidFill>
                  <a:srgbClr val="1F2937"/>
                </a:solidFill>
              </a:rPr>
              <a:t>Real scans fail so far.  </a:t>
            </a:r>
            <a:r>
              <a:rPr sz="1500">
                <a:solidFill>
                  <a:srgbClr val="1F2937"/>
                </a:solidFill>
              </a:rPr>
              <a:t>On SiM3D real objects: AUROC 0.54, 0/22 defects detected; dominated by misregistration and texture.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047BB"/>
                </a:solidFill>
              </a:rPr>
              <a:t>▪  </a:t>
            </a:r>
            <a:r>
              <a:rPr sz="1500" b="1">
                <a:solidFill>
                  <a:srgbClr val="1F2937"/>
                </a:solidFill>
              </a:rPr>
              <a:t>Depth bias on new designs.  </a:t>
            </a:r>
            <a:r>
              <a:rPr sz="1500">
                <a:solidFill>
                  <a:srgbClr val="1F2937"/>
                </a:solidFill>
              </a:rPr>
              <a:t>Median 60% of true depth; not fixed by views or intervals.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047BB"/>
                </a:solidFill>
              </a:rPr>
              <a:t>▪  </a:t>
            </a:r>
            <a:r>
              <a:rPr sz="1500" b="1">
                <a:solidFill>
                  <a:srgbClr val="1F2937"/>
                </a:solidFill>
              </a:rPr>
              <a:t>Calibration transfer.  </a:t>
            </a:r>
            <a:r>
              <a:rPr sz="1500">
                <a:solidFill>
                  <a:srgbClr val="1F2937"/>
                </a:solidFill>
              </a:rPr>
              <a:t>12.5% false alarms on the defect-type set vs 5% target; requires per-design recalibration.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047BB"/>
                </a:solidFill>
              </a:rPr>
              <a:t>▪  </a:t>
            </a:r>
            <a:r>
              <a:rPr sz="1500" b="1">
                <a:solidFill>
                  <a:srgbClr val="1F2937"/>
                </a:solidFill>
              </a:rPr>
              <a:t>Nicks.  </a:t>
            </a:r>
            <a:r>
              <a:rPr sz="1500">
                <a:solidFill>
                  <a:srgbClr val="1F2937"/>
                </a:solidFill>
              </a:rPr>
              <a:t>11 of 32 not detected; 6 of 21 located nicks mistyped.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047BB"/>
                </a:solidFill>
              </a:rPr>
              <a:t>▪  </a:t>
            </a:r>
            <a:r>
              <a:rPr sz="1500" b="1">
                <a:solidFill>
                  <a:srgbClr val="1F2937"/>
                </a:solidFill>
              </a:rPr>
              <a:t>Realism gaps.  </a:t>
            </a:r>
            <a:r>
              <a:rPr sz="1500">
                <a:solidFill>
                  <a:srgbClr val="1F2937"/>
                </a:solidFill>
              </a:rPr>
              <a:t>No sensor noise, blur or material variation in the renders yet.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 b="1"/>
              <a:t>Next: physical validation with measured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577"/>
                </a:solidFill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47BB"/>
                </a:solidFill>
              </a:rPr>
              <a:t>FUTURE WORK</a:t>
            </a:r>
          </a:p>
        </p:txBody>
      </p:sp>
      <p:pic>
        <p:nvPicPr>
          <p:cNvPr id="5" name="Picture 4" descr="f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39" y="1783080"/>
            <a:ext cx="9458640" cy="15224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511296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Specimens.  </a:t>
            </a:r>
            <a:r>
              <a:rPr sz="1400">
                <a:solidFill>
                  <a:srgbClr val="1F2937"/>
                </a:solidFill>
              </a:rPr>
              <a:t>10 stainless-steel printed blades; dents (ball bearings), nicks (files), stains (paint).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Ground truth.  </a:t>
            </a:r>
            <a:r>
              <a:rPr sz="1400">
                <a:solidFill>
                  <a:srgbClr val="1F2937"/>
                </a:solidFill>
              </a:rPr>
              <a:t>Dial gauge and 3D scanner.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Capture.  </a:t>
            </a:r>
            <a:r>
              <a:rPr sz="1400">
                <a:solidFill>
                  <a:srgbClr val="1F2937"/>
                </a:solidFill>
              </a:rPr>
              <a:t>2–7 calibrated cameras, ArUco markers, fixed and grazing 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511296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Method.  </a:t>
            </a:r>
            <a:r>
              <a:rPr sz="1400">
                <a:solidFill>
                  <a:srgbClr val="1F2937"/>
                </a:solidFill>
              </a:rPr>
              <a:t>Per-design and class-specific thresholds; grazing-light depth.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Baselines.  </a:t>
            </a:r>
            <a:r>
              <a:rPr sz="1400">
                <a:solidFill>
                  <a:srgbClr val="1F2937"/>
                </a:solidFill>
              </a:rPr>
              <a:t>PatchCore; VGGT + Sim(3) alignment.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047BB"/>
                </a:solidFill>
              </a:rPr>
              <a:t>▪  </a:t>
            </a:r>
            <a:r>
              <a:rPr sz="1400" b="1">
                <a:solidFill>
                  <a:srgbClr val="1F2937"/>
                </a:solidFill>
              </a:rPr>
              <a:t>Realism.  </a:t>
            </a:r>
            <a:r>
              <a:rPr sz="1400">
                <a:solidFill>
                  <a:srgbClr val="1F2937"/>
                </a:solidFill>
              </a:rPr>
              <a:t>Sensor noise, blur, material variation in the benchmark.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Summary of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577"/>
                </a:solidFill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47BB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65376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0047BB"/>
                </a:solidFill>
              </a:rPr>
              <a:t>▪  </a:t>
            </a:r>
            <a:r>
              <a:rPr sz="1500" b="1">
                <a:solidFill>
                  <a:srgbClr val="1F2937"/>
                </a:solidFill>
              </a:rPr>
              <a:t>Formulation.  </a:t>
            </a:r>
            <a:r>
              <a:rPr sz="1500">
                <a:solidFill>
                  <a:srgbClr val="1F2937"/>
                </a:solidFill>
              </a:rPr>
              <a:t>CAD-referenced defect estimation as a calibrated test with abstention, under explicit capture constraints.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047BB"/>
                </a:solidFill>
              </a:rPr>
              <a:t>▪  </a:t>
            </a:r>
            <a:r>
              <a:rPr sz="1500" b="1">
                <a:solidFill>
                  <a:srgbClr val="1F2937"/>
                </a:solidFill>
              </a:rPr>
              <a:t>Method.  </a:t>
            </a:r>
            <a:r>
              <a:rPr sz="1500">
                <a:solidFill>
                  <a:srgbClr val="1F2937"/>
                </a:solidFill>
              </a:rPr>
              <a:t>Nuisance profiling, score-test proposals and differentiable rendering; 51% vs ≤ 19% at equal false alarms.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047BB"/>
                </a:solidFill>
              </a:rPr>
              <a:t>▪  </a:t>
            </a:r>
            <a:r>
              <a:rPr sz="1500" b="1">
                <a:solidFill>
                  <a:srgbClr val="1F2937"/>
                </a:solidFill>
              </a:rPr>
              <a:t>Calibration.  </a:t>
            </a:r>
            <a:r>
              <a:rPr sz="1500">
                <a:solidFill>
                  <a:srgbClr val="1F2937"/>
                </a:solidFill>
              </a:rPr>
              <a:t>Shown to be necessary: textbook tests give 32–96% false alarms.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047BB"/>
                </a:solidFill>
              </a:rPr>
              <a:t>▪  </a:t>
            </a:r>
            <a:r>
              <a:rPr sz="1500" b="1">
                <a:solidFill>
                  <a:srgbClr val="1F2937"/>
                </a:solidFill>
              </a:rPr>
              <a:t>Identifiability finding.  </a:t>
            </a:r>
            <a:r>
              <a:rPr sz="1500">
                <a:solidFill>
                  <a:srgbClr val="1F2937"/>
                </a:solidFill>
              </a:rPr>
              <a:t>Location transfers across designs; depth does not from two passive views.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047BB"/>
                </a:solidFill>
              </a:rPr>
              <a:t>▪  </a:t>
            </a:r>
            <a:r>
              <a:rPr sz="1500" b="1">
                <a:solidFill>
                  <a:srgbClr val="1F2937"/>
                </a:solidFill>
              </a:rPr>
              <a:t>Defect typing.  </a:t>
            </a:r>
            <a:r>
              <a:rPr sz="1500">
                <a:solidFill>
                  <a:srgbClr val="1F2937"/>
                </a:solidFill>
              </a:rPr>
              <a:t>Physical specialists and a judge: cracks 22/22, nicks 9/15 with explicit uncertainty.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047BB"/>
                </a:solidFill>
              </a:rPr>
              <a:t>▪  </a:t>
            </a:r>
            <a:r>
              <a:rPr sz="1500" b="1">
                <a:solidFill>
                  <a:srgbClr val="1F2937"/>
                </a:solidFill>
              </a:rPr>
              <a:t>Benchmark.  </a:t>
            </a:r>
            <a:r>
              <a:rPr sz="1500">
                <a:solidFill>
                  <a:srgbClr val="1F2937"/>
                </a:solidFill>
              </a:rPr>
              <a:t>1,352 rendered cases on public and industrial aero-engine blades.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BCE9BEE86D22418B98990A0B028EF2" ma:contentTypeVersion="2" ma:contentTypeDescription="Create a new document." ma:contentTypeScope="" ma:versionID="c92d080676834feb7a8d6e7ac37a685f">
  <xsd:schema xmlns:xsd="http://www.w3.org/2001/XMLSchema" xmlns:xs="http://www.w3.org/2001/XMLSchema" xmlns:p="http://schemas.microsoft.com/office/2006/metadata/properties" xmlns:ns1="http://schemas.microsoft.com/sharepoint/v3" xmlns:ns2="557946a8-a765-46f2-8d44-445b86b509b9" targetNamespace="http://schemas.microsoft.com/office/2006/metadata/properties" ma:root="true" ma:fieldsID="773afa511ca0245c4474d0f23d29f83c" ns1:_="" ns2:_="">
    <xsd:import namespace="http://schemas.microsoft.com/sharepoint/v3"/>
    <xsd:import namespace="557946a8-a765-46f2-8d44-445b86b509b9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7946a8-a765-46f2-8d44-445b86b509b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510135-11A2-4CE9-AC9A-F9B5F7E81A9F}">
  <ds:schemaRefs>
    <ds:schemaRef ds:uri="http://www.w3.org/XML/1998/namespace"/>
    <ds:schemaRef ds:uri="http://schemas.microsoft.com/office/2006/documentManagement/types"/>
    <ds:schemaRef ds:uri="http://purl.org/dc/terms/"/>
    <ds:schemaRef ds:uri="http://schemas.microsoft.com/sharepoint/v3"/>
    <ds:schemaRef ds:uri="557946a8-a765-46f2-8d44-445b86b509b9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FD50A8C-CA97-4410-A798-5A85CCD8F1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14F958-FA86-4F8B-BDB0-691B121869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57946a8-a765-46f2-8d44-445b86b509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KU Theme</Template>
  <TotalTime>30283</TotalTime>
  <Words>122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KU Theme</vt:lpstr>
      <vt:lpstr>Silal &amp; Khalifa University Incubation Program</vt:lpstr>
      <vt:lpstr>Dataset Summary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Goes Here</dc:title>
  <dc:creator>Majed Almansoori</dc:creator>
  <cp:lastModifiedBy>Muhammad  Shafay</cp:lastModifiedBy>
  <cp:revision>182</cp:revision>
  <dcterms:created xsi:type="dcterms:W3CDTF">2018-04-29T10:48:36Z</dcterms:created>
  <dcterms:modified xsi:type="dcterms:W3CDTF">2026-10-13T07:33:33Z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0x010100E7BCE9BEE86D22418B98990A0B028EF2</vt:lpwstr>
  </property>
</Properties>
</file>