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
  </p:notesMasterIdLst>
  <p:sldIdLst>
    <p:sldId id="257" r:id="rId5"/>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CBBB8"/>
    <a:srgbClr val="0047BA"/>
    <a:srgbClr val="E67E22"/>
    <a:srgbClr val="9B59B6"/>
    <a:srgbClr val="2C3E50"/>
    <a:srgbClr val="27AE60"/>
    <a:srgbClr val="F2F2F2"/>
    <a:srgbClr val="E2F0D9"/>
    <a:srgbClr val="C6C6C6"/>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E8B1032C-EA38-4F05-BA0D-38AFFFC7BED3}">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199" autoAdjust="0"/>
    <p:restoredTop sz="95033" autoAdjust="0"/>
  </p:normalViewPr>
  <p:slideViewPr>
    <p:cSldViewPr snapToGrid="0" showGuides="1">
      <p:cViewPr varScale="1">
        <p:scale>
          <a:sx n="109" d="100"/>
          <a:sy n="109" d="100"/>
        </p:scale>
        <p:origin x="1818"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9" Type="http://schemas.openxmlformats.org/officeDocument/2006/relationships/slide" Target="slides/slide5.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Mismatch with the photo (lower = better)</c:v>
                </c:pt>
              </c:strCache>
            </c:strRef>
          </c:tx>
          <c:spPr>
            <a:solidFill>
              <a:srgbClr val="0047BB"/>
            </a:solidFill>
          </c:spPr>
          <c:dPt>
            <c:idx val="0"/>
            <c:spPr>
              <a:solidFill>
                <a:srgbClr val="0047BB"/>
              </a:solidFill>
            </c:spPr>
          </c:dPt>
          <c:dPt>
            <c:idx val="1"/>
            <c:spPr>
              <a:solidFill>
                <a:srgbClr val="E8833A"/>
              </a:solidFill>
            </c:spPr>
          </c:dPt>
          <c:dLbls>
            <c:numFmt formatCode="0.0" sourceLinked="0"/>
            <c:txPr>
              <a:bodyPr/>
              <a:lstStyle/>
              <a:p>
                <a:pPr>
                  <a:defRPr sz="1400" b="1"/>
                </a:pPr>
              </a:p>
            </c:txPr>
            <c:dLblPos val="outEnd"/>
            <c:showLegendKey val="0"/>
            <c:showVal val="1"/>
            <c:showCatName val="0"/>
            <c:showSerName val="0"/>
            <c:showPercent val="0"/>
            <c:showBubbleSize val="0"/>
            <c:showLeaderLines val="1"/>
          </c:dLbls>
          <c:cat>
            <c:strRef>
              <c:f>Sheet1!$A$2:$A$3</c:f>
              <c:strCache>
                <c:ptCount val="2"/>
                <c:pt idx="0">
                  <c:v>No damage</c:v>
                </c:pt>
                <c:pt idx="1">
                  <c:v>With a dent</c:v>
                </c:pt>
              </c:strCache>
            </c:strRef>
          </c:cat>
          <c:val>
            <c:numRef>
              <c:f>Sheet1!$B$2:$B$3</c:f>
              <c:numCache>
                <c:formatCode>General</c:formatCode>
                <c:ptCount val="2"/>
                <c:pt idx="0">
                  <c:v>89.3</c:v>
                </c:pt>
                <c:pt idx="1">
                  <c:v>19.9</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10.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Separation (AUROC × 100)</c:v>
                </c:pt>
              </c:strCache>
            </c:strRef>
          </c:tx>
          <c:spPr>
            <a:solidFill>
              <a:srgbClr val="0047BB"/>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Sheet1!$A$2:$A$5</c:f>
              <c:strCache>
                <c:ptCount val="4"/>
                <c:pt idx="0">
                  <c:v>Ours</c:v>
                </c:pt>
                <c:pt idx="1">
                  <c:v>MLP field</c:v>
                </c:pt>
                <c:pt idx="2">
                  <c:v>2D detector</c:v>
                </c:pt>
                <c:pt idx="3">
                  <c:v>Free-form field</c:v>
                </c:pt>
              </c:strCache>
            </c:strRef>
          </c:cat>
          <c:val>
            <c:numRef>
              <c:f>Sheet1!$B$2:$B$5</c:f>
              <c:numCache>
                <c:formatCode>General</c:formatCode>
                <c:ptCount val="4"/>
                <c:pt idx="0">
                  <c:v>82</c:v>
                </c:pt>
                <c:pt idx="1">
                  <c:v>74</c:v>
                </c:pt>
                <c:pt idx="2">
                  <c:v>72</c:v>
                </c:pt>
                <c:pt idx="3">
                  <c:v>63</c:v>
                </c:pt>
              </c:numCache>
            </c:numRef>
          </c:val>
        </c:ser>
        <c:ser>
          <c:idx val="1"/>
          <c:order val="1"/>
          <c:tx>
            <c:strRef>
              <c:f>Sheet1!$C$1</c:f>
              <c:strCache>
                <c:ptCount val="1"/>
                <c:pt idx="0">
                  <c:v>Visible dents found (%)</c:v>
                </c:pt>
              </c:strCache>
            </c:strRef>
          </c:tx>
          <c:spPr>
            <a:solidFill>
              <a:srgbClr val="E8833A"/>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Sheet1!$A$2:$A$5</c:f>
              <c:strCache>
                <c:ptCount val="4"/>
                <c:pt idx="0">
                  <c:v>Ours</c:v>
                </c:pt>
                <c:pt idx="1">
                  <c:v>MLP field</c:v>
                </c:pt>
                <c:pt idx="2">
                  <c:v>2D detector</c:v>
                </c:pt>
                <c:pt idx="3">
                  <c:v>Free-form field</c:v>
                </c:pt>
              </c:strCache>
            </c:strRef>
          </c:cat>
          <c:val>
            <c:numRef>
              <c:f>Sheet1!$C$2:$C$5</c:f>
              <c:numCache>
                <c:formatCode>General</c:formatCode>
                <c:ptCount val="4"/>
                <c:pt idx="0">
                  <c:v>54</c:v>
                </c:pt>
                <c:pt idx="1">
                  <c:v>16</c:v>
                </c:pt>
                <c:pt idx="2">
                  <c:v>24</c:v>
                </c:pt>
                <c:pt idx="3">
                  <c:v>14</c:v>
                </c:pt>
              </c:numCache>
            </c:numRef>
          </c:val>
        </c:ser>
        <c:ser>
          <c:idx val="2"/>
          <c:order val="2"/>
          <c:tx>
            <c:strRef>
              <c:f>Sheet1!$D$1</c:f>
              <c:strCache>
                <c:ptCount val="1"/>
                <c:pt idx="0">
                  <c:v>…in the right place (%)</c:v>
                </c:pt>
              </c:strCache>
            </c:strRef>
          </c:tx>
          <c:spPr>
            <a:solidFill>
              <a:srgbClr val="1A7F37"/>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Sheet1!$A$2:$A$5</c:f>
              <c:strCache>
                <c:ptCount val="4"/>
                <c:pt idx="0">
                  <c:v>Ours</c:v>
                </c:pt>
                <c:pt idx="1">
                  <c:v>MLP field</c:v>
                </c:pt>
                <c:pt idx="2">
                  <c:v>2D detector</c:v>
                </c:pt>
                <c:pt idx="3">
                  <c:v>Free-form field</c:v>
                </c:pt>
              </c:strCache>
            </c:strRef>
          </c:cat>
          <c:val>
            <c:numRef>
              <c:f>Sheet1!$D$2:$D$5</c:f>
              <c:numCache>
                <c:formatCode>General</c:formatCode>
                <c:ptCount val="4"/>
                <c:pt idx="0">
                  <c:v>54</c:v>
                </c:pt>
                <c:pt idx="1">
                  <c:v>11</c:v>
                </c:pt>
                <c:pt idx="2">
                  <c:v>16</c:v>
                </c:pt>
                <c:pt idx="3">
                  <c:v>11</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txPr>
          <a:bodyPr/>
          <a:lstStyle/>
          <a:p>
            <a:pPr>
              <a:defRPr sz="1200"/>
            </a:pPr>
          </a:p>
        </c:txPr>
        <c:crossAx val="-2068027336"/>
        <c:crosses val="autoZero"/>
      </c:valAx>
    </c:plotArea>
    <c:legend>
      <c:legendPos val="b"/>
      <c:overlay val="0"/>
      <c:txPr>
        <a:bodyPr/>
        <a:lstStyle/>
        <a:p>
          <a:pPr>
            <a:defRPr sz="140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t>Without the evidence test</a:t>
            </a:r>
          </a:p>
        </c:rich>
      </c:tx>
      <c:layout/>
      <c:overlay val="0"/>
    </c:title>
    <c:autoTitleDeleted val="0"/>
    <c:plotArea>
      <c:barChart>
        <c:barDir val="col"/>
        <c:grouping val="clustered"/>
        <c:ser>
          <c:idx val="0"/>
          <c:order val="0"/>
          <c:tx>
            <c:strRef>
              <c:f>Sheet1!$B$1</c:f>
              <c:strCache>
                <c:ptCount val="1"/>
                <c:pt idx="0">
                  <c:v>Without evidence test</c:v>
                </c:pt>
              </c:strCache>
            </c:strRef>
          </c:tx>
          <c:spPr>
            <a:solidFill>
              <a:srgbClr val="C62828"/>
            </a:solidFill>
          </c:spPr>
          <c:dLbls>
            <c:numFmt formatCode="0&quot;%&quot;"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False alarms</c:v>
                </c:pt>
                <c:pt idx="1">
                  <c:v>Hidden dents
wrongly claimed</c:v>
                </c:pt>
                <c:pt idx="2">
                  <c:v>Visible dents
found</c:v>
                </c:pt>
              </c:strCache>
            </c:strRef>
          </c:cat>
          <c:val>
            <c:numRef>
              <c:f>Sheet1!$B$2:$B$4</c:f>
              <c:numCache>
                <c:formatCode>General</c:formatCode>
                <c:ptCount val="3"/>
                <c:pt idx="0">
                  <c:v>32</c:v>
                </c:pt>
                <c:pt idx="1">
                  <c:v>55</c:v>
                </c:pt>
                <c:pt idx="2">
                  <c:v>84</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t>With the evidence test</a:t>
            </a:r>
          </a:p>
        </c:rich>
      </c:tx>
      <c:layout/>
      <c:overlay val="0"/>
    </c:title>
    <c:autoTitleDeleted val="0"/>
    <c:plotArea>
      <c:barChart>
        <c:barDir val="col"/>
        <c:grouping val="clustered"/>
        <c:ser>
          <c:idx val="0"/>
          <c:order val="0"/>
          <c:tx>
            <c:strRef>
              <c:f>Sheet1!$B$1</c:f>
              <c:strCache>
                <c:ptCount val="1"/>
                <c:pt idx="0">
                  <c:v>With evidence test</c:v>
                </c:pt>
              </c:strCache>
            </c:strRef>
          </c:tx>
          <c:spPr>
            <a:solidFill>
              <a:srgbClr val="1A7F37"/>
            </a:solidFill>
          </c:spPr>
          <c:dLbls>
            <c:numFmt formatCode="0&quot;%&quot;"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False alarms</c:v>
                </c:pt>
                <c:pt idx="1">
                  <c:v>Hidden dents
wrongly claimed</c:v>
                </c:pt>
                <c:pt idx="2">
                  <c:v>Visible dents
found</c:v>
                </c:pt>
              </c:strCache>
            </c:strRef>
          </c:cat>
          <c:val>
            <c:numRef>
              <c:f>Sheet1!$B$2:$B$4</c:f>
              <c:numCache>
                <c:formatCode>General</c:formatCode>
                <c:ptCount val="3"/>
                <c:pt idx="0">
                  <c:v>10</c:v>
                </c:pt>
                <c:pt idx="1">
                  <c:v>15</c:v>
                </c:pt>
                <c:pt idx="2">
                  <c:v>54</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Visible dents found</c:v>
                </c:pt>
              </c:strCache>
            </c:strRef>
          </c:tx>
          <c:spPr>
            <a:solidFill>
              <a:srgbClr val="1A7F37"/>
            </a:solidFill>
          </c:spPr>
          <c:dPt>
            <c:idx val="0"/>
            <c:spPr>
              <a:solidFill>
                <a:srgbClr val="1A7F37"/>
              </a:solidFill>
            </c:spPr>
          </c:dPt>
          <c:dPt>
            <c:idx val="1"/>
            <c:spPr>
              <a:solidFill>
                <a:srgbClr val="E8B000"/>
              </a:solidFill>
            </c:spPr>
          </c:dPt>
          <c:dPt>
            <c:idx val="2"/>
            <c:spPr>
              <a:solidFill>
                <a:srgbClr val="E8833A"/>
              </a:solidFill>
            </c:spPr>
          </c:dPt>
          <c:dLbls>
            <c:numFmt formatCode="0&quot;%&quot;"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&gt; 0.2 mm</c:v>
                </c:pt>
                <c:pt idx="1">
                  <c:v>0.1 – 0.2 mm</c:v>
                </c:pt>
                <c:pt idx="2">
                  <c:v>&lt; 0.1 mm</c:v>
                </c:pt>
              </c:strCache>
            </c:strRef>
          </c:cat>
          <c:val>
            <c:numRef>
              <c:f>Sheet1!$B$2:$B$4</c:f>
              <c:numCache>
                <c:formatCode>General</c:formatCode>
                <c:ptCount val="3"/>
                <c:pt idx="0">
                  <c:v>92</c:v>
                </c:pt>
                <c:pt idx="1">
                  <c:v>50</c:v>
                </c:pt>
                <c:pt idx="2">
                  <c:v>10</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5.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t>Frozen v1</a:t>
            </a:r>
          </a:p>
        </c:rich>
      </c:tx>
      <c:layout/>
      <c:overlay val="0"/>
    </c:title>
    <c:autoTitleDeleted val="0"/>
    <c:plotArea>
      <c:barChart>
        <c:barDir val="col"/>
        <c:grouping val="clustered"/>
        <c:ser>
          <c:idx val="0"/>
          <c:order val="0"/>
          <c:tx>
            <c:strRef>
              <c:f>Sheet1!$B$1</c:f>
              <c:strCache>
                <c:ptCount val="1"/>
                <c:pt idx="0">
                  <c:v>Frozen v1</c:v>
                </c:pt>
              </c:strCache>
            </c:strRef>
          </c:tx>
          <c:spPr>
            <a:solidFill>
              <a:srgbClr val="C62828"/>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False alarms (%)</c:v>
                </c:pt>
                <c:pt idx="1">
                  <c:v>Separation (×100)</c:v>
                </c:pt>
                <c:pt idx="2">
                  <c:v>Dents in right place (%)</c:v>
                </c:pt>
              </c:strCache>
            </c:strRef>
          </c:cat>
          <c:val>
            <c:numRef>
              <c:f>Sheet1!$B$2:$B$4</c:f>
              <c:numCache>
                <c:formatCode>General</c:formatCode>
                <c:ptCount val="3"/>
                <c:pt idx="0">
                  <c:v>51</c:v>
                </c:pt>
                <c:pt idx="1">
                  <c:v>72</c:v>
                </c:pt>
                <c:pt idx="2">
                  <c:v>67</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t>v1.1 (fixed)</a:t>
            </a:r>
          </a:p>
        </c:rich>
      </c:tx>
      <c:layout/>
      <c:overlay val="0"/>
    </c:title>
    <c:autoTitleDeleted val="0"/>
    <c:plotArea>
      <c:barChart>
        <c:barDir val="col"/>
        <c:grouping val="clustered"/>
        <c:ser>
          <c:idx val="0"/>
          <c:order val="0"/>
          <c:tx>
            <c:strRef>
              <c:f>Sheet1!$B$1</c:f>
              <c:strCache>
                <c:ptCount val="1"/>
                <c:pt idx="0">
                  <c:v>v1.1 (fixed)</c:v>
                </c:pt>
              </c:strCache>
            </c:strRef>
          </c:tx>
          <c:spPr>
            <a:solidFill>
              <a:srgbClr val="1A7F37"/>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False alarms (%)</c:v>
                </c:pt>
                <c:pt idx="1">
                  <c:v>Separation (×100)</c:v>
                </c:pt>
                <c:pt idx="2">
                  <c:v>Dents in right place (%)</c:v>
                </c:pt>
              </c:strCache>
            </c:strRef>
          </c:cat>
          <c:val>
            <c:numRef>
              <c:f>Sheet1!$B$2:$B$4</c:f>
              <c:numCache>
                <c:formatCode>General</c:formatCode>
                <c:ptCount val="3"/>
                <c:pt idx="0">
                  <c:v>4</c:v>
                </c:pt>
                <c:pt idx="1">
                  <c:v>95</c:v>
                </c:pt>
                <c:pt idx="2">
                  <c:v>83</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B66FD6-D2A9-4F00-B491-A99A8AA44ED0}" type="datetimeFigureOut">
              <a:rPr lang="en-US" smtClean="0"/>
              <a:t>10/13/2026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5F57D8-2956-440C-8FE5-2823967F9ED1}" type="slidenum">
              <a:rPr lang="en-US" smtClean="0"/>
              <a:t>‹#›</a:t>
            </a:fld>
            <a:endParaRPr lang="en-US"/>
          </a:p>
        </p:txBody>
      </p:sp>
    </p:spTree>
    <p:extLst>
      <p:ext uri="{BB962C8B-B14F-4D97-AF65-F5344CB8AC3E}">
        <p14:creationId xmlns:p14="http://schemas.microsoft.com/office/powerpoint/2010/main" val="3816629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The question: can a computer look at a few photos of a jet engine blade and tell, in 3D, whether it is damaged? And just as important: can it tell when the photos are not enough?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Blades are inspected regularly from photos. Here a blade has a faint darker patch, circled. Is it damage? That is the question for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dark spot has four possible causes. Only the first, a dent, is real damage. The other three are harmless. A computer must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dent changes the shape. The others change colour, brightness or position. But the dents that matter are tiny: 0.1 millimetre changes the picture by a few grey levels, while a one-degree camera error changes thousands of pixels.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inputs are the healthy design file and two to seven photos. The method compares two explanations: nothing broke, versus the same plus a dent. Strong evidence: report the dent with its depth and location. Weak evidence: say 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Explain the photos without damage. Find where a dent would help most. Fit a smooth 3D dent there. Then test whether the dent explanation is clearly better than the no-damage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we explain everything that is not damage: refine the camera pose from the blade outline, the light levels, and a possible stain. What is left over is what damage would have to explain.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Subtract the healthy rendering from the photo. The difference is brightest where something changed; here, the dent. A quick statistical check over the whole surface turns this into a short list of candidate spots.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Starting from a candidate spot, the method fits a smooth dent: where it is, how deep, how big and its shape, by rendering the blade with the dent and adjusting until it matches the photo. Right: the true dent and the measured dent, coloured by depth.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test case. Without a dent, the best explanation still mismatches the photo by 89. With the dent, 20. The improvement, 69, is the evidence. It is compared with a threshold set on healthy and stained blades so that only about 5 percent of them exceed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no public data has real blade dents with measured depth, we built a benchmark with exactly known answers. Six kinds of cases. Each picture: the photo with the true dent in orange rings and the reported dent in blue, the healthy blade, and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Sealed test, 30 unseen blades. Ours separates dents from healthy blades best and finds more than twice as many dents, all in the right place. MLP and free-form fields reimplement the idea of the recent CADSplat work. Compared fairly at the same false-alarm rate, 51 percent versus at most 19.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fits, with and without the evidence test. Without it, a third of healthy blades get a false dent and half of the hidden dents are wrongly "found". With it, false alarms drop to 10 percent and wrong claims on hidden dents to 15, at the cost of finding fewer dents.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Almost every visible dent deeper than 0.2 millimetres is found, 12 of 13. Below 0.1 millimetre the photo barely changes, and the method declines rather than guesses.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six new industrial designs the frozen method raised false alarms on most healthy blades: 67 percent over all six. Two causes: the camera check nudged correct cameras, and the brightness correction did not move with the blade. Fixed on two blades, tested on the other four: false alarms from 51 to 4 percent.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this week. Before searching, we compute the smallest dent each point could reveal. Yellow: tiny dents visible. Dark: only deep dents. Grey: the root, which the method ignores. The per-dent prediction was checked on 300 test dents. The map values in millimetres are still optimistic and need checking against real misses.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gap: everything so far is on rendered images. The next step is a real blade: print one of the industrial designs at twice its size, put real dents in it, photograph it, and measure the dents with a scanner.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a method that measures dents in 3D from a few photos, says when it cannot tell, keeps false alarms low, predicts what it can and cannot see, and now works on new blade designs. Next: real blades.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interactive demo online: choose one of five test blades, see the method decision, the measured depth and the evidence against the threshold. These are real outputs of the method.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rgbClr val="0047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rgbClr val="FFFFFF"/>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0" name="Picture 9">
            <a:extLst>
              <a:ext uri="{FF2B5EF4-FFF2-40B4-BE49-F238E27FC236}">
                <a16:creationId xmlns:a16="http://schemas.microsoft.com/office/drawing/2014/main" id="{CEA79536-344B-4703-95C3-7F5AD0BFB38D}"/>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804823" y="654528"/>
            <a:ext cx="3540072" cy="774496"/>
          </a:xfrm>
          <a:prstGeom prst="rect">
            <a:avLst/>
          </a:prstGeom>
        </p:spPr>
      </p:pic>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rgbClr val="FFFFFF"/>
                </a:solidFill>
              </a:defRPr>
            </a:lvl1pPr>
            <a:lvl2pPr algn="ctr">
              <a:defRPr/>
            </a:lvl2pPr>
            <a:lvl3pPr algn="ctr">
              <a:defRPr/>
            </a:lvl3pPr>
            <a:lvl4pPr algn="ctr">
              <a:defRPr/>
            </a:lvl4pPr>
            <a:lvl5pPr algn="ctr">
              <a:defRPr/>
            </a:lvl5pPr>
          </a:lstStyle>
          <a:p>
            <a:pPr lvl="0"/>
            <a:r>
              <a:rPr lang="en-US"/>
              <a:t>Edit Master text styles</a:t>
            </a:r>
          </a:p>
        </p:txBody>
      </p:sp>
      <p:cxnSp>
        <p:nvCxnSpPr>
          <p:cNvPr id="14" name="Straight Connector 13">
            <a:extLst>
              <a:ext uri="{FF2B5EF4-FFF2-40B4-BE49-F238E27FC236}">
                <a16:creationId xmlns:a16="http://schemas.microsoft.com/office/drawing/2014/main" id="{BB5B0621-5201-4B3C-B3F3-03D9DDA06A71}"/>
              </a:ext>
            </a:extLst>
          </p:cNvPr>
          <p:cNvCxnSpPr/>
          <p:nvPr userDrawn="1"/>
        </p:nvCxnSpPr>
        <p:spPr>
          <a:xfrm>
            <a:off x="1769036"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06634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Nega">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chemeClr val="bg2"/>
                </a:solidFill>
              </a:defRPr>
            </a:lvl1pPr>
            <a:lvl2pPr algn="ctr">
              <a:defRPr/>
            </a:lvl2pPr>
            <a:lvl3pPr algn="ctr">
              <a:defRPr/>
            </a:lvl3pPr>
            <a:lvl4pPr algn="ctr">
              <a:defRPr/>
            </a:lvl4pPr>
            <a:lvl5pPr algn="ctr">
              <a:defRPr/>
            </a:lvl5pPr>
          </a:lstStyle>
          <a:p>
            <a:pPr lvl="0"/>
            <a:r>
              <a:rPr lang="en-US"/>
              <a:t>Edit Master text styles</a:t>
            </a:r>
          </a:p>
        </p:txBody>
      </p:sp>
      <p:cxnSp>
        <p:nvCxnSpPr>
          <p:cNvPr id="14" name="Straight Connector 13">
            <a:extLst>
              <a:ext uri="{FF2B5EF4-FFF2-40B4-BE49-F238E27FC236}">
                <a16:creationId xmlns:a16="http://schemas.microsoft.com/office/drawing/2014/main" id="{BB5B0621-5201-4B3C-B3F3-03D9DDA06A71}"/>
              </a:ext>
            </a:extLst>
          </p:cNvPr>
          <p:cNvCxnSpPr/>
          <p:nvPr userDrawn="1"/>
        </p:nvCxnSpPr>
        <p:spPr>
          <a:xfrm>
            <a:off x="5181600"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27211BEC-8A05-5048-8010-DA55CE467235}"/>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804824" y="654528"/>
            <a:ext cx="3540072" cy="774496"/>
          </a:xfrm>
          <a:prstGeom prst="rect">
            <a:avLst/>
          </a:prstGeom>
        </p:spPr>
      </p:pic>
    </p:spTree>
    <p:extLst>
      <p:ext uri="{BB962C8B-B14F-4D97-AF65-F5344CB8AC3E}">
        <p14:creationId xmlns:p14="http://schemas.microsoft.com/office/powerpoint/2010/main" val="36847877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hoto">
    <p:bg>
      <p:bgPr>
        <a:solidFill>
          <a:srgbClr val="0047BA"/>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EB21E90-80D8-4070-8157-51F5D9E9BA7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rgbClr val="FFFFFF"/>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rgbClr val="FFFFFF"/>
                </a:solidFill>
              </a:defRPr>
            </a:lvl1pPr>
            <a:lvl2pPr algn="ctr">
              <a:defRPr/>
            </a:lvl2pPr>
            <a:lvl3pPr algn="ctr">
              <a:defRPr/>
            </a:lvl3pPr>
            <a:lvl4pPr algn="ctr">
              <a:defRPr/>
            </a:lvl4pPr>
            <a:lvl5pPr algn="ctr">
              <a:defRPr/>
            </a:lvl5pPr>
          </a:lstStyle>
          <a:p>
            <a:pPr lvl="0"/>
            <a:r>
              <a:rPr lang="en-US"/>
              <a:t>Edit Master text styles</a:t>
            </a:r>
          </a:p>
        </p:txBody>
      </p:sp>
      <p:pic>
        <p:nvPicPr>
          <p:cNvPr id="8" name="Picture 7">
            <a:extLst>
              <a:ext uri="{FF2B5EF4-FFF2-40B4-BE49-F238E27FC236}">
                <a16:creationId xmlns:a16="http://schemas.microsoft.com/office/drawing/2014/main" id="{E14C8DC6-096E-714D-AF28-586972589725}"/>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804823" y="654528"/>
            <a:ext cx="3540072" cy="774496"/>
          </a:xfrm>
          <a:prstGeom prst="rect">
            <a:avLst/>
          </a:prstGeom>
        </p:spPr>
      </p:pic>
      <p:cxnSp>
        <p:nvCxnSpPr>
          <p:cNvPr id="9" name="Straight Connector 8">
            <a:extLst>
              <a:ext uri="{FF2B5EF4-FFF2-40B4-BE49-F238E27FC236}">
                <a16:creationId xmlns:a16="http://schemas.microsoft.com/office/drawing/2014/main" id="{41EF1488-91C4-7449-841C-78AF4CE5EB83}"/>
              </a:ext>
            </a:extLst>
          </p:cNvPr>
          <p:cNvCxnSpPr/>
          <p:nvPr userDrawn="1"/>
        </p:nvCxnSpPr>
        <p:spPr>
          <a:xfrm>
            <a:off x="1769036"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58409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4" name="Rectangle 23"/>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5" name="Rectangle 24"/>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6" name="Rectangle 25"/>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7" name="Rectangle 26"/>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8" name="Rectangle 27"/>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9" name="Straight Connector 2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27913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9" name="Rectangle 8"/>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2" name="Rectangle 11"/>
          <p:cNvSpPr/>
          <p:nvPr userDrawn="1"/>
        </p:nvSpPr>
        <p:spPr>
          <a:xfrm>
            <a:off x="2430779"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13" name="Rectangle 12"/>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14" name="Rectangle 13"/>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15" name="Rectangle 14"/>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19" name="Straight Connector 1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83275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17" name="Rectangle 16"/>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8" name="Rectangle 17"/>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0" name="Rectangle 19"/>
          <p:cNvSpPr/>
          <p:nvPr userDrawn="1"/>
        </p:nvSpPr>
        <p:spPr>
          <a:xfrm>
            <a:off x="4861560"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1" name="Rectangle 20"/>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2" name="Rectangle 21"/>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3" name="Straight Connector 22"/>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72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3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cxnSp>
        <p:nvCxnSpPr>
          <p:cNvPr id="16" name="Straight Connector 15"/>
          <p:cNvCxnSpPr/>
          <p:nvPr userDrawn="1"/>
        </p:nvCxnSpPr>
        <p:spPr>
          <a:xfrm>
            <a:off x="-2" y="378863"/>
            <a:ext cx="12192002" cy="0"/>
          </a:xfrm>
          <a:prstGeom prst="line">
            <a:avLst/>
          </a:prstGeom>
          <a:ln w="6350">
            <a:solidFill>
              <a:schemeClr val="bg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7" name="Rectangle 16"/>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8" name="Rectangle 17"/>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0" name="Rectangle 19"/>
          <p:cNvSpPr/>
          <p:nvPr userDrawn="1"/>
        </p:nvSpPr>
        <p:spPr>
          <a:xfrm>
            <a:off x="4861560"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1" name="Rectangle 20"/>
          <p:cNvSpPr/>
          <p:nvPr userDrawn="1"/>
        </p:nvSpPr>
        <p:spPr>
          <a:xfrm>
            <a:off x="7292341"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2" name="Rectangle 21"/>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3" name="Straight Connector 22"/>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3109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4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4" name="Rectangle 23"/>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5" name="Rectangle 24"/>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6" name="Rectangle 25"/>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7" name="Rectangle 26"/>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8" name="Rectangle 27"/>
          <p:cNvSpPr/>
          <p:nvPr userDrawn="1"/>
        </p:nvSpPr>
        <p:spPr>
          <a:xfrm>
            <a:off x="9723120"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9" name="Straight Connector 2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8943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Content Portrai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CB3A0E-D963-4BA4-863C-413B32E51AE7}"/>
              </a:ext>
            </a:extLst>
          </p:cNvPr>
          <p:cNvSpPr>
            <a:spLocks noGrp="1"/>
          </p:cNvSpPr>
          <p:nvPr>
            <p:ph idx="1" hasCustomPrompt="1"/>
          </p:nvPr>
        </p:nvSpPr>
        <p:spPr>
          <a:xfrm>
            <a:off x="6162675" y="1152524"/>
            <a:ext cx="5191124" cy="5162121"/>
          </a:xfrm>
        </p:spPr>
        <p:txBody>
          <a:bodyPr/>
          <a:lstStyle>
            <a:lvl1pPr>
              <a:defRPr b="0"/>
            </a:lvl1pPr>
          </a:lstStyle>
          <a:p>
            <a:pPr lvl="0"/>
            <a:r>
              <a:rPr lang="en-US"/>
              <a:t>Heading 1</a:t>
            </a:r>
          </a:p>
          <a:p>
            <a:pPr lvl="1"/>
            <a:r>
              <a:rPr lang="en-US"/>
              <a:t>Second level</a:t>
            </a:r>
          </a:p>
          <a:p>
            <a:pPr lvl="2"/>
            <a:r>
              <a:rPr lang="en-US"/>
              <a:t>Third level</a:t>
            </a:r>
          </a:p>
          <a:p>
            <a:pPr lvl="3"/>
            <a:r>
              <a:rPr lang="en-US"/>
              <a:t>Fourth level</a:t>
            </a:r>
          </a:p>
          <a:p>
            <a:pPr lvl="4"/>
            <a:r>
              <a:rPr lang="en-US"/>
              <a:t>Fifth level</a:t>
            </a:r>
          </a:p>
        </p:txBody>
      </p:sp>
      <p:sp>
        <p:nvSpPr>
          <p:cNvPr id="11" name="Title 10">
            <a:extLst>
              <a:ext uri="{FF2B5EF4-FFF2-40B4-BE49-F238E27FC236}">
                <a16:creationId xmlns:a16="http://schemas.microsoft.com/office/drawing/2014/main" id="{1C1F0F3F-166A-422E-B49B-E35296BCC605}"/>
              </a:ext>
            </a:extLst>
          </p:cNvPr>
          <p:cNvSpPr>
            <a:spLocks noGrp="1"/>
          </p:cNvSpPr>
          <p:nvPr>
            <p:ph type="title"/>
          </p:nvPr>
        </p:nvSpPr>
        <p:spPr>
          <a:xfrm>
            <a:off x="1362075" y="1123950"/>
            <a:ext cx="4419600" cy="5190695"/>
          </a:xfrm>
        </p:spPr>
        <p:txBody>
          <a:bodyPr anchor="t" anchorCtr="0"/>
          <a:lstStyle/>
          <a:p>
            <a:r>
              <a:rPr lang="en-US"/>
              <a:t>Click to edit Master title style</a:t>
            </a:r>
          </a:p>
        </p:txBody>
      </p:sp>
      <p:sp>
        <p:nvSpPr>
          <p:cNvPr id="23"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24"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25"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26" name="Picture 25">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1" name="Rectangle 20"/>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2" name="Rectangle 21"/>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34" name="Rectangle 33"/>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35" name="Rectangle 34"/>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36" name="Rectangle 35"/>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37" name="Straight Connector 36"/>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39095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8BB98-3A1E-4BA6-A18A-C711FCA9CA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F5B3EF-8293-4FA5-B31C-91F5BA7D4E00}"/>
              </a:ext>
            </a:extLst>
          </p:cNvPr>
          <p:cNvSpPr>
            <a:spLocks noGrp="1"/>
          </p:cNvSpPr>
          <p:nvPr>
            <p:ph sz="half" idx="1"/>
          </p:nvPr>
        </p:nvSpPr>
        <p:spPr>
          <a:xfrm>
            <a:off x="1360800" y="1868400"/>
            <a:ext cx="4680000" cy="4449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F6ED27-71A5-4DAD-A199-5EA0A05E7D6B}"/>
              </a:ext>
            </a:extLst>
          </p:cNvPr>
          <p:cNvSpPr>
            <a:spLocks noGrp="1"/>
          </p:cNvSpPr>
          <p:nvPr>
            <p:ph sz="half" idx="2"/>
          </p:nvPr>
        </p:nvSpPr>
        <p:spPr>
          <a:xfrm>
            <a:off x="6667500" y="1868400"/>
            <a:ext cx="4680000" cy="4449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12"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13"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14" name="Picture 13">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2" name="Rectangle 21"/>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3" name="Rectangle 22"/>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4" name="Rectangle 23"/>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5" name="Rectangle 24"/>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6" name="Rectangle 25"/>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7" name="Straight Connector 26"/>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645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8BB98-3A1E-4BA6-A18A-C711FCA9CA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F5B3EF-8293-4FA5-B31C-91F5BA7D4E00}"/>
              </a:ext>
            </a:extLst>
          </p:cNvPr>
          <p:cNvSpPr>
            <a:spLocks noGrp="1"/>
          </p:cNvSpPr>
          <p:nvPr>
            <p:ph sz="half" idx="1"/>
          </p:nvPr>
        </p:nvSpPr>
        <p:spPr>
          <a:xfrm>
            <a:off x="1360800" y="2352674"/>
            <a:ext cx="4680000" cy="39653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F6ED27-71A5-4DAD-A199-5EA0A05E7D6B}"/>
              </a:ext>
            </a:extLst>
          </p:cNvPr>
          <p:cNvSpPr>
            <a:spLocks noGrp="1"/>
          </p:cNvSpPr>
          <p:nvPr>
            <p:ph sz="half" idx="2"/>
          </p:nvPr>
        </p:nvSpPr>
        <p:spPr>
          <a:xfrm>
            <a:off x="6667500" y="2352674"/>
            <a:ext cx="4680000" cy="39653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2">
            <a:extLst>
              <a:ext uri="{FF2B5EF4-FFF2-40B4-BE49-F238E27FC236}">
                <a16:creationId xmlns:a16="http://schemas.microsoft.com/office/drawing/2014/main" id="{E4673FD0-9E13-4C1A-B859-688309735A0D}"/>
              </a:ext>
            </a:extLst>
          </p:cNvPr>
          <p:cNvSpPr>
            <a:spLocks noGrp="1"/>
          </p:cNvSpPr>
          <p:nvPr>
            <p:ph type="body" idx="13"/>
          </p:nvPr>
        </p:nvSpPr>
        <p:spPr>
          <a:xfrm>
            <a:off x="1360800" y="1868399"/>
            <a:ext cx="4680000" cy="379501"/>
          </a:xfr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9" name="Text Placeholder 4">
            <a:extLst>
              <a:ext uri="{FF2B5EF4-FFF2-40B4-BE49-F238E27FC236}">
                <a16:creationId xmlns:a16="http://schemas.microsoft.com/office/drawing/2014/main" id="{E81F1501-AF73-4AAC-9FF0-0767311D3E75}"/>
              </a:ext>
            </a:extLst>
          </p:cNvPr>
          <p:cNvSpPr>
            <a:spLocks noGrp="1"/>
          </p:cNvSpPr>
          <p:nvPr>
            <p:ph type="body" sz="quarter" idx="3"/>
          </p:nvPr>
        </p:nvSpPr>
        <p:spPr>
          <a:xfrm>
            <a:off x="6667500" y="1868399"/>
            <a:ext cx="4687888" cy="379501"/>
          </a:xfr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3"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14"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15"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16" name="Picture 15">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36" name="Rectangle 35"/>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37" name="Rectangle 36"/>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38" name="Rectangle 37"/>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39" name="Rectangle 38"/>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40" name="Rectangle 39"/>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41" name="Straight Connector 40"/>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271413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art with Caption">
    <p:spTree>
      <p:nvGrpSpPr>
        <p:cNvPr id="1" name=""/>
        <p:cNvGrpSpPr/>
        <p:nvPr/>
      </p:nvGrpSpPr>
      <p:grpSpPr>
        <a:xfrm>
          <a:off x="0" y="0"/>
          <a:ext cx="0" cy="0"/>
          <a:chOff x="0" y="0"/>
          <a:chExt cx="0" cy="0"/>
        </a:xfrm>
      </p:grpSpPr>
      <p:sp>
        <p:nvSpPr>
          <p:cNvPr id="8" name="Chart Placeholder 7">
            <a:extLst>
              <a:ext uri="{FF2B5EF4-FFF2-40B4-BE49-F238E27FC236}">
                <a16:creationId xmlns:a16="http://schemas.microsoft.com/office/drawing/2014/main" id="{F29153F9-78D4-4D70-B44A-4B9B91D91CB2}"/>
              </a:ext>
            </a:extLst>
          </p:cNvPr>
          <p:cNvSpPr>
            <a:spLocks noGrp="1"/>
          </p:cNvSpPr>
          <p:nvPr>
            <p:ph type="chart" sz="quarter" idx="14"/>
          </p:nvPr>
        </p:nvSpPr>
        <p:spPr>
          <a:xfrm>
            <a:off x="6162675" y="771525"/>
            <a:ext cx="5638800" cy="5534025"/>
          </a:xfrm>
        </p:spPr>
        <p:txBody>
          <a:bodyPr/>
          <a:lstStyle>
            <a:lvl1pPr marL="0" indent="0">
              <a:buNone/>
              <a:defRPr/>
            </a:lvl1pPr>
          </a:lstStyle>
          <a:p>
            <a:r>
              <a:rPr lang="en-US"/>
              <a:t>Click icon to add chart</a:t>
            </a:r>
          </a:p>
        </p:txBody>
      </p:sp>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5" y="542925"/>
            <a:ext cx="4181476"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362075" y="1866900"/>
            <a:ext cx="4181476" cy="4448175"/>
          </a:xfrm>
        </p:spPr>
        <p:txBody>
          <a:bodyPr/>
          <a:lstStyle>
            <a:lvl1pPr marL="0" indent="0">
              <a:buNone/>
              <a:defRPr b="0"/>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035F2A6E-69EA-48C4-9878-9F94057E6DBE}"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11" name="TextBox 10">
            <a:extLst>
              <a:ext uri="{FF2B5EF4-FFF2-40B4-BE49-F238E27FC236}">
                <a16:creationId xmlns:a16="http://schemas.microsoft.com/office/drawing/2014/main" id="{27C296D0-EF25-4659-9A29-DE874EE0BD57}"/>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12" name="Picture 11">
            <a:extLst>
              <a:ext uri="{FF2B5EF4-FFF2-40B4-BE49-F238E27FC236}">
                <a16:creationId xmlns:a16="http://schemas.microsoft.com/office/drawing/2014/main" id="{872D0369-8EEE-446D-A24C-9E71B185674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13" name="Straight Connector 12">
            <a:extLst>
              <a:ext uri="{FF2B5EF4-FFF2-40B4-BE49-F238E27FC236}">
                <a16:creationId xmlns:a16="http://schemas.microsoft.com/office/drawing/2014/main" id="{BDF66C09-963E-47DD-8166-11F0934BF635}"/>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4360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5" y="542925"/>
            <a:ext cx="4181476"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362075" y="1866900"/>
            <a:ext cx="4181476"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95D80CBD-01E1-4F40-95BB-4CDCB31285D5}"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9" name="Picture Placeholder 8">
            <a:extLst>
              <a:ext uri="{FF2B5EF4-FFF2-40B4-BE49-F238E27FC236}">
                <a16:creationId xmlns:a16="http://schemas.microsoft.com/office/drawing/2014/main" id="{A46E416A-BFDB-410E-9AC9-671259E5DAFB}"/>
              </a:ext>
            </a:extLst>
          </p:cNvPr>
          <p:cNvSpPr>
            <a:spLocks noGrp="1"/>
          </p:cNvSpPr>
          <p:nvPr>
            <p:ph type="pic" sz="quarter" idx="13"/>
          </p:nvPr>
        </p:nvSpPr>
        <p:spPr>
          <a:xfrm>
            <a:off x="6162675" y="771525"/>
            <a:ext cx="5638800" cy="5534025"/>
          </a:xfrm>
          <a:solidFill>
            <a:schemeClr val="bg1">
              <a:lumMod val="85000"/>
            </a:schemeClr>
          </a:solidFill>
        </p:spPr>
        <p:txBody>
          <a:bodyPr/>
          <a:lstStyle>
            <a:lvl1pPr marL="0" indent="0">
              <a:buNone/>
              <a:defRPr/>
            </a:lvl1pPr>
          </a:lstStyle>
          <a:p>
            <a:r>
              <a:rPr lang="en-US"/>
              <a:t>Click icon to add picture</a:t>
            </a:r>
          </a:p>
        </p:txBody>
      </p:sp>
      <p:sp>
        <p:nvSpPr>
          <p:cNvPr id="11" name="TextBox 10">
            <a:extLst>
              <a:ext uri="{FF2B5EF4-FFF2-40B4-BE49-F238E27FC236}">
                <a16:creationId xmlns:a16="http://schemas.microsoft.com/office/drawing/2014/main" id="{27C296D0-EF25-4659-9A29-DE874EE0BD57}"/>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12" name="Picture 11">
            <a:extLst>
              <a:ext uri="{FF2B5EF4-FFF2-40B4-BE49-F238E27FC236}">
                <a16:creationId xmlns:a16="http://schemas.microsoft.com/office/drawing/2014/main" id="{872D0369-8EEE-446D-A24C-9E71B185674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13" name="Straight Connector 12">
            <a:extLst>
              <a:ext uri="{FF2B5EF4-FFF2-40B4-BE49-F238E27FC236}">
                <a16:creationId xmlns:a16="http://schemas.microsoft.com/office/drawing/2014/main" id="{BDF66C09-963E-47DD-8166-11F0934BF635}"/>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05989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828676" y="542925"/>
            <a:ext cx="10544174" cy="1114425"/>
          </a:xfrm>
        </p:spPr>
        <p:txBody>
          <a:bodyPr/>
          <a:lstStyle>
            <a:lvl1pPr algn="ctr">
              <a:defRPr/>
            </a:lvl1pPr>
          </a:lstStyle>
          <a:p>
            <a:r>
              <a:rPr lang="en-US"/>
              <a:t>Click to edit Master title style</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E11F5515-C8D0-401B-9D01-89182670CBCD}"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8" name="TextBox 7">
            <a:extLst>
              <a:ext uri="{FF2B5EF4-FFF2-40B4-BE49-F238E27FC236}">
                <a16:creationId xmlns:a16="http://schemas.microsoft.com/office/drawing/2014/main" id="{4E74C6A6-466D-458F-9462-128882D6EF6C}"/>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cxnSp>
        <p:nvCxnSpPr>
          <p:cNvPr id="11" name="Straight Connector 10">
            <a:extLst>
              <a:ext uri="{FF2B5EF4-FFF2-40B4-BE49-F238E27FC236}">
                <a16:creationId xmlns:a16="http://schemas.microsoft.com/office/drawing/2014/main" id="{8690FDB3-7706-4B32-BD35-532B4AC7ECDA}"/>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3930B2A2-81DA-4F3D-9D9E-46E4F7B93857}"/>
              </a:ext>
            </a:extLst>
          </p:cNvPr>
          <p:cNvSpPr>
            <a:spLocks noGrp="1"/>
          </p:cNvSpPr>
          <p:nvPr>
            <p:ph type="pic" sz="quarter" idx="13"/>
          </p:nvPr>
        </p:nvSpPr>
        <p:spPr>
          <a:xfrm>
            <a:off x="4238625"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4" name="Picture Placeholder 12">
            <a:extLst>
              <a:ext uri="{FF2B5EF4-FFF2-40B4-BE49-F238E27FC236}">
                <a16:creationId xmlns:a16="http://schemas.microsoft.com/office/drawing/2014/main" id="{F16E22AE-DDB9-4C04-8CBA-FF04F1AFB382}"/>
              </a:ext>
            </a:extLst>
          </p:cNvPr>
          <p:cNvSpPr>
            <a:spLocks noGrp="1"/>
          </p:cNvSpPr>
          <p:nvPr>
            <p:ph type="pic" sz="quarter" idx="14"/>
          </p:nvPr>
        </p:nvSpPr>
        <p:spPr>
          <a:xfrm>
            <a:off x="400050"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5" name="Picture Placeholder 12">
            <a:extLst>
              <a:ext uri="{FF2B5EF4-FFF2-40B4-BE49-F238E27FC236}">
                <a16:creationId xmlns:a16="http://schemas.microsoft.com/office/drawing/2014/main" id="{55F3CFBF-C13C-4A9F-BDDF-0E18286F15C6}"/>
              </a:ext>
            </a:extLst>
          </p:cNvPr>
          <p:cNvSpPr>
            <a:spLocks noGrp="1"/>
          </p:cNvSpPr>
          <p:nvPr>
            <p:ph type="pic" sz="quarter" idx="15"/>
          </p:nvPr>
        </p:nvSpPr>
        <p:spPr>
          <a:xfrm>
            <a:off x="8077200" y="2752725"/>
            <a:ext cx="3714750" cy="3562350"/>
          </a:xfrm>
          <a:solidFill>
            <a:schemeClr val="bg1">
              <a:lumMod val="85000"/>
            </a:schemeClr>
          </a:solidFill>
        </p:spPr>
        <p:txBody>
          <a:bodyPr/>
          <a:lstStyle>
            <a:lvl1pPr marL="0" indent="0">
              <a:buNone/>
              <a:defRPr/>
            </a:lvl1pPr>
          </a:lstStyle>
          <a:p>
            <a:r>
              <a:rPr lang="en-US"/>
              <a:t>Click icon to add picture</a:t>
            </a:r>
          </a:p>
        </p:txBody>
      </p:sp>
    </p:spTree>
    <p:extLst>
      <p:ext uri="{BB962C8B-B14F-4D97-AF65-F5344CB8AC3E}">
        <p14:creationId xmlns:p14="http://schemas.microsoft.com/office/powerpoint/2010/main" val="418849300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icture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4" y="1114424"/>
            <a:ext cx="6343651" cy="1438275"/>
          </a:xfrm>
        </p:spPr>
        <p:txBody>
          <a:bodyPr anchor="t" anchorCtr="0"/>
          <a:lstStyle>
            <a:lvl1pPr algn="l">
              <a:lnSpc>
                <a:spcPct val="100000"/>
              </a:lnSpc>
              <a:defRPr/>
            </a:lvl1pPr>
          </a:lstStyle>
          <a:p>
            <a:r>
              <a:rPr lang="en-US"/>
              <a:t>Click to edit Master title style</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27BE144D-A52D-4A39-B7E7-83B2E7E1D029}"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8" name="TextBox 7">
            <a:extLst>
              <a:ext uri="{FF2B5EF4-FFF2-40B4-BE49-F238E27FC236}">
                <a16:creationId xmlns:a16="http://schemas.microsoft.com/office/drawing/2014/main" id="{4E74C6A6-466D-458F-9462-128882D6EF6C}"/>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cxnSp>
        <p:nvCxnSpPr>
          <p:cNvPr id="11" name="Straight Connector 10">
            <a:extLst>
              <a:ext uri="{FF2B5EF4-FFF2-40B4-BE49-F238E27FC236}">
                <a16:creationId xmlns:a16="http://schemas.microsoft.com/office/drawing/2014/main" id="{8690FDB3-7706-4B32-BD35-532B4AC7ECDA}"/>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3930B2A2-81DA-4F3D-9D9E-46E4F7B93857}"/>
              </a:ext>
            </a:extLst>
          </p:cNvPr>
          <p:cNvSpPr>
            <a:spLocks noGrp="1"/>
          </p:cNvSpPr>
          <p:nvPr>
            <p:ph type="pic" sz="quarter" idx="13"/>
          </p:nvPr>
        </p:nvSpPr>
        <p:spPr>
          <a:xfrm>
            <a:off x="4238625"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4" name="Picture Placeholder 12">
            <a:extLst>
              <a:ext uri="{FF2B5EF4-FFF2-40B4-BE49-F238E27FC236}">
                <a16:creationId xmlns:a16="http://schemas.microsoft.com/office/drawing/2014/main" id="{F16E22AE-DDB9-4C04-8CBA-FF04F1AFB382}"/>
              </a:ext>
            </a:extLst>
          </p:cNvPr>
          <p:cNvSpPr>
            <a:spLocks noGrp="1"/>
          </p:cNvSpPr>
          <p:nvPr>
            <p:ph type="pic" sz="quarter" idx="14"/>
          </p:nvPr>
        </p:nvSpPr>
        <p:spPr>
          <a:xfrm>
            <a:off x="400050"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5" name="Picture Placeholder 12">
            <a:extLst>
              <a:ext uri="{FF2B5EF4-FFF2-40B4-BE49-F238E27FC236}">
                <a16:creationId xmlns:a16="http://schemas.microsoft.com/office/drawing/2014/main" id="{55F3CFBF-C13C-4A9F-BDDF-0E18286F15C6}"/>
              </a:ext>
            </a:extLst>
          </p:cNvPr>
          <p:cNvSpPr>
            <a:spLocks noGrp="1"/>
          </p:cNvSpPr>
          <p:nvPr>
            <p:ph type="pic" sz="quarter" idx="15"/>
          </p:nvPr>
        </p:nvSpPr>
        <p:spPr>
          <a:xfrm>
            <a:off x="8077200" y="762000"/>
            <a:ext cx="3714750" cy="5553075"/>
          </a:xfrm>
          <a:solidFill>
            <a:schemeClr val="bg1">
              <a:lumMod val="85000"/>
            </a:schemeClr>
          </a:solidFill>
        </p:spPr>
        <p:txBody>
          <a:bodyPr/>
          <a:lstStyle>
            <a:lvl1pPr marL="0" indent="0">
              <a:buNone/>
              <a:defRPr/>
            </a:lvl1pPr>
          </a:lstStyle>
          <a:p>
            <a:r>
              <a:rPr lang="en-US"/>
              <a:t>Click icon to add picture</a:t>
            </a:r>
          </a:p>
        </p:txBody>
      </p:sp>
    </p:spTree>
    <p:extLst>
      <p:ext uri="{BB962C8B-B14F-4D97-AF65-F5344CB8AC3E}">
        <p14:creationId xmlns:p14="http://schemas.microsoft.com/office/powerpoint/2010/main" val="60665458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25EDB-8165-4C09-A93D-01F9B0F72B0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049EA8E-5754-4FAF-B3D4-63EA441FBC46}"/>
              </a:ext>
            </a:extLst>
          </p:cNvPr>
          <p:cNvSpPr>
            <a:spLocks noGrp="1"/>
          </p:cNvSpPr>
          <p:nvPr>
            <p:ph type="dt" sz="half" idx="10"/>
          </p:nvPr>
        </p:nvSpPr>
        <p:spPr/>
        <p:txBody>
          <a:bodyPr/>
          <a:lstStyle/>
          <a:p>
            <a:fld id="{BAA8F194-9077-4E80-915D-8EF8A5C3402A}" type="datetime2">
              <a:rPr lang="en-US" smtClean="0"/>
              <a:t>Tuesday, October 13, 2026</a:t>
            </a:fld>
            <a:endParaRPr lang="en-US"/>
          </a:p>
        </p:txBody>
      </p:sp>
      <p:sp>
        <p:nvSpPr>
          <p:cNvPr id="4" name="Footer Placeholder 3">
            <a:extLst>
              <a:ext uri="{FF2B5EF4-FFF2-40B4-BE49-F238E27FC236}">
                <a16:creationId xmlns:a16="http://schemas.microsoft.com/office/drawing/2014/main" id="{CFF6CD72-BAC2-4994-B821-40432481E830}"/>
              </a:ext>
            </a:extLst>
          </p:cNvPr>
          <p:cNvSpPr>
            <a:spLocks noGrp="1"/>
          </p:cNvSpPr>
          <p:nvPr>
            <p:ph type="ftr" sz="quarter" idx="11"/>
          </p:nvPr>
        </p:nvSpPr>
        <p:spPr/>
        <p:txBody>
          <a:bodyPr/>
          <a:lstStyle/>
          <a:p>
            <a:r>
              <a:rPr lang="en-US" dirty="0"/>
              <a:t>Synthesis and Evaluation of Iron Pyrite for Photovoltaic Applications</a:t>
            </a:r>
          </a:p>
        </p:txBody>
      </p:sp>
      <p:sp>
        <p:nvSpPr>
          <p:cNvPr id="5" name="Slide Number Placeholder 4">
            <a:extLst>
              <a:ext uri="{FF2B5EF4-FFF2-40B4-BE49-F238E27FC236}">
                <a16:creationId xmlns:a16="http://schemas.microsoft.com/office/drawing/2014/main" id="{D593CFAF-562D-445B-846A-E8F71A026870}"/>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6" name="TextBox 5">
            <a:extLst>
              <a:ext uri="{FF2B5EF4-FFF2-40B4-BE49-F238E27FC236}">
                <a16:creationId xmlns:a16="http://schemas.microsoft.com/office/drawing/2014/main" id="{7C98C825-F06D-4987-81B8-02D493880414}"/>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7" name="Picture 6">
            <a:extLst>
              <a:ext uri="{FF2B5EF4-FFF2-40B4-BE49-F238E27FC236}">
                <a16:creationId xmlns:a16="http://schemas.microsoft.com/office/drawing/2014/main" id="{53464E6B-FB97-4EC4-BBD3-24FE3C8D13D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8" name="Straight Connector 7">
            <a:extLst>
              <a:ext uri="{FF2B5EF4-FFF2-40B4-BE49-F238E27FC236}">
                <a16:creationId xmlns:a16="http://schemas.microsoft.com/office/drawing/2014/main" id="{7A8822A8-864B-49B0-9C0B-A862217EF3B8}"/>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588443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25EDB-8165-4C09-A93D-01F9B0F72B0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049EA8E-5754-4FAF-B3D4-63EA441FBC46}"/>
              </a:ext>
            </a:extLst>
          </p:cNvPr>
          <p:cNvSpPr>
            <a:spLocks noGrp="1"/>
          </p:cNvSpPr>
          <p:nvPr>
            <p:ph type="dt" sz="half" idx="10"/>
          </p:nvPr>
        </p:nvSpPr>
        <p:spPr/>
        <p:txBody>
          <a:bodyPr/>
          <a:lstStyle>
            <a:lvl1pPr>
              <a:defRPr>
                <a:solidFill>
                  <a:schemeClr val="tx2"/>
                </a:solidFill>
              </a:defRPr>
            </a:lvl1pPr>
          </a:lstStyle>
          <a:p>
            <a:fld id="{ED18892A-385F-4913-84E0-6673BA4EFF00}" type="datetime2">
              <a:rPr lang="en-US" smtClean="0"/>
              <a:t>Tuesday, October 13, 2026</a:t>
            </a:fld>
            <a:endParaRPr lang="en-US"/>
          </a:p>
        </p:txBody>
      </p:sp>
      <p:sp>
        <p:nvSpPr>
          <p:cNvPr id="4" name="Footer Placeholder 3">
            <a:extLst>
              <a:ext uri="{FF2B5EF4-FFF2-40B4-BE49-F238E27FC236}">
                <a16:creationId xmlns:a16="http://schemas.microsoft.com/office/drawing/2014/main" id="{CFF6CD72-BAC2-4994-B821-40432481E830}"/>
              </a:ext>
            </a:extLst>
          </p:cNvPr>
          <p:cNvSpPr>
            <a:spLocks noGrp="1"/>
          </p:cNvSpPr>
          <p:nvPr>
            <p:ph type="ftr" sz="quarter" idx="11"/>
          </p:nvPr>
        </p:nvSpPr>
        <p:spPr/>
        <p:txBody>
          <a:bodyPr/>
          <a:lstStyle>
            <a:lvl1pPr>
              <a:defRPr>
                <a:solidFill>
                  <a:schemeClr val="tx2"/>
                </a:solidFill>
              </a:defRPr>
            </a:lvl1pPr>
          </a:lstStyle>
          <a:p>
            <a:r>
              <a:rPr lang="en-US" dirty="0"/>
              <a:t>Synthesis and Evaluation of Iron Pyrite for Photovoltaic Applications</a:t>
            </a:r>
          </a:p>
        </p:txBody>
      </p:sp>
      <p:sp>
        <p:nvSpPr>
          <p:cNvPr id="5" name="Slide Number Placeholder 4">
            <a:extLst>
              <a:ext uri="{FF2B5EF4-FFF2-40B4-BE49-F238E27FC236}">
                <a16:creationId xmlns:a16="http://schemas.microsoft.com/office/drawing/2014/main" id="{D593CFAF-562D-445B-846A-E8F71A026870}"/>
              </a:ext>
            </a:extLst>
          </p:cNvPr>
          <p:cNvSpPr>
            <a:spLocks noGrp="1"/>
          </p:cNvSpPr>
          <p:nvPr>
            <p:ph type="sldNum" sz="quarter" idx="12"/>
          </p:nvPr>
        </p:nvSpPr>
        <p:spPr/>
        <p:txBody>
          <a:bodyPr/>
          <a:lstStyle>
            <a:lvl1pPr>
              <a:defRPr>
                <a:solidFill>
                  <a:schemeClr val="tx2"/>
                </a:solidFill>
              </a:defRPr>
            </a:lvl1pPr>
          </a:lstStyle>
          <a:p>
            <a:fld id="{1E68DD1B-5CD8-424B-8173-19E182143E0A}" type="slidenum">
              <a:rPr lang="en-US" smtClean="0"/>
              <a:pPr/>
              <a:t>‹#›</a:t>
            </a:fld>
            <a:endParaRPr lang="en-US"/>
          </a:p>
        </p:txBody>
      </p:sp>
      <p:sp>
        <p:nvSpPr>
          <p:cNvPr id="6" name="TextBox 5">
            <a:extLst>
              <a:ext uri="{FF2B5EF4-FFF2-40B4-BE49-F238E27FC236}">
                <a16:creationId xmlns:a16="http://schemas.microsoft.com/office/drawing/2014/main" id="{7C98C825-F06D-4987-81B8-02D493880414}"/>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tx2"/>
                </a:solidFill>
              </a:rPr>
              <a:t>ku.ac.ae</a:t>
            </a:r>
            <a:endParaRPr lang="en-US" sz="850">
              <a:solidFill>
                <a:schemeClr val="tx2"/>
              </a:solidFill>
            </a:endParaRPr>
          </a:p>
        </p:txBody>
      </p:sp>
      <p:pic>
        <p:nvPicPr>
          <p:cNvPr id="7" name="Picture 6">
            <a:extLst>
              <a:ext uri="{FF2B5EF4-FFF2-40B4-BE49-F238E27FC236}">
                <a16:creationId xmlns:a16="http://schemas.microsoft.com/office/drawing/2014/main" id="{53464E6B-FB97-4EC4-BBD3-24FE3C8D13D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7" cy="185303"/>
          </a:xfrm>
          <a:prstGeom prst="rect">
            <a:avLst/>
          </a:prstGeom>
        </p:spPr>
      </p:pic>
      <p:cxnSp>
        <p:nvCxnSpPr>
          <p:cNvPr id="8" name="Straight Connector 7">
            <a:extLst>
              <a:ext uri="{FF2B5EF4-FFF2-40B4-BE49-F238E27FC236}">
                <a16:creationId xmlns:a16="http://schemas.microsoft.com/office/drawing/2014/main" id="{7A8822A8-864B-49B0-9C0B-A862217EF3B8}"/>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088527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D94EFBB-C8CA-4201-A903-805856BEB310}"/>
              </a:ext>
            </a:extLst>
          </p:cNvPr>
          <p:cNvSpPr>
            <a:spLocks noGrp="1"/>
          </p:cNvSpPr>
          <p:nvPr>
            <p:ph type="dt" sz="half" idx="10"/>
          </p:nvPr>
        </p:nvSpPr>
        <p:spPr/>
        <p:txBody>
          <a:bodyPr/>
          <a:lstStyle/>
          <a:p>
            <a:fld id="{39C56024-30B0-4B46-92B2-A72D2ECADBC7}" type="datetime2">
              <a:rPr lang="en-US" smtClean="0"/>
              <a:t>Tuesday, October 13, 2026</a:t>
            </a:fld>
            <a:endParaRPr lang="en-US"/>
          </a:p>
        </p:txBody>
      </p:sp>
      <p:sp>
        <p:nvSpPr>
          <p:cNvPr id="3" name="Footer Placeholder 2">
            <a:extLst>
              <a:ext uri="{FF2B5EF4-FFF2-40B4-BE49-F238E27FC236}">
                <a16:creationId xmlns:a16="http://schemas.microsoft.com/office/drawing/2014/main" id="{8551DCEB-2462-4151-B7CC-F3EC0D3A59D6}"/>
              </a:ext>
            </a:extLst>
          </p:cNvPr>
          <p:cNvSpPr>
            <a:spLocks noGrp="1"/>
          </p:cNvSpPr>
          <p:nvPr>
            <p:ph type="ftr" sz="quarter" idx="11"/>
          </p:nvPr>
        </p:nvSpPr>
        <p:spPr/>
        <p:txBody>
          <a:bodyPr/>
          <a:lstStyle/>
          <a:p>
            <a:r>
              <a:rPr lang="en-US" dirty="0"/>
              <a:t>Synthesis and Evaluation of Iron Pyrite for Photovoltaic Applications</a:t>
            </a:r>
          </a:p>
        </p:txBody>
      </p:sp>
      <p:sp>
        <p:nvSpPr>
          <p:cNvPr id="4" name="Slide Number Placeholder 3">
            <a:extLst>
              <a:ext uri="{FF2B5EF4-FFF2-40B4-BE49-F238E27FC236}">
                <a16:creationId xmlns:a16="http://schemas.microsoft.com/office/drawing/2014/main" id="{B5A57B99-432B-45A8-9216-9BC01B297D0C}"/>
              </a:ext>
            </a:extLst>
          </p:cNvPr>
          <p:cNvSpPr>
            <a:spLocks noGrp="1"/>
          </p:cNvSpPr>
          <p:nvPr>
            <p:ph type="sldNum" sz="quarter" idx="12"/>
          </p:nvPr>
        </p:nvSpPr>
        <p:spPr/>
        <p:txBody>
          <a:bodyPr/>
          <a:lstStyle/>
          <a:p>
            <a:fld id="{1E68DD1B-5CD8-424B-8173-19E182143E0A}" type="slidenum">
              <a:rPr lang="en-US" smtClean="0"/>
              <a:t>‹#›</a:t>
            </a:fld>
            <a:endParaRPr lang="en-US"/>
          </a:p>
        </p:txBody>
      </p:sp>
    </p:spTree>
    <p:extLst>
      <p:ext uri="{BB962C8B-B14F-4D97-AF65-F5344CB8AC3E}">
        <p14:creationId xmlns:p14="http://schemas.microsoft.com/office/powerpoint/2010/main" val="425915438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D0CFC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49F49-C197-4276-BA18-25EE446879E5}"/>
              </a:ext>
            </a:extLst>
          </p:cNvPr>
          <p:cNvSpPr>
            <a:spLocks noGrp="1"/>
          </p:cNvSpPr>
          <p:nvPr>
            <p:ph type="title"/>
          </p:nvPr>
        </p:nvSpPr>
        <p:spPr>
          <a:xfrm>
            <a:off x="831850" y="1204913"/>
            <a:ext cx="10515600" cy="2852737"/>
          </a:xfrm>
        </p:spPr>
        <p:txBody>
          <a:bodyPr anchor="b"/>
          <a:lstStyle>
            <a:lvl1pPr algn="ctr">
              <a:lnSpc>
                <a:spcPct val="100000"/>
              </a:lnSpc>
              <a:defRPr sz="6000"/>
            </a:lvl1pPr>
          </a:lstStyle>
          <a:p>
            <a:r>
              <a:rPr lang="en-US"/>
              <a:t>Click to edit Master title style</a:t>
            </a:r>
          </a:p>
        </p:txBody>
      </p:sp>
      <p:sp>
        <p:nvSpPr>
          <p:cNvPr id="3" name="Text Placeholder 2">
            <a:extLst>
              <a:ext uri="{FF2B5EF4-FFF2-40B4-BE49-F238E27FC236}">
                <a16:creationId xmlns:a16="http://schemas.microsoft.com/office/drawing/2014/main" id="{1104C747-8640-4D13-A1FA-90CDB4EBBF1D}"/>
              </a:ext>
            </a:extLst>
          </p:cNvPr>
          <p:cNvSpPr>
            <a:spLocks noGrp="1"/>
          </p:cNvSpPr>
          <p:nvPr>
            <p:ph type="body" idx="1"/>
          </p:nvPr>
        </p:nvSpPr>
        <p:spPr>
          <a:xfrm>
            <a:off x="831850" y="4000500"/>
            <a:ext cx="10515600" cy="1584326"/>
          </a:xfrm>
        </p:spPr>
        <p:txBody>
          <a:bodyPr>
            <a:normAutofit/>
          </a:bodyPr>
          <a:lstStyle>
            <a:lvl1pPr marL="0" indent="0" algn="ctr">
              <a:buNone/>
              <a:defRPr sz="3800">
                <a:solidFill>
                  <a:srgbClr val="000000"/>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8D46D51-CC51-458D-B7F8-BB8DC09CBA9B}"/>
              </a:ext>
            </a:extLst>
          </p:cNvPr>
          <p:cNvSpPr>
            <a:spLocks noGrp="1"/>
          </p:cNvSpPr>
          <p:nvPr>
            <p:ph type="dt" sz="half" idx="10"/>
          </p:nvPr>
        </p:nvSpPr>
        <p:spPr/>
        <p:txBody>
          <a:bodyPr/>
          <a:lstStyle/>
          <a:p>
            <a:fld id="{BE2FE558-A44A-4071-89ED-CC9811DD0BF9}" type="datetime2">
              <a:rPr lang="en-US" smtClean="0"/>
              <a:t>Tuesday, October 13, 2026</a:t>
            </a:fld>
            <a:endParaRPr lang="en-US"/>
          </a:p>
        </p:txBody>
      </p:sp>
      <p:sp>
        <p:nvSpPr>
          <p:cNvPr id="5" name="Footer Placeholder 4">
            <a:extLst>
              <a:ext uri="{FF2B5EF4-FFF2-40B4-BE49-F238E27FC236}">
                <a16:creationId xmlns:a16="http://schemas.microsoft.com/office/drawing/2014/main" id="{BD7397C4-D37A-45E1-B1B8-7100D475BDA3}"/>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3393DD6E-BA6A-445E-B542-43DE3AEB0032}"/>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9" name="Picture 8">
            <a:extLst>
              <a:ext uri="{FF2B5EF4-FFF2-40B4-BE49-F238E27FC236}">
                <a16:creationId xmlns:a16="http://schemas.microsoft.com/office/drawing/2014/main" id="{965424D6-2475-46D6-A699-3A7CA5F8B127}"/>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10" name="TextBox 9">
            <a:extLst>
              <a:ext uri="{FF2B5EF4-FFF2-40B4-BE49-F238E27FC236}">
                <a16:creationId xmlns:a16="http://schemas.microsoft.com/office/drawing/2014/main" id="{7265327D-BC3D-4548-B6FC-FF18B53D2785}"/>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spTree>
    <p:extLst>
      <p:ext uri="{BB962C8B-B14F-4D97-AF65-F5344CB8AC3E}">
        <p14:creationId xmlns:p14="http://schemas.microsoft.com/office/powerpoint/2010/main" val="254536105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Heading Picture Background">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49F49-C197-4276-BA18-25EE446879E5}"/>
              </a:ext>
            </a:extLst>
          </p:cNvPr>
          <p:cNvSpPr>
            <a:spLocks noGrp="1"/>
          </p:cNvSpPr>
          <p:nvPr>
            <p:ph type="title"/>
          </p:nvPr>
        </p:nvSpPr>
        <p:spPr>
          <a:xfrm>
            <a:off x="831850" y="2106613"/>
            <a:ext cx="10515600" cy="2852737"/>
          </a:xfrm>
        </p:spPr>
        <p:txBody>
          <a:bodyPr anchor="b"/>
          <a:lstStyle>
            <a:lvl1pPr algn="ctr">
              <a:lnSpc>
                <a:spcPct val="100000"/>
              </a:lnSpc>
              <a:defRPr sz="6000">
                <a:solidFill>
                  <a:srgbClr val="FFFFFF"/>
                </a:solidFill>
              </a:defRPr>
            </a:lvl1pPr>
          </a:lstStyle>
          <a:p>
            <a:r>
              <a:rPr lang="en-US" dirty="0"/>
              <a:t>Click to edit Master title style</a:t>
            </a:r>
          </a:p>
        </p:txBody>
      </p:sp>
    </p:spTree>
    <p:extLst>
      <p:ext uri="{BB962C8B-B14F-4D97-AF65-F5344CB8AC3E}">
        <p14:creationId xmlns:p14="http://schemas.microsoft.com/office/powerpoint/2010/main" val="36582986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End">
    <p:bg>
      <p:bgPr>
        <a:solidFill>
          <a:srgbClr val="0047BA"/>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EA79536-344B-4703-95C3-7F5AD0BFB38D}"/>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622667" y="891158"/>
            <a:ext cx="2368684" cy="518220"/>
          </a:xfrm>
          <a:prstGeom prst="rect">
            <a:avLst/>
          </a:prstGeom>
        </p:spPr>
      </p:pic>
      <p:sp>
        <p:nvSpPr>
          <p:cNvPr id="4" name="TextBox 3">
            <a:extLst>
              <a:ext uri="{FF2B5EF4-FFF2-40B4-BE49-F238E27FC236}">
                <a16:creationId xmlns:a16="http://schemas.microsoft.com/office/drawing/2014/main" id="{AFAD5768-C7B0-4ABF-BE83-522BCD1F6FE5}"/>
              </a:ext>
            </a:extLst>
          </p:cNvPr>
          <p:cNvSpPr txBox="1"/>
          <p:nvPr userDrawn="1"/>
        </p:nvSpPr>
        <p:spPr>
          <a:xfrm>
            <a:off x="752475" y="2545809"/>
            <a:ext cx="10648950" cy="1769715"/>
          </a:xfrm>
          <a:prstGeom prst="rect">
            <a:avLst/>
          </a:prstGeom>
          <a:noFill/>
        </p:spPr>
        <p:txBody>
          <a:bodyPr wrap="square" lIns="0" tIns="0" rIns="0" bIns="0" rtlCol="0" anchor="ctr" anchorCtr="0">
            <a:spAutoFit/>
          </a:bodyPr>
          <a:lstStyle/>
          <a:p>
            <a:pPr algn="ctr"/>
            <a:r>
              <a:rPr lang="fi-FI" sz="11500" b="1" spc="-100" baseline="0" dirty="0" err="1">
                <a:solidFill>
                  <a:srgbClr val="FFFFFF"/>
                </a:solidFill>
                <a:latin typeface="+mj-lt"/>
              </a:rPr>
              <a:t>Thank</a:t>
            </a:r>
            <a:r>
              <a:rPr lang="fi-FI" sz="11500" b="1" spc="-100" baseline="0" dirty="0">
                <a:solidFill>
                  <a:srgbClr val="FFFFFF"/>
                </a:solidFill>
                <a:latin typeface="+mj-lt"/>
              </a:rPr>
              <a:t> </a:t>
            </a:r>
            <a:r>
              <a:rPr lang="fi-FI" sz="11500" b="1" spc="-100" baseline="0" dirty="0" err="1">
                <a:solidFill>
                  <a:srgbClr val="FFFFFF"/>
                </a:solidFill>
                <a:latin typeface="+mj-lt"/>
              </a:rPr>
              <a:t>You</a:t>
            </a:r>
            <a:endParaRPr lang="en-US" sz="11500" b="1" spc="-100" baseline="0" dirty="0">
              <a:solidFill>
                <a:srgbClr val="FFFFFF"/>
              </a:solidFill>
              <a:latin typeface="+mj-lt"/>
            </a:endParaRPr>
          </a:p>
        </p:txBody>
      </p:sp>
      <p:sp>
        <p:nvSpPr>
          <p:cNvPr id="13" name="TextBox 12">
            <a:extLst>
              <a:ext uri="{FF2B5EF4-FFF2-40B4-BE49-F238E27FC236}">
                <a16:creationId xmlns:a16="http://schemas.microsoft.com/office/drawing/2014/main" id="{A94333D0-73BA-48D2-AA6E-3F2C63C9CA8F}"/>
              </a:ext>
            </a:extLst>
          </p:cNvPr>
          <p:cNvSpPr txBox="1"/>
          <p:nvPr userDrawn="1"/>
        </p:nvSpPr>
        <p:spPr>
          <a:xfrm>
            <a:off x="5181601" y="6146800"/>
            <a:ext cx="1838324" cy="244475"/>
          </a:xfrm>
          <a:prstGeom prst="rect">
            <a:avLst/>
          </a:prstGeom>
          <a:noFill/>
        </p:spPr>
        <p:txBody>
          <a:bodyPr wrap="square" lIns="0" tIns="0" rIns="0" bIns="0" rtlCol="0" anchor="ctr" anchorCtr="0">
            <a:noAutofit/>
          </a:bodyPr>
          <a:lstStyle/>
          <a:p>
            <a:pPr algn="ctr"/>
            <a:r>
              <a:rPr lang="fi-FI" sz="1250" b="1">
                <a:solidFill>
                  <a:srgbClr val="FFFFFF"/>
                </a:solidFill>
              </a:rPr>
              <a:t>ku.ac.ae</a:t>
            </a:r>
            <a:endParaRPr lang="en-US" sz="1250" b="1">
              <a:solidFill>
                <a:srgbClr val="FFFFFF"/>
              </a:solidFill>
            </a:endParaRPr>
          </a:p>
        </p:txBody>
      </p:sp>
    </p:spTree>
    <p:extLst>
      <p:ext uri="{BB962C8B-B14F-4D97-AF65-F5344CB8AC3E}">
        <p14:creationId xmlns:p14="http://schemas.microsoft.com/office/powerpoint/2010/main" val="24195699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7564FE-F745-443F-8321-B0EFD169FAC6}"/>
              </a:ext>
            </a:extLst>
          </p:cNvPr>
          <p:cNvSpPr>
            <a:spLocks noGrp="1"/>
          </p:cNvSpPr>
          <p:nvPr>
            <p:ph type="title"/>
          </p:nvPr>
        </p:nvSpPr>
        <p:spPr>
          <a:xfrm>
            <a:off x="1362074" y="542925"/>
            <a:ext cx="9991725" cy="1114425"/>
          </a:xfrm>
          <a:prstGeom prst="rect">
            <a:avLst/>
          </a:prstGeom>
        </p:spPr>
        <p:txBody>
          <a:bodyPr vert="horz" lIns="0" tIns="0" rIns="0" bIns="0" rtlCol="0" anchor="b" anchorCtr="0">
            <a:normAutofit/>
          </a:bodyPr>
          <a:lstStyle/>
          <a:p>
            <a:r>
              <a:rPr lang="en-US"/>
              <a:t>Click to edit Master title style</a:t>
            </a:r>
          </a:p>
        </p:txBody>
      </p:sp>
      <p:sp>
        <p:nvSpPr>
          <p:cNvPr id="3" name="Text Placeholder 2">
            <a:extLst>
              <a:ext uri="{FF2B5EF4-FFF2-40B4-BE49-F238E27FC236}">
                <a16:creationId xmlns:a16="http://schemas.microsoft.com/office/drawing/2014/main" id="{06911581-2B37-40B3-825A-043921DFB80C}"/>
              </a:ext>
            </a:extLst>
          </p:cNvPr>
          <p:cNvSpPr>
            <a:spLocks noGrp="1"/>
          </p:cNvSpPr>
          <p:nvPr>
            <p:ph type="body" idx="1"/>
          </p:nvPr>
        </p:nvSpPr>
        <p:spPr>
          <a:xfrm>
            <a:off x="1362074" y="1866900"/>
            <a:ext cx="9991725" cy="4448175"/>
          </a:xfrm>
          <a:prstGeom prst="rect">
            <a:avLst/>
          </a:prstGeom>
        </p:spPr>
        <p:txBody>
          <a:bodyPr vert="horz" lIns="0" tIns="0" rIns="0" bIns="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A172D0-FD25-45C4-A82E-F4094DCDE0CC}"/>
              </a:ext>
            </a:extLst>
          </p:cNvPr>
          <p:cNvSpPr>
            <a:spLocks noGrp="1"/>
          </p:cNvSpPr>
          <p:nvPr>
            <p:ph type="dt" sz="half" idx="2"/>
          </p:nvPr>
        </p:nvSpPr>
        <p:spPr>
          <a:xfrm>
            <a:off x="8086725" y="203200"/>
            <a:ext cx="1733550" cy="244475"/>
          </a:xfrm>
          <a:prstGeom prst="rect">
            <a:avLst/>
          </a:prstGeom>
        </p:spPr>
        <p:txBody>
          <a:bodyPr vert="horz" lIns="0" tIns="0" rIns="0" bIns="0" rtlCol="0" anchor="ctr"/>
          <a:lstStyle>
            <a:lvl1pPr algn="r">
              <a:defRPr sz="850">
                <a:solidFill>
                  <a:schemeClr val="bg2"/>
                </a:solidFill>
              </a:defRPr>
            </a:lvl1pPr>
          </a:lstStyle>
          <a:p>
            <a:fld id="{5E3B0699-7100-486A-9638-650B3590B671}"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F5B18871-7BC3-4A13-9CC9-B9A1DB22F262}"/>
              </a:ext>
            </a:extLst>
          </p:cNvPr>
          <p:cNvSpPr>
            <a:spLocks noGrp="1"/>
          </p:cNvSpPr>
          <p:nvPr>
            <p:ph type="ftr" sz="quarter" idx="3"/>
          </p:nvPr>
        </p:nvSpPr>
        <p:spPr>
          <a:xfrm>
            <a:off x="2867025" y="203200"/>
            <a:ext cx="4114800" cy="244475"/>
          </a:xfrm>
          <a:prstGeom prst="rect">
            <a:avLst/>
          </a:prstGeom>
        </p:spPr>
        <p:txBody>
          <a:bodyPr vert="horz" lIns="0" tIns="0" rIns="0" bIns="0" rtlCol="0" anchor="ctr"/>
          <a:lstStyle>
            <a:lvl1pPr algn="ctr">
              <a:defRPr sz="850">
                <a:solidFill>
                  <a:schemeClr val="bg2"/>
                </a:solidFill>
              </a:defRPr>
            </a:lvl1p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A7EA17DA-0D3F-410F-A9AA-3171ED151327}"/>
              </a:ext>
            </a:extLst>
          </p:cNvPr>
          <p:cNvSpPr>
            <a:spLocks noGrp="1"/>
          </p:cNvSpPr>
          <p:nvPr>
            <p:ph type="sldNum" sz="quarter" idx="4"/>
          </p:nvPr>
        </p:nvSpPr>
        <p:spPr>
          <a:xfrm>
            <a:off x="11563349" y="203200"/>
            <a:ext cx="523875" cy="244475"/>
          </a:xfrm>
          <a:prstGeom prst="rect">
            <a:avLst/>
          </a:prstGeom>
        </p:spPr>
        <p:txBody>
          <a:bodyPr vert="horz" lIns="0" tIns="0" rIns="0" bIns="0" rtlCol="0" anchor="ctr"/>
          <a:lstStyle>
            <a:lvl1pPr algn="ctr">
              <a:defRPr sz="850">
                <a:solidFill>
                  <a:schemeClr val="bg2"/>
                </a:solidFill>
              </a:defRPr>
            </a:lvl1pPr>
          </a:lstStyle>
          <a:p>
            <a:fld id="{E4594ECE-BF10-44A5-B643-757A8D096D80}" type="slidenum">
              <a:rPr lang="en-US" smtClean="0"/>
              <a:pPr/>
              <a:t>‹#›</a:t>
            </a:fld>
            <a:endParaRPr lang="en-US" dirty="0"/>
          </a:p>
        </p:txBody>
      </p:sp>
      <p:sp>
        <p:nvSpPr>
          <p:cNvPr id="13" name="TextBox 12">
            <a:extLst>
              <a:ext uri="{FF2B5EF4-FFF2-40B4-BE49-F238E27FC236}">
                <a16:creationId xmlns:a16="http://schemas.microsoft.com/office/drawing/2014/main" id="{AC18493A-1FC9-483C-BC41-405831F9D965}"/>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spTree>
    <p:extLst>
      <p:ext uri="{BB962C8B-B14F-4D97-AF65-F5344CB8AC3E}">
        <p14:creationId xmlns:p14="http://schemas.microsoft.com/office/powerpoint/2010/main" val="1107456480"/>
      </p:ext>
    </p:extLst>
  </p:cSld>
  <p:clrMap bg1="lt1" tx1="dk1" bg2="lt2" tx2="dk2" accent1="accent1" accent2="accent2" accent3="accent3" accent4="accent4" accent5="accent5" accent6="accent6" hlink="hlink" folHlink="folHlink"/>
  <p:sldLayoutIdLst>
    <p:sldLayoutId id="2147483649" r:id="rId1"/>
    <p:sldLayoutId id="2147483669" r:id="rId2"/>
    <p:sldLayoutId id="2147483668" r:id="rId3"/>
    <p:sldLayoutId id="2147483650" r:id="rId4"/>
    <p:sldLayoutId id="2147483672" r:id="rId5"/>
    <p:sldLayoutId id="2147483673" r:id="rId6"/>
    <p:sldLayoutId id="2147483674" r:id="rId7"/>
    <p:sldLayoutId id="2147483675" r:id="rId8"/>
    <p:sldLayoutId id="2147483662" r:id="rId9"/>
    <p:sldLayoutId id="2147483652" r:id="rId10"/>
    <p:sldLayoutId id="2147483661" r:id="rId11"/>
    <p:sldLayoutId id="2147483663" r:id="rId12"/>
    <p:sldLayoutId id="2147483660" r:id="rId13"/>
    <p:sldLayoutId id="2147483664" r:id="rId14"/>
    <p:sldLayoutId id="2147483665" r:id="rId15"/>
    <p:sldLayoutId id="2147483654" r:id="rId16"/>
    <p:sldLayoutId id="2147483671" r:id="rId17"/>
    <p:sldLayoutId id="2147483655" r:id="rId18"/>
    <p:sldLayoutId id="2147483651" r:id="rId19"/>
    <p:sldLayoutId id="2147483666" r:id="rId20"/>
    <p:sldLayoutId id="2147483667" r:id="rId21"/>
  </p:sldLayoutIdLst>
  <p:hf hdr="0"/>
  <p:txStyles>
    <p:titleStyle>
      <a:lvl1pPr algn="l" defTabSz="914400" rtl="0" eaLnBrk="1" latinLnBrk="0" hangingPunct="1">
        <a:lnSpc>
          <a:spcPct val="100000"/>
        </a:lnSpc>
        <a:spcBef>
          <a:spcPct val="0"/>
        </a:spcBef>
        <a:buNone/>
        <a:defRPr sz="3600" b="1" kern="1200" spc="50" baseline="0">
          <a:solidFill>
            <a:schemeClr val="tx2"/>
          </a:solidFill>
          <a:latin typeface="+mj-lt"/>
          <a:ea typeface="+mj-ea"/>
          <a:cs typeface="+mj-cs"/>
        </a:defRPr>
      </a:lvl1pPr>
    </p:titleStyle>
    <p:bodyStyle>
      <a:lvl1pPr marL="180975" indent="-180975" algn="l" defTabSz="914400" rtl="0" eaLnBrk="1" latinLnBrk="0" hangingPunct="1">
        <a:lnSpc>
          <a:spcPct val="100000"/>
        </a:lnSpc>
        <a:spcBef>
          <a:spcPts val="400"/>
        </a:spcBef>
        <a:buFont typeface="Arial" panose="020B0604020202020204" pitchFamily="34" charset="0"/>
        <a:buChar char="•"/>
        <a:defRPr sz="1850" b="1" kern="1200">
          <a:solidFill>
            <a:schemeClr val="tx1"/>
          </a:solidFill>
          <a:latin typeface="+mn-lt"/>
          <a:ea typeface="+mn-ea"/>
          <a:cs typeface="+mn-cs"/>
        </a:defRPr>
      </a:lvl1pPr>
      <a:lvl2pPr marL="542925" indent="-180975" algn="l" defTabSz="914400" rtl="0" eaLnBrk="1" latinLnBrk="0" hangingPunct="1">
        <a:lnSpc>
          <a:spcPct val="100000"/>
        </a:lnSpc>
        <a:spcBef>
          <a:spcPts val="400"/>
        </a:spcBef>
        <a:buFont typeface="Arial" panose="020B0604020202020204" pitchFamily="34" charset="0"/>
        <a:buChar char="•"/>
        <a:defRPr sz="1850" kern="1200">
          <a:solidFill>
            <a:schemeClr val="tx1"/>
          </a:solidFill>
          <a:latin typeface="+mn-lt"/>
          <a:ea typeface="+mn-ea"/>
          <a:cs typeface="+mn-cs"/>
        </a:defRPr>
      </a:lvl2pPr>
      <a:lvl3pPr marL="714375" indent="-171450"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3pPr>
      <a:lvl4pPr marL="895350" indent="-180975"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4pPr>
      <a:lvl5pPr marL="1076325" indent="-180975"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4.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5.pn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image" Target="../media/image21.png"/><Relationship Id="rId5"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2.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xml"/><Relationship Id="rId3"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3.jpg"/><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image" Target="../media/image26.jpg"/><Relationship Id="rId6" Type="http://schemas.openxmlformats.org/officeDocument/2006/relationships/image" Target="../media/image27.jpg"/><Relationship Id="rId7" Type="http://schemas.openxmlformats.org/officeDocument/2006/relationships/image" Target="../media/image28.jpg"/><Relationship Id="rId8"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2.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9.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0.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1.png"/><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t>Can Photos Tell Us What's Wrong With a Jet Engine Blade?</a:t>
            </a:r>
          </a:p>
        </p:txBody>
      </p:sp>
      <p:sp>
        <p:nvSpPr>
          <p:cNvPr id="3" name="Subtitle 2"/>
          <p:cNvSpPr>
            <a:spLocks noGrp="1"/>
          </p:cNvSpPr>
          <p:nvPr>
            <p:ph type="subTitle" idx="1"/>
          </p:nvPr>
        </p:nvSpPr>
        <p:spPr/>
        <p:txBody>
          <a:bodyPr/>
          <a:lstStyle/>
          <a:p>
            <a:r>
              <a:t>Finding 3D Damage from Just a Few Pictures</a:t>
            </a:r>
          </a:p>
        </p:txBody>
      </p:sp>
      <p:sp>
        <p:nvSpPr>
          <p:cNvPr id="4" name="Text Placeholder 3"/>
          <p:cNvSpPr>
            <a:spLocks noGrp="1"/>
          </p:cNvSpPr>
          <p:nvPr>
            <p:ph type="body" sz="quarter" idx="10"/>
          </p:nvPr>
        </p:nvSpPr>
        <p:spPr/>
        <p:txBody>
          <a:bodyPr/>
          <a:lstStyle/>
          <a:p>
            <a:r>
              <a:t>[Your Name]  ·  October 2026</a:t>
            </a:r>
          </a:p>
        </p:txBody>
      </p:sp>
      <p:pic>
        <p:nvPicPr>
          <p:cNvPr id="6" name="Picture 5"/>
          <p:cNvPicPr>
            <a:picLocks noChangeAspect="1"/>
          </p:cNvPicPr>
          <p:nvPr/>
        </p:nvPicPr>
        <p:blipFill>
          <a:blip r:embed="rId2"/>
          <a:stretch>
            <a:fillRect/>
          </a:stretch>
        </p:blipFill>
        <p:spPr>
          <a:xfrm>
            <a:off x="9591675" y="300769"/>
            <a:ext cx="2152650" cy="2124075"/>
          </a:xfrm>
          <a:prstGeom prst="rect">
            <a:avLst/>
          </a:prstGeom>
        </p:spPr>
      </p:pic>
    </p:spTree>
    <p:extLst>
      <p:ext uri="{BB962C8B-B14F-4D97-AF65-F5344CB8AC3E}">
        <p14:creationId xmlns:p14="http://schemas.microsoft.com/office/powerpoint/2010/main" val="4213250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71600" y="4992624"/>
            <a:ext cx="9418320" cy="1316736"/>
          </a:xfrm>
          <a:prstGeom prst="rect">
            <a:avLst/>
          </a:prstGeom>
          <a:noFill/>
        </p:spPr>
        <p:txBody>
          <a:bodyPr wrap="square" anchor="t">
            <a:spAutoFit/>
          </a:bodyPr>
          <a:lstStyle/>
          <a:p>
            <a:pPr algn="ctr">
              <a:spcAft>
                <a:spcPts val="200"/>
              </a:spcAft>
            </a:pPr>
            <a:r>
              <a:rPr sz="1400" b="0">
                <a:solidFill>
                  <a:srgbClr val="FFFFFF"/>
                </a:solidFill>
              </a:rPr>
              <a:t>Paper: afeefaaazam03.github.io/3D-Jetblade/paper/BladeDelta_draft.pdf</a:t>
            </a:r>
          </a:p>
          <a:p>
            <a:pPr algn="ctr">
              <a:spcAft>
                <a:spcPts val="200"/>
              </a:spcAft>
            </a:pPr>
            <a:r>
              <a:rPr sz="1400" b="0">
                <a:solidFill>
                  <a:srgbClr val="FFFFFF"/>
                </a:solidFill>
              </a:rPr>
              <a:t>Code: github.com/afeefaaazam03/3D-Jetblade    ·    Demo: afeefaaazam03.github.io/3D-Jetblade/try.html</a:t>
            </a:r>
          </a:p>
          <a:p>
            <a:pPr algn="ctr">
              <a:spcAft>
                <a:spcPts val="200"/>
              </a:spcAft>
            </a:pPr>
            <a:r>
              <a:rPr sz="1400" b="0">
                <a:solidFill>
                  <a:srgbClr val="FFFFFF"/>
                </a:solidFill>
              </a:rPr>
              <a:t>Contact: [Your Email]</a:t>
            </a:r>
          </a:p>
        </p:txBody>
      </p:sp>
    </p:spTree>
    <p:extLst>
      <p:ext uri="{BB962C8B-B14F-4D97-AF65-F5344CB8AC3E}">
        <p14:creationId xmlns:p14="http://schemas.microsoft.com/office/powerpoint/2010/main" val="3493193385"/>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The Problem</a:t>
            </a:r>
          </a:p>
        </p:txBody>
      </p:sp>
      <p:sp>
        <p:nvSpPr>
          <p:cNvPr id="3" name="TextBox 2"/>
          <p:cNvSpPr txBox="1"/>
          <p:nvPr/>
        </p:nvSpPr>
        <p:spPr>
          <a:xfrm>
            <a:off x="548640" y="2029968"/>
            <a:ext cx="5760720" cy="2880360"/>
          </a:xfrm>
          <a:prstGeom prst="rect">
            <a:avLst/>
          </a:prstGeom>
          <a:noFill/>
        </p:spPr>
        <p:txBody>
          <a:bodyPr wrap="square" anchor="t">
            <a:spAutoFit/>
          </a:bodyPr>
          <a:lstStyle/>
          <a:p>
            <a:pPr algn="l">
              <a:spcAft>
                <a:spcPts val="800"/>
              </a:spcAft>
            </a:pPr>
            <a:r>
              <a:rPr sz="2400" b="0">
                <a:solidFill>
                  <a:srgbClr val="1F2937"/>
                </a:solidFill>
              </a:rPr>
              <a:t>•  Jet engine blades need regular inspection</a:t>
            </a:r>
          </a:p>
          <a:p>
            <a:pPr algn="l">
              <a:spcAft>
                <a:spcPts val="800"/>
              </a:spcAft>
            </a:pPr>
            <a:r>
              <a:rPr sz="2400" b="0">
                <a:solidFill>
                  <a:srgbClr val="1F2937"/>
                </a:solidFill>
              </a:rPr>
              <a:t>•  Inspectors look at photos and write reports</a:t>
            </a:r>
          </a:p>
          <a:p>
            <a:pPr algn="l">
              <a:spcAft>
                <a:spcPts val="800"/>
              </a:spcAft>
            </a:pPr>
            <a:r>
              <a:rPr sz="2400" b="0">
                <a:solidFill>
                  <a:srgbClr val="1F2937"/>
                </a:solidFill>
              </a:rPr>
              <a:t>•  But a dark spot in a photo could be many things</a:t>
            </a:r>
          </a:p>
        </p:txBody>
      </p:sp>
      <p:pic>
        <p:nvPicPr>
          <p:cNvPr id="4" name="Picture 3" descr="s2_whatisthis.png"/>
          <p:cNvPicPr>
            <a:picLocks noChangeAspect="1"/>
          </p:cNvPicPr>
          <p:nvPr/>
        </p:nvPicPr>
        <p:blipFill>
          <a:blip r:embed="rId2"/>
          <a:stretch>
            <a:fillRect/>
          </a:stretch>
        </p:blipFill>
        <p:spPr>
          <a:xfrm>
            <a:off x="7500322" y="1783080"/>
            <a:ext cx="3378794" cy="4608576"/>
          </a:xfrm>
          <a:prstGeom prst="rect">
            <a:avLst/>
          </a:prstGeom>
        </p:spPr>
      </p:pic>
      <p:sp>
        <p:nvSpPr>
          <p:cNvPr id="5" name="Rounded Rectangle 4"/>
          <p:cNvSpPr/>
          <p:nvPr/>
        </p:nvSpPr>
        <p:spPr>
          <a:xfrm>
            <a:off x="9052560" y="1906524"/>
            <a:ext cx="2377440" cy="534924"/>
          </a:xfrm>
          <a:prstGeom prst="round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E8B000"/>
                </a:solidFill>
              </a:rPr>
              <a:t>What is this?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What Could a Dark Spot Be?</a:t>
            </a:r>
          </a:p>
        </p:txBody>
      </p:sp>
      <p:pic>
        <p:nvPicPr>
          <p:cNvPr id="3" name="Picture 2" descr="s3_spot.png"/>
          <p:cNvPicPr>
            <a:picLocks noChangeAspect="1"/>
          </p:cNvPicPr>
          <p:nvPr/>
        </p:nvPicPr>
        <p:blipFill>
          <a:blip r:embed="rId2"/>
          <a:stretch>
            <a:fillRect/>
          </a:stretch>
        </p:blipFill>
        <p:spPr>
          <a:xfrm>
            <a:off x="676655" y="1947672"/>
            <a:ext cx="2304288" cy="2304288"/>
          </a:xfrm>
          <a:prstGeom prst="rect">
            <a:avLst/>
          </a:prstGeom>
        </p:spPr>
      </p:pic>
      <p:sp>
        <p:nvSpPr>
          <p:cNvPr id="4" name="Rounded Rectangle 3"/>
          <p:cNvSpPr/>
          <p:nvPr/>
        </p:nvSpPr>
        <p:spPr>
          <a:xfrm>
            <a:off x="548640" y="4375404"/>
            <a:ext cx="2560320" cy="576072"/>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DENT</a:t>
            </a:r>
          </a:p>
        </p:txBody>
      </p:sp>
      <p:sp>
        <p:nvSpPr>
          <p:cNvPr id="5" name="TextBox 4"/>
          <p:cNvSpPr txBox="1"/>
          <p:nvPr/>
        </p:nvSpPr>
        <p:spPr>
          <a:xfrm>
            <a:off x="548640" y="5033772"/>
            <a:ext cx="2560320" cy="658368"/>
          </a:xfrm>
          <a:prstGeom prst="rect">
            <a:avLst/>
          </a:prstGeom>
          <a:noFill/>
        </p:spPr>
        <p:txBody>
          <a:bodyPr wrap="square" anchor="t">
            <a:spAutoFit/>
          </a:bodyPr>
          <a:lstStyle/>
          <a:p>
            <a:pPr algn="ctr">
              <a:spcAft>
                <a:spcPts val="200"/>
              </a:spcAft>
            </a:pPr>
            <a:r>
              <a:rPr sz="1600" b="0">
                <a:solidFill>
                  <a:srgbClr val="5A6577"/>
                </a:solidFill>
              </a:rPr>
              <a:t>pushed-in metal: real damage</a:t>
            </a:r>
          </a:p>
        </p:txBody>
      </p:sp>
      <p:pic>
        <p:nvPicPr>
          <p:cNvPr id="6" name="Picture 5" descr="s3_spot.png"/>
          <p:cNvPicPr>
            <a:picLocks noChangeAspect="1"/>
          </p:cNvPicPr>
          <p:nvPr/>
        </p:nvPicPr>
        <p:blipFill>
          <a:blip r:embed="rId2"/>
          <a:stretch>
            <a:fillRect/>
          </a:stretch>
        </p:blipFill>
        <p:spPr>
          <a:xfrm>
            <a:off x="3511296" y="1947672"/>
            <a:ext cx="2304288" cy="2304288"/>
          </a:xfrm>
          <a:prstGeom prst="rect">
            <a:avLst/>
          </a:prstGeom>
        </p:spPr>
      </p:pic>
      <p:sp>
        <p:nvSpPr>
          <p:cNvPr id="7" name="Rounded Rectangle 6"/>
          <p:cNvSpPr/>
          <p:nvPr/>
        </p:nvSpPr>
        <p:spPr>
          <a:xfrm>
            <a:off x="3383280" y="4375404"/>
            <a:ext cx="2560320" cy="576072"/>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STAIN</a:t>
            </a:r>
          </a:p>
        </p:txBody>
      </p:sp>
      <p:sp>
        <p:nvSpPr>
          <p:cNvPr id="8" name="TextBox 7"/>
          <p:cNvSpPr txBox="1"/>
          <p:nvPr/>
        </p:nvSpPr>
        <p:spPr>
          <a:xfrm>
            <a:off x="3383280" y="5033772"/>
            <a:ext cx="2560320" cy="658368"/>
          </a:xfrm>
          <a:prstGeom prst="rect">
            <a:avLst/>
          </a:prstGeom>
          <a:noFill/>
        </p:spPr>
        <p:txBody>
          <a:bodyPr wrap="square" anchor="t">
            <a:spAutoFit/>
          </a:bodyPr>
          <a:lstStyle/>
          <a:p>
            <a:pPr algn="ctr">
              <a:spcAft>
                <a:spcPts val="200"/>
              </a:spcAft>
            </a:pPr>
            <a:r>
              <a:rPr sz="1600" b="0">
                <a:solidFill>
                  <a:srgbClr val="5A6577"/>
                </a:solidFill>
              </a:rPr>
              <a:t>only the colour changed</a:t>
            </a:r>
          </a:p>
        </p:txBody>
      </p:sp>
      <p:pic>
        <p:nvPicPr>
          <p:cNvPr id="9" name="Picture 8" descr="s3_spot.png"/>
          <p:cNvPicPr>
            <a:picLocks noChangeAspect="1"/>
          </p:cNvPicPr>
          <p:nvPr/>
        </p:nvPicPr>
        <p:blipFill>
          <a:blip r:embed="rId2"/>
          <a:stretch>
            <a:fillRect/>
          </a:stretch>
        </p:blipFill>
        <p:spPr>
          <a:xfrm>
            <a:off x="6345936" y="1947672"/>
            <a:ext cx="2304288" cy="2304288"/>
          </a:xfrm>
          <a:prstGeom prst="rect">
            <a:avLst/>
          </a:prstGeom>
        </p:spPr>
      </p:pic>
      <p:sp>
        <p:nvSpPr>
          <p:cNvPr id="10" name="Rounded Rectangle 9"/>
          <p:cNvSpPr/>
          <p:nvPr/>
        </p:nvSpPr>
        <p:spPr>
          <a:xfrm>
            <a:off x="6217920" y="4375404"/>
            <a:ext cx="2560320" cy="576072"/>
          </a:xfrm>
          <a:prstGeom prst="roundRect">
            <a:avLst/>
          </a:prstGeom>
          <a:solidFill>
            <a:srgbClr val="E8B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LIGHTING</a:t>
            </a:r>
          </a:p>
        </p:txBody>
      </p:sp>
      <p:sp>
        <p:nvSpPr>
          <p:cNvPr id="11" name="TextBox 10"/>
          <p:cNvSpPr txBox="1"/>
          <p:nvPr/>
        </p:nvSpPr>
        <p:spPr>
          <a:xfrm>
            <a:off x="6217920" y="5033772"/>
            <a:ext cx="2560320" cy="658368"/>
          </a:xfrm>
          <a:prstGeom prst="rect">
            <a:avLst/>
          </a:prstGeom>
          <a:noFill/>
        </p:spPr>
        <p:txBody>
          <a:bodyPr wrap="square" anchor="t">
            <a:spAutoFit/>
          </a:bodyPr>
          <a:lstStyle/>
          <a:p>
            <a:pPr algn="ctr">
              <a:spcAft>
                <a:spcPts val="200"/>
              </a:spcAft>
            </a:pPr>
            <a:r>
              <a:rPr sz="1600" b="0">
                <a:solidFill>
                  <a:srgbClr val="5A6577"/>
                </a:solidFill>
              </a:rPr>
              <a:t>a lamp brighter or dimmer</a:t>
            </a:r>
          </a:p>
        </p:txBody>
      </p:sp>
      <p:pic>
        <p:nvPicPr>
          <p:cNvPr id="12" name="Picture 11" descr="s3_spot.png"/>
          <p:cNvPicPr>
            <a:picLocks noChangeAspect="1"/>
          </p:cNvPicPr>
          <p:nvPr/>
        </p:nvPicPr>
        <p:blipFill>
          <a:blip r:embed="rId2"/>
          <a:stretch>
            <a:fillRect/>
          </a:stretch>
        </p:blipFill>
        <p:spPr>
          <a:xfrm>
            <a:off x="9180576" y="1947672"/>
            <a:ext cx="2304288" cy="2304288"/>
          </a:xfrm>
          <a:prstGeom prst="rect">
            <a:avLst/>
          </a:prstGeom>
        </p:spPr>
      </p:pic>
      <p:sp>
        <p:nvSpPr>
          <p:cNvPr id="13" name="Rounded Rectangle 12"/>
          <p:cNvSpPr/>
          <p:nvPr/>
        </p:nvSpPr>
        <p:spPr>
          <a:xfrm>
            <a:off x="9052560" y="4375404"/>
            <a:ext cx="2560320" cy="57607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CAMERA ERROR</a:t>
            </a:r>
          </a:p>
        </p:txBody>
      </p:sp>
      <p:sp>
        <p:nvSpPr>
          <p:cNvPr id="14" name="TextBox 13"/>
          <p:cNvSpPr txBox="1"/>
          <p:nvPr/>
        </p:nvSpPr>
        <p:spPr>
          <a:xfrm>
            <a:off x="9052560" y="5033772"/>
            <a:ext cx="2560320" cy="658368"/>
          </a:xfrm>
          <a:prstGeom prst="rect">
            <a:avLst/>
          </a:prstGeom>
          <a:noFill/>
        </p:spPr>
        <p:txBody>
          <a:bodyPr wrap="square" anchor="t">
            <a:spAutoFit/>
          </a:bodyPr>
          <a:lstStyle/>
          <a:p>
            <a:pPr algn="ctr">
              <a:spcAft>
                <a:spcPts val="200"/>
              </a:spcAft>
            </a:pPr>
            <a:r>
              <a:rPr sz="1600" b="0">
                <a:solidFill>
                  <a:srgbClr val="5A6577"/>
                </a:solidFill>
              </a:rPr>
              <a:t>the camera moved 1°</a:t>
            </a:r>
          </a:p>
        </p:txBody>
      </p:sp>
      <p:sp>
        <p:nvSpPr>
          <p:cNvPr id="15" name="TextBox 14"/>
          <p:cNvSpPr txBox="1"/>
          <p:nvPr/>
        </p:nvSpPr>
        <p:spPr>
          <a:xfrm>
            <a:off x="548640" y="5856731"/>
            <a:ext cx="11064240" cy="493776"/>
          </a:xfrm>
          <a:prstGeom prst="rect">
            <a:avLst/>
          </a:prstGeom>
          <a:noFill/>
        </p:spPr>
        <p:txBody>
          <a:bodyPr wrap="square" anchor="t">
            <a:spAutoFit/>
          </a:bodyPr>
          <a:lstStyle/>
          <a:p>
            <a:pPr algn="ctr">
              <a:spcAft>
                <a:spcPts val="200"/>
              </a:spcAft>
            </a:pPr>
            <a:r>
              <a:rPr sz="2400" b="1">
                <a:solidFill>
                  <a:srgbClr val="0047BB"/>
                </a:solidFill>
              </a:rPr>
              <a:t>In a photo, all four can look almost exactly the same.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Why This Is Hard</a:t>
            </a:r>
          </a:p>
        </p:txBody>
      </p:sp>
      <p:sp>
        <p:nvSpPr>
          <p:cNvPr id="3" name="TextBox 2"/>
          <p:cNvSpPr txBox="1"/>
          <p:nvPr/>
        </p:nvSpPr>
        <p:spPr>
          <a:xfrm>
            <a:off x="548640" y="2029968"/>
            <a:ext cx="4937760" cy="3703320"/>
          </a:xfrm>
          <a:prstGeom prst="rect">
            <a:avLst/>
          </a:prstGeom>
          <a:noFill/>
        </p:spPr>
        <p:txBody>
          <a:bodyPr wrap="square" anchor="t">
            <a:spAutoFit/>
          </a:bodyPr>
          <a:lstStyle/>
          <a:p>
            <a:pPr algn="l">
              <a:spcAft>
                <a:spcPts val="800"/>
              </a:spcAft>
            </a:pPr>
            <a:r>
              <a:rPr sz="2200" b="0">
                <a:solidFill>
                  <a:srgbClr val="1F2937"/>
                </a:solidFill>
              </a:rPr>
              <a:t>•  A dent is a 3D shape change</a:t>
            </a:r>
          </a:p>
          <a:p>
            <a:pPr algn="l">
              <a:spcAft>
                <a:spcPts val="800"/>
              </a:spcAft>
            </a:pPr>
            <a:r>
              <a:rPr sz="2200" b="0">
                <a:solidFill>
                  <a:srgbClr val="1F2937"/>
                </a:solidFill>
              </a:rPr>
              <a:t>•  A stain is just a colour change</a:t>
            </a:r>
          </a:p>
          <a:p>
            <a:pPr algn="l">
              <a:spcAft>
                <a:spcPts val="800"/>
              </a:spcAft>
            </a:pPr>
            <a:r>
              <a:rPr sz="2200" b="0">
                <a:solidFill>
                  <a:srgbClr val="1F2937"/>
                </a:solidFill>
              </a:rPr>
              <a:t>•  A lighting artifact is a shadow or glare</a:t>
            </a:r>
          </a:p>
          <a:p>
            <a:pPr algn="l">
              <a:spcAft>
                <a:spcPts val="800"/>
              </a:spcAft>
            </a:pPr>
            <a:r>
              <a:rPr sz="2200" b="0">
                <a:solidFill>
                  <a:srgbClr val="1F2937"/>
                </a:solidFill>
              </a:rPr>
              <a:t>•  A camera error is a small shift</a:t>
            </a:r>
          </a:p>
          <a:p>
            <a:pPr algn="l">
              <a:spcAft>
                <a:spcPts val="800"/>
              </a:spcAft>
            </a:pPr>
            <a:r>
              <a:rPr sz="2200" b="0">
                <a:solidFill>
                  <a:srgbClr val="1F2937"/>
                </a:solidFill>
              </a:rPr>
              <a:t>•  A 0.1 mm dent changes the photo by only a few grey levels</a:t>
            </a:r>
          </a:p>
        </p:txBody>
      </p:sp>
      <p:pic>
        <p:nvPicPr>
          <p:cNvPr id="4" name="Picture 3" descr="s4_causes.png"/>
          <p:cNvPicPr>
            <a:picLocks noChangeAspect="1"/>
          </p:cNvPicPr>
          <p:nvPr/>
        </p:nvPicPr>
        <p:blipFill>
          <a:blip r:embed="rId2"/>
          <a:stretch>
            <a:fillRect/>
          </a:stretch>
        </p:blipFill>
        <p:spPr>
          <a:xfrm>
            <a:off x="5669280" y="2208276"/>
            <a:ext cx="6035040" cy="392277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Our Idea: Evidence-Bounded 3D Damage Estimation</a:t>
            </a:r>
          </a:p>
        </p:txBody>
      </p:sp>
      <p:sp>
        <p:nvSpPr>
          <p:cNvPr id="3" name="TextBox 2"/>
          <p:cNvSpPr txBox="1"/>
          <p:nvPr/>
        </p:nvSpPr>
        <p:spPr>
          <a:xfrm>
            <a:off x="548640" y="1906524"/>
            <a:ext cx="10972800" cy="987552"/>
          </a:xfrm>
          <a:prstGeom prst="rect">
            <a:avLst/>
          </a:prstGeom>
          <a:noFill/>
        </p:spPr>
        <p:txBody>
          <a:bodyPr wrap="square" anchor="t">
            <a:spAutoFit/>
          </a:bodyPr>
          <a:lstStyle/>
          <a:p>
            <a:pPr algn="l">
              <a:spcAft>
                <a:spcPts val="200"/>
              </a:spcAft>
            </a:pPr>
            <a:r>
              <a:rPr sz="2000" b="0">
                <a:solidFill>
                  <a:srgbClr val="5A6577"/>
                </a:solidFill>
              </a:rPr>
              <a:t>Given a healthy CAD model + a few photos, find physical damage in 3D,</a:t>
            </a:r>
          </a:p>
          <a:p>
            <a:pPr algn="l">
              <a:spcAft>
                <a:spcPts val="200"/>
              </a:spcAft>
            </a:pPr>
            <a:r>
              <a:rPr sz="2000" b="0">
                <a:solidFill>
                  <a:srgbClr val="5A6577"/>
                </a:solidFill>
              </a:rPr>
              <a:t>but only when the photos actually prove it. If not sure, say "not enough evidence".</a:t>
            </a:r>
          </a:p>
        </p:txBody>
      </p:sp>
      <p:pic>
        <p:nvPicPr>
          <p:cNvPr id="4" name="Picture 3" descr="s8_healthy.png"/>
          <p:cNvPicPr>
            <a:picLocks noChangeAspect="1"/>
          </p:cNvPicPr>
          <p:nvPr/>
        </p:nvPicPr>
        <p:blipFill>
          <a:blip r:embed="rId2"/>
          <a:stretch>
            <a:fillRect/>
          </a:stretch>
        </p:blipFill>
        <p:spPr>
          <a:xfrm>
            <a:off x="632957" y="3099816"/>
            <a:ext cx="1568725" cy="2139696"/>
          </a:xfrm>
          <a:prstGeom prst="rect">
            <a:avLst/>
          </a:prstGeom>
        </p:spPr>
      </p:pic>
      <p:pic>
        <p:nvPicPr>
          <p:cNvPr id="5" name="Picture 4" descr="s8_photo.png"/>
          <p:cNvPicPr>
            <a:picLocks noChangeAspect="1"/>
          </p:cNvPicPr>
          <p:nvPr/>
        </p:nvPicPr>
        <p:blipFill>
          <a:blip r:embed="rId3"/>
          <a:stretch>
            <a:fillRect/>
          </a:stretch>
        </p:blipFill>
        <p:spPr>
          <a:xfrm>
            <a:off x="2461757" y="3099816"/>
            <a:ext cx="1568725" cy="2139696"/>
          </a:xfrm>
          <a:prstGeom prst="rect">
            <a:avLst/>
          </a:prstGeom>
        </p:spPr>
      </p:pic>
      <p:sp>
        <p:nvSpPr>
          <p:cNvPr id="6" name="TextBox 5"/>
          <p:cNvSpPr txBox="1"/>
          <p:nvPr/>
        </p:nvSpPr>
        <p:spPr>
          <a:xfrm>
            <a:off x="548640" y="5280660"/>
            <a:ext cx="3566160" cy="411480"/>
          </a:xfrm>
          <a:prstGeom prst="rect">
            <a:avLst/>
          </a:prstGeom>
          <a:noFill/>
        </p:spPr>
        <p:txBody>
          <a:bodyPr wrap="square" anchor="t">
            <a:spAutoFit/>
          </a:bodyPr>
          <a:lstStyle/>
          <a:p>
            <a:pPr algn="ctr">
              <a:spcAft>
                <a:spcPts val="200"/>
              </a:spcAft>
            </a:pPr>
            <a:r>
              <a:rPr sz="1600" b="0">
                <a:solidFill>
                  <a:srgbClr val="5A6577"/>
                </a:solidFill>
              </a:rPr>
              <a:t>healthy CAD   +   photos</a:t>
            </a:r>
          </a:p>
        </p:txBody>
      </p:sp>
      <p:sp>
        <p:nvSpPr>
          <p:cNvPr id="7" name="Right Arrow 6"/>
          <p:cNvSpPr/>
          <p:nvPr/>
        </p:nvSpPr>
        <p:spPr>
          <a:xfrm>
            <a:off x="4297680" y="4005072"/>
            <a:ext cx="54864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0" y="3346704"/>
            <a:ext cx="2651760" cy="164592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Compare two</a:t>
            </a:r>
          </a:p>
          <a:p>
            <a:pPr algn="ctr"/>
            <a:r>
              <a:rPr sz="1600" b="0">
                <a:solidFill>
                  <a:srgbClr val="FFFFFF"/>
                </a:solidFill>
              </a:rPr>
              <a:t>explanations</a:t>
            </a:r>
          </a:p>
          <a:p>
            <a:pPr algn="ctr"/>
            <a:r>
              <a:rPr sz="1600" b="0">
                <a:solidFill>
                  <a:srgbClr val="FFFFFF"/>
                </a:solidFill>
              </a:rPr>
              <a:t>"nothing broke"</a:t>
            </a:r>
          </a:p>
          <a:p>
            <a:pPr algn="ctr"/>
            <a:r>
              <a:rPr sz="1600" b="0">
                <a:solidFill>
                  <a:srgbClr val="FFFFFF"/>
                </a:solidFill>
              </a:rPr>
              <a:t>vs "plus a dent"</a:t>
            </a:r>
          </a:p>
        </p:txBody>
      </p:sp>
      <p:sp>
        <p:nvSpPr>
          <p:cNvPr id="9" name="Right Arrow 8"/>
          <p:cNvSpPr/>
          <p:nvPr/>
        </p:nvSpPr>
        <p:spPr>
          <a:xfrm>
            <a:off x="7863840" y="3552444"/>
            <a:ext cx="54864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7863840" y="4704588"/>
            <a:ext cx="54864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595360" y="3017520"/>
            <a:ext cx="3108960" cy="1028700"/>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DAMAGE FOUND</a:t>
            </a:r>
          </a:p>
          <a:p>
            <a:pPr algn="ctr"/>
            <a:r>
              <a:rPr sz="1800" b="0">
                <a:solidFill>
                  <a:srgbClr val="FFFFFF"/>
                </a:solidFill>
              </a:rPr>
              <a:t>0.35 mm deep, here</a:t>
            </a:r>
          </a:p>
        </p:txBody>
      </p:sp>
      <p:sp>
        <p:nvSpPr>
          <p:cNvPr id="12" name="Rounded Rectangle 11"/>
          <p:cNvSpPr/>
          <p:nvPr/>
        </p:nvSpPr>
        <p:spPr>
          <a:xfrm>
            <a:off x="8595360" y="4375404"/>
            <a:ext cx="3108960" cy="1028700"/>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NOT ENOUGH</a:t>
            </a:r>
          </a:p>
          <a:p>
            <a:pPr algn="ctr"/>
            <a:r>
              <a:rPr sz="1800" b="0">
                <a:solidFill>
                  <a:srgbClr val="FFFFFF"/>
                </a:solidFill>
              </a:rPr>
              <a:t>EVIDENCE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How It Works</a:t>
            </a:r>
          </a:p>
        </p:txBody>
      </p:sp>
      <p:sp>
        <p:nvSpPr>
          <p:cNvPr id="3" name="Rounded Rectangle 2"/>
          <p:cNvSpPr/>
          <p:nvPr/>
        </p:nvSpPr>
        <p:spPr>
          <a:xfrm>
            <a:off x="457200" y="2441448"/>
            <a:ext cx="2468880" cy="181051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1. Explain without damage</a:t>
            </a:r>
          </a:p>
          <a:p>
            <a:pPr algn="ctr"/>
            <a:r>
              <a:rPr sz="1700" b="0">
                <a:solidFill>
                  <a:srgbClr val="FFFFFF"/>
                </a:solidFill>
              </a:rPr>
              <a:t>camera · light · stain</a:t>
            </a:r>
          </a:p>
        </p:txBody>
      </p:sp>
      <p:sp>
        <p:nvSpPr>
          <p:cNvPr id="4" name="Right Arrow 3"/>
          <p:cNvSpPr/>
          <p:nvPr/>
        </p:nvSpPr>
        <p:spPr>
          <a:xfrm>
            <a:off x="2944368" y="3182112"/>
            <a:ext cx="41148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383280" y="2441448"/>
            <a:ext cx="2468880" cy="1810512"/>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2. Find suspicious regions</a:t>
            </a:r>
          </a:p>
          <a:p>
            <a:pPr algn="ctr"/>
            <a:r>
              <a:rPr sz="1700" b="0">
                <a:solidFill>
                  <a:srgbClr val="FFFFFF"/>
                </a:solidFill>
              </a:rPr>
              <a:t>quick check of the whole surface</a:t>
            </a:r>
          </a:p>
        </p:txBody>
      </p:sp>
      <p:sp>
        <p:nvSpPr>
          <p:cNvPr id="6" name="Right Arrow 5"/>
          <p:cNvSpPr/>
          <p:nvPr/>
        </p:nvSpPr>
        <p:spPr>
          <a:xfrm>
            <a:off x="5870448" y="3182112"/>
            <a:ext cx="41148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09360" y="2441448"/>
            <a:ext cx="2468880" cy="1810512"/>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3. Estimate 3D shape</a:t>
            </a:r>
          </a:p>
          <a:p>
            <a:pPr algn="ctr"/>
            <a:r>
              <a:rPr sz="1700" b="0">
                <a:solidFill>
                  <a:srgbClr val="FFFFFF"/>
                </a:solidFill>
              </a:rPr>
              <a:t>fit a smooth dent</a:t>
            </a:r>
          </a:p>
        </p:txBody>
      </p:sp>
      <p:sp>
        <p:nvSpPr>
          <p:cNvPr id="8" name="Right Arrow 7"/>
          <p:cNvSpPr/>
          <p:nvPr/>
        </p:nvSpPr>
        <p:spPr>
          <a:xfrm>
            <a:off x="8796528" y="3182112"/>
            <a:ext cx="41148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235440" y="2441448"/>
            <a:ext cx="2468880" cy="1810512"/>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4. Test the evidence</a:t>
            </a:r>
          </a:p>
          <a:p>
            <a:pPr algn="ctr"/>
            <a:r>
              <a:rPr sz="1700" b="0">
                <a:solidFill>
                  <a:srgbClr val="FFFFFF"/>
                </a:solidFill>
              </a:rPr>
              <a:t>beat a calibrated threshold?</a:t>
            </a:r>
          </a:p>
        </p:txBody>
      </p:sp>
      <p:sp>
        <p:nvSpPr>
          <p:cNvPr id="10" name="Rounded Rectangle 9"/>
          <p:cNvSpPr/>
          <p:nvPr/>
        </p:nvSpPr>
        <p:spPr>
          <a:xfrm>
            <a:off x="457200" y="4745736"/>
            <a:ext cx="11247120" cy="740664"/>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1F2937"/>
                </a:solidFill>
              </a:rPr>
              <a:t>If the evidence is strong → report the dent.   If it is weak → abstain ("not supported").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Step 1: Explain the Photos Without Assuming Damage</a:t>
            </a:r>
          </a:p>
        </p:txBody>
      </p:sp>
      <p:pic>
        <p:nvPicPr>
          <p:cNvPr id="3" name="Picture 2" descr="c_cam.png"/>
          <p:cNvPicPr>
            <a:picLocks noChangeAspect="1"/>
          </p:cNvPicPr>
          <p:nvPr/>
        </p:nvPicPr>
        <p:blipFill>
          <a:blip r:embed="rId2"/>
          <a:stretch>
            <a:fillRect/>
          </a:stretch>
        </p:blipFill>
        <p:spPr>
          <a:xfrm>
            <a:off x="548640" y="2350824"/>
            <a:ext cx="3474720" cy="1991759"/>
          </a:xfrm>
          <a:prstGeom prst="rect">
            <a:avLst/>
          </a:prstGeom>
        </p:spPr>
      </p:pic>
      <p:sp>
        <p:nvSpPr>
          <p:cNvPr id="4" name="Rounded Rectangle 3"/>
          <p:cNvSpPr/>
          <p:nvPr/>
        </p:nvSpPr>
        <p:spPr>
          <a:xfrm>
            <a:off x="548640" y="4869180"/>
            <a:ext cx="3474720" cy="57607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Fix camera position</a:t>
            </a:r>
          </a:p>
        </p:txBody>
      </p:sp>
      <p:pic>
        <p:nvPicPr>
          <p:cNvPr id="5" name="Picture 4" descr="c_light.png"/>
          <p:cNvPicPr>
            <a:picLocks noChangeAspect="1"/>
          </p:cNvPicPr>
          <p:nvPr/>
        </p:nvPicPr>
        <p:blipFill>
          <a:blip r:embed="rId3"/>
          <a:stretch>
            <a:fillRect/>
          </a:stretch>
        </p:blipFill>
        <p:spPr>
          <a:xfrm>
            <a:off x="4343400" y="2350824"/>
            <a:ext cx="3474720" cy="1991759"/>
          </a:xfrm>
          <a:prstGeom prst="rect">
            <a:avLst/>
          </a:prstGeom>
        </p:spPr>
      </p:pic>
      <p:sp>
        <p:nvSpPr>
          <p:cNvPr id="6" name="Rounded Rectangle 5"/>
          <p:cNvSpPr/>
          <p:nvPr/>
        </p:nvSpPr>
        <p:spPr>
          <a:xfrm>
            <a:off x="4343400" y="4869180"/>
            <a:ext cx="3474720" cy="57607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Fix lighting changes</a:t>
            </a:r>
          </a:p>
        </p:txBody>
      </p:sp>
      <p:pic>
        <p:nvPicPr>
          <p:cNvPr id="7" name="Picture 6" descr="c_stain.png"/>
          <p:cNvPicPr>
            <a:picLocks noChangeAspect="1"/>
          </p:cNvPicPr>
          <p:nvPr/>
        </p:nvPicPr>
        <p:blipFill>
          <a:blip r:embed="rId4"/>
          <a:stretch>
            <a:fillRect/>
          </a:stretch>
        </p:blipFill>
        <p:spPr>
          <a:xfrm>
            <a:off x="8464829" y="1947672"/>
            <a:ext cx="2821381" cy="2798064"/>
          </a:xfrm>
          <a:prstGeom prst="rect">
            <a:avLst/>
          </a:prstGeom>
        </p:spPr>
      </p:pic>
      <p:sp>
        <p:nvSpPr>
          <p:cNvPr id="8" name="Rounded Rectangle 7"/>
          <p:cNvSpPr/>
          <p:nvPr/>
        </p:nvSpPr>
        <p:spPr>
          <a:xfrm>
            <a:off x="8138160" y="4869180"/>
            <a:ext cx="3474720" cy="576072"/>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Fix stains</a:t>
            </a:r>
          </a:p>
        </p:txBody>
      </p:sp>
      <p:sp>
        <p:nvSpPr>
          <p:cNvPr id="9" name="TextBox 8"/>
          <p:cNvSpPr txBox="1"/>
          <p:nvPr/>
        </p:nvSpPr>
        <p:spPr>
          <a:xfrm>
            <a:off x="548640" y="5650992"/>
            <a:ext cx="11064240" cy="493776"/>
          </a:xfrm>
          <a:prstGeom prst="rect">
            <a:avLst/>
          </a:prstGeom>
          <a:noFill/>
        </p:spPr>
        <p:txBody>
          <a:bodyPr wrap="square" anchor="t">
            <a:spAutoFit/>
          </a:bodyPr>
          <a:lstStyle/>
          <a:p>
            <a:pPr algn="ctr">
              <a:spcAft>
                <a:spcPts val="200"/>
              </a:spcAft>
            </a:pPr>
            <a:r>
              <a:rPr sz="2200" b="1">
                <a:solidFill>
                  <a:srgbClr val="0047BB"/>
                </a:solidFill>
              </a:rPr>
              <a:t>This gives us the best 'no damage' explanation.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Step 2: Find Where Damage Could Be</a:t>
            </a:r>
          </a:p>
        </p:txBody>
      </p:sp>
      <p:pic>
        <p:nvPicPr>
          <p:cNvPr id="3" name="Picture 2" descr="s8_photo.png"/>
          <p:cNvPicPr>
            <a:picLocks noChangeAspect="1"/>
          </p:cNvPicPr>
          <p:nvPr/>
        </p:nvPicPr>
        <p:blipFill>
          <a:blip r:embed="rId2"/>
          <a:stretch>
            <a:fillRect/>
          </a:stretch>
        </p:blipFill>
        <p:spPr>
          <a:xfrm>
            <a:off x="927512" y="1947672"/>
            <a:ext cx="2534095" cy="3456432"/>
          </a:xfrm>
          <a:prstGeom prst="rect">
            <a:avLst/>
          </a:prstGeom>
        </p:spPr>
      </p:pic>
      <p:sp>
        <p:nvSpPr>
          <p:cNvPr id="4" name="TextBox 3"/>
          <p:cNvSpPr txBox="1"/>
          <p:nvPr/>
        </p:nvSpPr>
        <p:spPr>
          <a:xfrm>
            <a:off x="640080" y="5486400"/>
            <a:ext cx="3108960" cy="411480"/>
          </a:xfrm>
          <a:prstGeom prst="rect">
            <a:avLst/>
          </a:prstGeom>
          <a:noFill/>
        </p:spPr>
        <p:txBody>
          <a:bodyPr wrap="square" anchor="t">
            <a:spAutoFit/>
          </a:bodyPr>
          <a:lstStyle/>
          <a:p>
            <a:pPr algn="ctr">
              <a:spcAft>
                <a:spcPts val="200"/>
              </a:spcAft>
            </a:pPr>
            <a:r>
              <a:rPr sz="2000" b="1">
                <a:solidFill>
                  <a:srgbClr val="1F2937"/>
                </a:solidFill>
              </a:rPr>
              <a:t>Photo</a:t>
            </a:r>
          </a:p>
        </p:txBody>
      </p:sp>
      <p:pic>
        <p:nvPicPr>
          <p:cNvPr id="5" name="Picture 4" descr="s8_healthy.png"/>
          <p:cNvPicPr>
            <a:picLocks noChangeAspect="1"/>
          </p:cNvPicPr>
          <p:nvPr/>
        </p:nvPicPr>
        <p:blipFill>
          <a:blip r:embed="rId3"/>
          <a:stretch>
            <a:fillRect/>
          </a:stretch>
        </p:blipFill>
        <p:spPr>
          <a:xfrm>
            <a:off x="4859432" y="1947672"/>
            <a:ext cx="2534095" cy="3456432"/>
          </a:xfrm>
          <a:prstGeom prst="rect">
            <a:avLst/>
          </a:prstGeom>
        </p:spPr>
      </p:pic>
      <p:sp>
        <p:nvSpPr>
          <p:cNvPr id="6" name="TextBox 5"/>
          <p:cNvSpPr txBox="1"/>
          <p:nvPr/>
        </p:nvSpPr>
        <p:spPr>
          <a:xfrm>
            <a:off x="4572000" y="5486400"/>
            <a:ext cx="3108960" cy="411480"/>
          </a:xfrm>
          <a:prstGeom prst="rect">
            <a:avLst/>
          </a:prstGeom>
          <a:noFill/>
        </p:spPr>
        <p:txBody>
          <a:bodyPr wrap="square" anchor="t">
            <a:spAutoFit/>
          </a:bodyPr>
          <a:lstStyle/>
          <a:p>
            <a:pPr algn="ctr">
              <a:spcAft>
                <a:spcPts val="200"/>
              </a:spcAft>
            </a:pPr>
            <a:r>
              <a:rPr sz="2000" b="1">
                <a:solidFill>
                  <a:srgbClr val="1F2937"/>
                </a:solidFill>
              </a:rPr>
              <a:t>Healthy render</a:t>
            </a:r>
          </a:p>
        </p:txBody>
      </p:sp>
      <p:pic>
        <p:nvPicPr>
          <p:cNvPr id="7" name="Picture 6" descr="s8_residual.png"/>
          <p:cNvPicPr>
            <a:picLocks noChangeAspect="1"/>
          </p:cNvPicPr>
          <p:nvPr/>
        </p:nvPicPr>
        <p:blipFill>
          <a:blip r:embed="rId4"/>
          <a:stretch>
            <a:fillRect/>
          </a:stretch>
        </p:blipFill>
        <p:spPr>
          <a:xfrm>
            <a:off x="8791352" y="1947672"/>
            <a:ext cx="2534095" cy="3456432"/>
          </a:xfrm>
          <a:prstGeom prst="rect">
            <a:avLst/>
          </a:prstGeom>
        </p:spPr>
      </p:pic>
      <p:sp>
        <p:nvSpPr>
          <p:cNvPr id="8" name="TextBox 7"/>
          <p:cNvSpPr txBox="1"/>
          <p:nvPr/>
        </p:nvSpPr>
        <p:spPr>
          <a:xfrm>
            <a:off x="8503919" y="5486400"/>
            <a:ext cx="3108960" cy="411480"/>
          </a:xfrm>
          <a:prstGeom prst="rect">
            <a:avLst/>
          </a:prstGeom>
          <a:noFill/>
        </p:spPr>
        <p:txBody>
          <a:bodyPr wrap="square" anchor="t">
            <a:spAutoFit/>
          </a:bodyPr>
          <a:lstStyle/>
          <a:p>
            <a:pPr algn="ctr">
              <a:spcAft>
                <a:spcPts val="200"/>
              </a:spcAft>
            </a:pPr>
            <a:r>
              <a:rPr sz="2000" b="1">
                <a:solidFill>
                  <a:srgbClr val="1F2937"/>
                </a:solidFill>
              </a:rPr>
              <a:t>Difference</a:t>
            </a:r>
          </a:p>
        </p:txBody>
      </p:sp>
      <p:sp>
        <p:nvSpPr>
          <p:cNvPr id="9" name="TextBox 8"/>
          <p:cNvSpPr txBox="1"/>
          <p:nvPr/>
        </p:nvSpPr>
        <p:spPr>
          <a:xfrm>
            <a:off x="3749039" y="3346704"/>
            <a:ext cx="822960" cy="740664"/>
          </a:xfrm>
          <a:prstGeom prst="rect">
            <a:avLst/>
          </a:prstGeom>
          <a:noFill/>
        </p:spPr>
        <p:txBody>
          <a:bodyPr wrap="square" anchor="t">
            <a:spAutoFit/>
          </a:bodyPr>
          <a:lstStyle/>
          <a:p>
            <a:pPr algn="ctr">
              <a:spcAft>
                <a:spcPts val="200"/>
              </a:spcAft>
            </a:pPr>
            <a:r>
              <a:rPr sz="5400" b="1">
                <a:solidFill>
                  <a:srgbClr val="5A6577"/>
                </a:solidFill>
              </a:rPr>
              <a:t>−</a:t>
            </a:r>
          </a:p>
        </p:txBody>
      </p:sp>
      <p:sp>
        <p:nvSpPr>
          <p:cNvPr id="10" name="TextBox 9"/>
          <p:cNvSpPr txBox="1"/>
          <p:nvPr/>
        </p:nvSpPr>
        <p:spPr>
          <a:xfrm>
            <a:off x="7680960" y="3346704"/>
            <a:ext cx="822960" cy="740664"/>
          </a:xfrm>
          <a:prstGeom prst="rect">
            <a:avLst/>
          </a:prstGeom>
          <a:noFill/>
        </p:spPr>
        <p:txBody>
          <a:bodyPr wrap="square" anchor="t">
            <a:spAutoFit/>
          </a:bodyPr>
          <a:lstStyle/>
          <a:p>
            <a:pPr algn="ctr">
              <a:spcAft>
                <a:spcPts val="200"/>
              </a:spcAft>
            </a:pPr>
            <a:r>
              <a:rPr sz="5400" b="1">
                <a:solidFill>
                  <a:srgbClr val="5A6577"/>
                </a:solidFill>
              </a:rPr>
              <a:t>=</a:t>
            </a:r>
          </a:p>
        </p:txBody>
      </p:sp>
      <p:sp>
        <p:nvSpPr>
          <p:cNvPr id="11" name="TextBox 10"/>
          <p:cNvSpPr txBox="1"/>
          <p:nvPr/>
        </p:nvSpPr>
        <p:spPr>
          <a:xfrm>
            <a:off x="8046720" y="5856731"/>
            <a:ext cx="3840480" cy="411480"/>
          </a:xfrm>
          <a:prstGeom prst="rect">
            <a:avLst/>
          </a:prstGeom>
          <a:noFill/>
        </p:spPr>
        <p:txBody>
          <a:bodyPr wrap="square" anchor="t">
            <a:spAutoFit/>
          </a:bodyPr>
          <a:lstStyle/>
          <a:p>
            <a:pPr algn="ctr">
              <a:spcAft>
                <a:spcPts val="200"/>
              </a:spcAft>
            </a:pPr>
            <a:r>
              <a:rPr sz="1800" b="1">
                <a:solidFill>
                  <a:srgbClr val="E8833A"/>
                </a:solidFill>
              </a:rPr>
              <a:t>Bright = suspicious region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Step 3: Estimate the 3D Shape</a:t>
            </a:r>
          </a:p>
        </p:txBody>
      </p:sp>
      <p:sp>
        <p:nvSpPr>
          <p:cNvPr id="3" name="Rounded Rectangle 2"/>
          <p:cNvSpPr/>
          <p:nvPr/>
        </p:nvSpPr>
        <p:spPr>
          <a:xfrm>
            <a:off x="548640" y="2029968"/>
            <a:ext cx="3840480" cy="1069848"/>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Candidate spot</a:t>
            </a:r>
          </a:p>
          <a:p>
            <a:pPr algn="ctr"/>
            <a:r>
              <a:rPr sz="1700" b="0">
                <a:solidFill>
                  <a:srgbClr val="FFFFFF"/>
                </a:solidFill>
              </a:rPr>
              <a:t>from step 2</a:t>
            </a:r>
          </a:p>
        </p:txBody>
      </p:sp>
      <p:sp>
        <p:nvSpPr>
          <p:cNvPr id="4" name="Rounded Rectangle 3"/>
          <p:cNvSpPr/>
          <p:nvPr/>
        </p:nvSpPr>
        <p:spPr>
          <a:xfrm>
            <a:off x="548640" y="3387852"/>
            <a:ext cx="3840480" cy="1069848"/>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Smooth dent</a:t>
            </a:r>
          </a:p>
          <a:p>
            <a:pPr algn="ctr"/>
            <a:r>
              <a:rPr sz="1700" b="0">
                <a:solidFill>
                  <a:srgbClr val="FFFFFF"/>
                </a:solidFill>
              </a:rPr>
              <a:t>position · depth · size · shape</a:t>
            </a:r>
          </a:p>
        </p:txBody>
      </p:sp>
      <p:sp>
        <p:nvSpPr>
          <p:cNvPr id="5" name="Rounded Rectangle 4"/>
          <p:cNvSpPr/>
          <p:nvPr/>
        </p:nvSpPr>
        <p:spPr>
          <a:xfrm>
            <a:off x="548640" y="4745736"/>
            <a:ext cx="3840480" cy="1069848"/>
          </a:xfrm>
          <a:prstGeom prst="round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Render &amp; compare</a:t>
            </a:r>
          </a:p>
          <a:p>
            <a:pPr algn="ctr"/>
            <a:r>
              <a:rPr sz="1700" b="0">
                <a:solidFill>
                  <a:srgbClr val="FFFFFF"/>
                </a:solidFill>
              </a:rPr>
              <a:t>with the photo, adjust</a:t>
            </a:r>
          </a:p>
        </p:txBody>
      </p:sp>
      <p:pic>
        <p:nvPicPr>
          <p:cNvPr id="6" name="Picture 5" descr="depth_01.png"/>
          <p:cNvPicPr>
            <a:picLocks noChangeAspect="1"/>
          </p:cNvPicPr>
          <p:nvPr/>
        </p:nvPicPr>
        <p:blipFill>
          <a:blip r:embed="rId2"/>
          <a:stretch>
            <a:fillRect/>
          </a:stretch>
        </p:blipFill>
        <p:spPr>
          <a:xfrm>
            <a:off x="4846320" y="1959647"/>
            <a:ext cx="6858000" cy="3761664"/>
          </a:xfrm>
          <a:prstGeom prst="rect">
            <a:avLst/>
          </a:prstGeom>
        </p:spPr>
      </p:pic>
      <p:sp>
        <p:nvSpPr>
          <p:cNvPr id="7" name="TextBox 6"/>
          <p:cNvSpPr txBox="1"/>
          <p:nvPr/>
        </p:nvSpPr>
        <p:spPr>
          <a:xfrm>
            <a:off x="548640" y="5939028"/>
            <a:ext cx="11155680" cy="411480"/>
          </a:xfrm>
          <a:prstGeom prst="rect">
            <a:avLst/>
          </a:prstGeom>
          <a:noFill/>
        </p:spPr>
        <p:txBody>
          <a:bodyPr wrap="square" anchor="t">
            <a:spAutoFit/>
          </a:bodyPr>
          <a:lstStyle/>
          <a:p>
            <a:pPr algn="ctr">
              <a:spcAft>
                <a:spcPts val="200"/>
              </a:spcAft>
            </a:pPr>
            <a:r>
              <a:rPr sz="1800" b="0">
                <a:solidFill>
                  <a:srgbClr val="5A6577"/>
                </a:solidFill>
              </a:rPr>
              <a:t>Optimised via differentiable rendering. Reported 0.35 mm, true 0.36 mm.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Step 4: The Evidence Test (Our Key Idea)</a:t>
            </a:r>
          </a:p>
        </p:txBody>
      </p:sp>
      <p:graphicFrame>
        <p:nvGraphicFramePr>
          <p:cNvPr id="3" name="Chart 2"/>
          <p:cNvGraphicFramePr>
            <a:graphicFrameLocks noGrp="1"/>
          </p:cNvGraphicFramePr>
          <p:nvPr/>
        </p:nvGraphicFramePr>
        <p:xfrm>
          <a:off x="548640" y="1865376"/>
          <a:ext cx="5852160" cy="4114800"/>
        </p:xfrm>
        <a:graphic>
          <a:graphicData uri="http://schemas.openxmlformats.org/drawingml/2006/chart">
            <c:chart xmlns:c="http://schemas.openxmlformats.org/drawingml/2006/chart" r:id="rId2"/>
          </a:graphicData>
        </a:graphic>
      </p:graphicFrame>
      <p:sp>
        <p:nvSpPr>
          <p:cNvPr id="4" name="TextBox 3"/>
          <p:cNvSpPr txBox="1"/>
          <p:nvPr/>
        </p:nvSpPr>
        <p:spPr>
          <a:xfrm>
            <a:off x="6675120" y="2112264"/>
            <a:ext cx="5029200" cy="2962656"/>
          </a:xfrm>
          <a:prstGeom prst="rect">
            <a:avLst/>
          </a:prstGeom>
          <a:noFill/>
        </p:spPr>
        <p:txBody>
          <a:bodyPr wrap="square" anchor="t">
            <a:spAutoFit/>
          </a:bodyPr>
          <a:lstStyle/>
          <a:p>
            <a:pPr algn="l">
              <a:spcAft>
                <a:spcPts val="800"/>
              </a:spcAft>
            </a:pPr>
            <a:r>
              <a:rPr sz="2000" b="0">
                <a:solidFill>
                  <a:srgbClr val="1F2937"/>
                </a:solidFill>
              </a:rPr>
              <a:t>•  Mismatch without a dent: 89.3</a:t>
            </a:r>
          </a:p>
          <a:p>
            <a:pPr algn="l">
              <a:spcAft>
                <a:spcPts val="800"/>
              </a:spcAft>
            </a:pPr>
            <a:r>
              <a:rPr sz="2000" b="0">
                <a:solidFill>
                  <a:srgbClr val="1F2937"/>
                </a:solidFill>
              </a:rPr>
              <a:t>•  Mismatch with the dent: 19.9</a:t>
            </a:r>
          </a:p>
          <a:p>
            <a:pPr algn="l">
              <a:spcAft>
                <a:spcPts val="800"/>
              </a:spcAft>
            </a:pPr>
            <a:r>
              <a:rPr sz="2000" b="0">
                <a:solidFill>
                  <a:srgbClr val="1F2937"/>
                </a:solidFill>
              </a:rPr>
              <a:t>•  Evidence (fit gain) = 69.4</a:t>
            </a:r>
          </a:p>
          <a:p>
            <a:pPr algn="l">
              <a:spcAft>
                <a:spcPts val="800"/>
              </a:spcAft>
            </a:pPr>
            <a:r>
              <a:rPr sz="2000" b="0">
                <a:solidFill>
                  <a:srgbClr val="1F2937"/>
                </a:solidFill>
              </a:rPr>
              <a:t>•  Threshold = 1.02 (set on healthy and stained blades)</a:t>
            </a:r>
          </a:p>
        </p:txBody>
      </p:sp>
      <p:sp>
        <p:nvSpPr>
          <p:cNvPr id="5" name="Rounded Rectangle 4"/>
          <p:cNvSpPr/>
          <p:nvPr/>
        </p:nvSpPr>
        <p:spPr>
          <a:xfrm>
            <a:off x="6675120" y="4910328"/>
            <a:ext cx="5029200" cy="1069848"/>
          </a:xfrm>
          <a:prstGeom prst="roundRect">
            <a:avLst/>
          </a:prstGeom>
          <a:solidFill>
            <a:srgbClr val="1A7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69.4 &gt; 1.02 → report the dent</a:t>
            </a:r>
          </a:p>
          <a:p>
            <a:pPr algn="ctr"/>
            <a:r>
              <a:rPr sz="1800" b="0">
                <a:solidFill>
                  <a:srgbClr val="FFFFFF"/>
                </a:solidFill>
              </a:rPr>
              <a:t>otherwise → abstain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What We Built: BladeDelta Benchmark</a:t>
            </a:r>
          </a:p>
        </p:txBody>
      </p:sp>
      <p:sp>
        <p:nvSpPr>
          <p:cNvPr id="3" name="TextBox 2"/>
          <p:cNvSpPr txBox="1"/>
          <p:nvPr/>
        </p:nvSpPr>
        <p:spPr>
          <a:xfrm>
            <a:off x="548640" y="1824228"/>
            <a:ext cx="11155680" cy="822960"/>
          </a:xfrm>
          <a:prstGeom prst="rect">
            <a:avLst/>
          </a:prstGeom>
          <a:noFill/>
        </p:spPr>
        <p:txBody>
          <a:bodyPr wrap="square" anchor="t">
            <a:spAutoFit/>
          </a:bodyPr>
          <a:lstStyle/>
          <a:p>
            <a:pPr algn="l">
              <a:spcAft>
                <a:spcPts val="200"/>
              </a:spcAft>
            </a:pPr>
            <a:r>
              <a:rPr sz="1800" b="0">
                <a:solidFill>
                  <a:srgbClr val="5A6577"/>
                </a:solidFill>
              </a:rPr>
              <a:t>696 cases on 84 public blade shapes  +  456 cases on 6 industrial blade designs</a:t>
            </a:r>
          </a:p>
          <a:p>
            <a:pPr algn="l">
              <a:spcAft>
                <a:spcPts val="200"/>
              </a:spcAft>
            </a:pPr>
            <a:r>
              <a:rPr sz="1800" b="0">
                <a:solidFill>
                  <a:srgbClr val="5A6577"/>
                </a:solidFill>
              </a:rPr>
              <a:t>Sealed test: 240 cases on 30 blades the method never saw</a:t>
            </a:r>
          </a:p>
        </p:txBody>
      </p:sp>
      <p:pic>
        <p:nvPicPr>
          <p:cNvPr id="4" name="Picture 3" descr="ex_01_dent_found.jpg"/>
          <p:cNvPicPr>
            <a:picLocks noChangeAspect="1"/>
          </p:cNvPicPr>
          <p:nvPr/>
        </p:nvPicPr>
        <p:blipFill>
          <a:blip r:embed="rId2"/>
          <a:stretch>
            <a:fillRect/>
          </a:stretch>
        </p:blipFill>
        <p:spPr>
          <a:xfrm>
            <a:off x="548640" y="2778910"/>
            <a:ext cx="3566160" cy="1176734"/>
          </a:xfrm>
          <a:prstGeom prst="rect">
            <a:avLst/>
          </a:prstGeom>
        </p:spPr>
      </p:pic>
      <p:sp>
        <p:nvSpPr>
          <p:cNvPr id="5" name="Rounded Rectangle 4"/>
          <p:cNvSpPr/>
          <p:nvPr/>
        </p:nvSpPr>
        <p:spPr>
          <a:xfrm>
            <a:off x="548640" y="4046220"/>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Observable dent</a:t>
            </a:r>
          </a:p>
        </p:txBody>
      </p:sp>
      <p:pic>
        <p:nvPicPr>
          <p:cNvPr id="6" name="Picture 5" descr="ex_02_hidden_dent.jpg"/>
          <p:cNvPicPr>
            <a:picLocks noChangeAspect="1"/>
          </p:cNvPicPr>
          <p:nvPr/>
        </p:nvPicPr>
        <p:blipFill>
          <a:blip r:embed="rId3"/>
          <a:stretch>
            <a:fillRect/>
          </a:stretch>
        </p:blipFill>
        <p:spPr>
          <a:xfrm>
            <a:off x="4343400" y="2778910"/>
            <a:ext cx="3566160" cy="1176734"/>
          </a:xfrm>
          <a:prstGeom prst="rect">
            <a:avLst/>
          </a:prstGeom>
        </p:spPr>
      </p:pic>
      <p:sp>
        <p:nvSpPr>
          <p:cNvPr id="7" name="Rounded Rectangle 6"/>
          <p:cNvSpPr/>
          <p:nvPr/>
        </p:nvSpPr>
        <p:spPr>
          <a:xfrm>
            <a:off x="4343400" y="4046220"/>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Hidden dent</a:t>
            </a:r>
          </a:p>
        </p:txBody>
      </p:sp>
      <p:pic>
        <p:nvPicPr>
          <p:cNvPr id="8" name="Picture 7" descr="ex_04_healthy.jpg"/>
          <p:cNvPicPr>
            <a:picLocks noChangeAspect="1"/>
          </p:cNvPicPr>
          <p:nvPr/>
        </p:nvPicPr>
        <p:blipFill>
          <a:blip r:embed="rId4"/>
          <a:stretch>
            <a:fillRect/>
          </a:stretch>
        </p:blipFill>
        <p:spPr>
          <a:xfrm>
            <a:off x="8138160" y="2778910"/>
            <a:ext cx="3566160" cy="1176734"/>
          </a:xfrm>
          <a:prstGeom prst="rect">
            <a:avLst/>
          </a:prstGeom>
        </p:spPr>
      </p:pic>
      <p:sp>
        <p:nvSpPr>
          <p:cNvPr id="9" name="Rounded Rectangle 8"/>
          <p:cNvSpPr/>
          <p:nvPr/>
        </p:nvSpPr>
        <p:spPr>
          <a:xfrm>
            <a:off x="8138160" y="4046220"/>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Healthy</a:t>
            </a:r>
          </a:p>
        </p:txBody>
      </p:sp>
      <p:pic>
        <p:nvPicPr>
          <p:cNvPr id="10" name="Picture 9" descr="ex_03_stain_only.jpg"/>
          <p:cNvPicPr>
            <a:picLocks noChangeAspect="1"/>
          </p:cNvPicPr>
          <p:nvPr/>
        </p:nvPicPr>
        <p:blipFill>
          <a:blip r:embed="rId5"/>
          <a:stretch>
            <a:fillRect/>
          </a:stretch>
        </p:blipFill>
        <p:spPr>
          <a:xfrm>
            <a:off x="548640" y="4712866"/>
            <a:ext cx="3566160" cy="1176734"/>
          </a:xfrm>
          <a:prstGeom prst="rect">
            <a:avLst/>
          </a:prstGeom>
        </p:spPr>
      </p:pic>
      <p:sp>
        <p:nvSpPr>
          <p:cNvPr id="11" name="Rounded Rectangle 10"/>
          <p:cNvSpPr/>
          <p:nvPr/>
        </p:nvSpPr>
        <p:spPr>
          <a:xfrm>
            <a:off x="548640" y="5980176"/>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Stain</a:t>
            </a:r>
          </a:p>
        </p:txBody>
      </p:sp>
      <p:pic>
        <p:nvPicPr>
          <p:cNvPr id="12" name="Picture 11" descr="s11_mixed.jpg"/>
          <p:cNvPicPr>
            <a:picLocks noChangeAspect="1"/>
          </p:cNvPicPr>
          <p:nvPr/>
        </p:nvPicPr>
        <p:blipFill>
          <a:blip r:embed="rId6"/>
          <a:stretch>
            <a:fillRect/>
          </a:stretch>
        </p:blipFill>
        <p:spPr>
          <a:xfrm>
            <a:off x="4343400" y="4712866"/>
            <a:ext cx="3566160" cy="1176734"/>
          </a:xfrm>
          <a:prstGeom prst="rect">
            <a:avLst/>
          </a:prstGeom>
        </p:spPr>
      </p:pic>
      <p:sp>
        <p:nvSpPr>
          <p:cNvPr id="13" name="Rounded Rectangle 12"/>
          <p:cNvSpPr/>
          <p:nvPr/>
        </p:nvSpPr>
        <p:spPr>
          <a:xfrm>
            <a:off x="4343400" y="5980176"/>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Dent + stain</a:t>
            </a:r>
          </a:p>
        </p:txBody>
      </p:sp>
      <p:pic>
        <p:nvPicPr>
          <p:cNvPr id="14" name="Picture 13" descr="ex_05_camera_error.jpg"/>
          <p:cNvPicPr>
            <a:picLocks noChangeAspect="1"/>
          </p:cNvPicPr>
          <p:nvPr/>
        </p:nvPicPr>
        <p:blipFill>
          <a:blip r:embed="rId7"/>
          <a:stretch>
            <a:fillRect/>
          </a:stretch>
        </p:blipFill>
        <p:spPr>
          <a:xfrm>
            <a:off x="8138160" y="4712866"/>
            <a:ext cx="3566160" cy="1176734"/>
          </a:xfrm>
          <a:prstGeom prst="rect">
            <a:avLst/>
          </a:prstGeom>
        </p:spPr>
      </p:pic>
      <p:sp>
        <p:nvSpPr>
          <p:cNvPr id="15" name="Rounded Rectangle 14"/>
          <p:cNvSpPr/>
          <p:nvPr/>
        </p:nvSpPr>
        <p:spPr>
          <a:xfrm>
            <a:off x="8138160" y="5980176"/>
            <a:ext cx="3566160" cy="41148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rPr>
              <a:t>Camera error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Our Method vs. Baselines</a:t>
            </a:r>
          </a:p>
        </p:txBody>
      </p:sp>
      <p:graphicFrame>
        <p:nvGraphicFramePr>
          <p:cNvPr id="3" name="Chart 2"/>
          <p:cNvGraphicFramePr>
            <a:graphicFrameLocks noGrp="1"/>
          </p:cNvGraphicFramePr>
          <p:nvPr/>
        </p:nvGraphicFramePr>
        <p:xfrm>
          <a:off x="457200" y="1783080"/>
          <a:ext cx="11247120" cy="4032504"/>
        </p:xfrm>
        <a:graphic>
          <a:graphicData uri="http://schemas.openxmlformats.org/drawingml/2006/chart">
            <c:chart xmlns:c="http://schemas.openxmlformats.org/drawingml/2006/chart" r:id="rId2"/>
          </a:graphicData>
        </a:graphic>
      </p:graphicFrame>
      <p:sp>
        <p:nvSpPr>
          <p:cNvPr id="4" name="TextBox 3"/>
          <p:cNvSpPr txBox="1"/>
          <p:nvPr/>
        </p:nvSpPr>
        <p:spPr>
          <a:xfrm>
            <a:off x="457200" y="5856731"/>
            <a:ext cx="11247120" cy="493776"/>
          </a:xfrm>
          <a:prstGeom prst="rect">
            <a:avLst/>
          </a:prstGeom>
          <a:noFill/>
        </p:spPr>
        <p:txBody>
          <a:bodyPr wrap="square" anchor="t">
            <a:spAutoFit/>
          </a:bodyPr>
          <a:lstStyle/>
          <a:p>
            <a:pPr algn="ctr">
              <a:spcAft>
                <a:spcPts val="200"/>
              </a:spcAft>
            </a:pPr>
            <a:r>
              <a:rPr sz="1900" b="1">
                <a:solidFill>
                  <a:srgbClr val="0047BB"/>
                </a:solidFill>
              </a:rPr>
              <a:t>At the same 5% false-alarm rate: ours locates 51% of visible dents; every other method 19% or less.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What the Evidence Test Buys</a:t>
            </a:r>
          </a:p>
        </p:txBody>
      </p:sp>
      <p:graphicFrame>
        <p:nvGraphicFramePr>
          <p:cNvPr id="3" name="Chart 2"/>
          <p:cNvGraphicFramePr>
            <a:graphicFrameLocks noGrp="1"/>
          </p:cNvGraphicFramePr>
          <p:nvPr/>
        </p:nvGraphicFramePr>
        <p:xfrm>
          <a:off x="457200" y="1865376"/>
          <a:ext cx="5486400" cy="3785615"/>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217920" y="1865376"/>
          <a:ext cx="5486400" cy="3785615"/>
        </p:xfrm>
        <a:graphic>
          <a:graphicData uri="http://schemas.openxmlformats.org/drawingml/2006/chart">
            <c:chart xmlns:c="http://schemas.openxmlformats.org/drawingml/2006/chart" r:id="rId3"/>
          </a:graphicData>
        </a:graphic>
      </p:graphicFrame>
      <p:sp>
        <p:nvSpPr>
          <p:cNvPr id="5" name="TextBox 4"/>
          <p:cNvSpPr txBox="1"/>
          <p:nvPr/>
        </p:nvSpPr>
        <p:spPr>
          <a:xfrm>
            <a:off x="457200" y="5815584"/>
            <a:ext cx="11247120" cy="493776"/>
          </a:xfrm>
          <a:prstGeom prst="rect">
            <a:avLst/>
          </a:prstGeom>
          <a:noFill/>
        </p:spPr>
        <p:txBody>
          <a:bodyPr wrap="square" anchor="t">
            <a:spAutoFit/>
          </a:bodyPr>
          <a:lstStyle/>
          <a:p>
            <a:pPr algn="ctr">
              <a:spcAft>
                <a:spcPts val="200"/>
              </a:spcAft>
            </a:pPr>
            <a:r>
              <a:rPr sz="2200" b="1">
                <a:solidFill>
                  <a:srgbClr val="0047BB"/>
                </a:solidFill>
              </a:rPr>
              <a:t>We trade some recall for trust: far fewer wrong claims.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Recall Depends on Dent Depth</a:t>
            </a:r>
          </a:p>
        </p:txBody>
      </p:sp>
      <p:graphicFrame>
        <p:nvGraphicFramePr>
          <p:cNvPr id="3" name="Chart 2"/>
          <p:cNvGraphicFramePr>
            <a:graphicFrameLocks noGrp="1"/>
          </p:cNvGraphicFramePr>
          <p:nvPr/>
        </p:nvGraphicFramePr>
        <p:xfrm>
          <a:off x="548640" y="1865376"/>
          <a:ext cx="6949440" cy="4114800"/>
        </p:xfrm>
        <a:graphic>
          <a:graphicData uri="http://schemas.openxmlformats.org/drawingml/2006/chart">
            <c:chart xmlns:c="http://schemas.openxmlformats.org/drawingml/2006/chart" r:id="rId2"/>
          </a:graphicData>
        </a:graphic>
      </p:graphicFrame>
      <p:sp>
        <p:nvSpPr>
          <p:cNvPr id="4" name="TextBox 3"/>
          <p:cNvSpPr txBox="1"/>
          <p:nvPr/>
        </p:nvSpPr>
        <p:spPr>
          <a:xfrm>
            <a:off x="7772400" y="2194560"/>
            <a:ext cx="3931920" cy="3127248"/>
          </a:xfrm>
          <a:prstGeom prst="rect">
            <a:avLst/>
          </a:prstGeom>
          <a:noFill/>
        </p:spPr>
        <p:txBody>
          <a:bodyPr wrap="square" anchor="t">
            <a:spAutoFit/>
          </a:bodyPr>
          <a:lstStyle/>
          <a:p>
            <a:pPr algn="l">
              <a:spcAft>
                <a:spcPts val="800"/>
              </a:spcAft>
            </a:pPr>
            <a:r>
              <a:rPr sz="2000" b="0">
                <a:solidFill>
                  <a:srgbClr val="1F2937"/>
                </a:solidFill>
              </a:rPr>
              <a:t>•  &gt; 0.2 mm: 12 of 13 found</a:t>
            </a:r>
          </a:p>
          <a:p>
            <a:pPr algn="l">
              <a:spcAft>
                <a:spcPts val="800"/>
              </a:spcAft>
            </a:pPr>
            <a:r>
              <a:rPr sz="2000" b="0">
                <a:solidFill>
                  <a:srgbClr val="1F2937"/>
                </a:solidFill>
              </a:rPr>
              <a:t>•  0.1–0.2 mm: 7 of 14</a:t>
            </a:r>
          </a:p>
          <a:p>
            <a:pPr algn="l">
              <a:spcAft>
                <a:spcPts val="800"/>
              </a:spcAft>
            </a:pPr>
            <a:r>
              <a:rPr sz="2000" b="0">
                <a:solidFill>
                  <a:srgbClr val="1F2937"/>
                </a:solidFill>
              </a:rPr>
              <a:t>•  &lt; 0.1 mm: 1 of 10</a:t>
            </a:r>
          </a:p>
          <a:p>
            <a:pPr algn="l">
              <a:spcAft>
                <a:spcPts val="800"/>
              </a:spcAft>
            </a:pPr>
            <a:r>
              <a:rPr sz="2000" b="0">
                <a:solidFill>
                  <a:srgbClr val="1F2937"/>
                </a:solidFill>
              </a:rPr>
              <a:t>•  Every reported dent is in the right place</a:t>
            </a:r>
          </a:p>
        </p:txBody>
      </p:sp>
      <p:sp>
        <p:nvSpPr>
          <p:cNvPr id="5" name="Rounded Rectangle 4"/>
          <p:cNvSpPr/>
          <p:nvPr/>
        </p:nvSpPr>
        <p:spPr>
          <a:xfrm>
            <a:off x="7772400" y="5074920"/>
            <a:ext cx="3931920" cy="90525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1F2937"/>
                </a:solidFill>
              </a:rPr>
              <a:t>Below what the photos can resolve, it abstains instead of guessing.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Does It Work on New Blades?</a:t>
            </a:r>
          </a:p>
        </p:txBody>
      </p:sp>
      <p:graphicFrame>
        <p:nvGraphicFramePr>
          <p:cNvPr id="3" name="Chart 2"/>
          <p:cNvGraphicFramePr>
            <a:graphicFrameLocks noGrp="1"/>
          </p:cNvGraphicFramePr>
          <p:nvPr/>
        </p:nvGraphicFramePr>
        <p:xfrm>
          <a:off x="457200" y="1865376"/>
          <a:ext cx="5486400" cy="3703320"/>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217920" y="1865376"/>
          <a:ext cx="5486400" cy="3703320"/>
        </p:xfrm>
        <a:graphic>
          <a:graphicData uri="http://schemas.openxmlformats.org/drawingml/2006/chart">
            <c:chart xmlns:c="http://schemas.openxmlformats.org/drawingml/2006/chart" r:id="rId3"/>
          </a:graphicData>
        </a:graphic>
      </p:graphicFrame>
      <p:sp>
        <p:nvSpPr>
          <p:cNvPr id="5" name="TextBox 4"/>
          <p:cNvSpPr txBox="1"/>
          <p:nvPr/>
        </p:nvSpPr>
        <p:spPr>
          <a:xfrm>
            <a:off x="457200" y="5692140"/>
            <a:ext cx="11247120" cy="740664"/>
          </a:xfrm>
          <a:prstGeom prst="rect">
            <a:avLst/>
          </a:prstGeom>
          <a:noFill/>
        </p:spPr>
        <p:txBody>
          <a:bodyPr wrap="square" anchor="t">
            <a:spAutoFit/>
          </a:bodyPr>
          <a:lstStyle/>
          <a:p>
            <a:pPr algn="ctr">
              <a:spcAft>
                <a:spcPts val="200"/>
              </a:spcAft>
            </a:pPr>
            <a:r>
              <a:rPr sz="1800" b="0">
                <a:solidFill>
                  <a:srgbClr val="1F2937"/>
                </a:solidFill>
              </a:rPr>
              <a:t>Six industrial blade designs; results on the 4 held-out blades the fix never saw.</a:t>
            </a:r>
          </a:p>
          <a:p>
            <a:pPr algn="ctr">
              <a:spcAft>
                <a:spcPts val="200"/>
              </a:spcAft>
            </a:pPr>
            <a:r>
              <a:rPr sz="1800" b="0">
                <a:solidFill>
                  <a:srgbClr val="1F2937"/>
                </a:solidFill>
              </a:rPr>
              <a:t>We found two causes, fixed them without retraining, and proved it on unseen blades.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A New Idea: Knowing What the Photos Can Show</a:t>
            </a:r>
          </a:p>
        </p:txBody>
      </p:sp>
      <p:sp>
        <p:nvSpPr>
          <p:cNvPr id="3" name="TextBox 2"/>
          <p:cNvSpPr txBox="1"/>
          <p:nvPr/>
        </p:nvSpPr>
        <p:spPr>
          <a:xfrm>
            <a:off x="548640" y="1947672"/>
            <a:ext cx="6035040" cy="3127248"/>
          </a:xfrm>
          <a:prstGeom prst="rect">
            <a:avLst/>
          </a:prstGeom>
          <a:noFill/>
        </p:spPr>
        <p:txBody>
          <a:bodyPr wrap="square" anchor="t">
            <a:spAutoFit/>
          </a:bodyPr>
          <a:lstStyle/>
          <a:p>
            <a:pPr algn="l">
              <a:spcAft>
                <a:spcPts val="800"/>
              </a:spcAft>
            </a:pPr>
            <a:r>
              <a:rPr sz="2100" b="0">
                <a:solidFill>
                  <a:srgbClr val="1F2937"/>
                </a:solidFill>
              </a:rPr>
              <a:t>•  Before searching, predict the smallest detectable dent</a:t>
            </a:r>
          </a:p>
          <a:p>
            <a:pPr algn="l">
              <a:spcAft>
                <a:spcPts val="800"/>
              </a:spcAft>
            </a:pPr>
            <a:r>
              <a:rPr sz="2100" b="0">
                <a:solidFill>
                  <a:srgbClr val="1F2937"/>
                </a:solidFill>
              </a:rPr>
              <a:t>•  Per-point map: where can we see damage?</a:t>
            </a:r>
          </a:p>
          <a:p>
            <a:pPr algn="l">
              <a:spcAft>
                <a:spcPts val="800"/>
              </a:spcAft>
            </a:pPr>
            <a:r>
              <a:rPr sz="2100" b="0">
                <a:solidFill>
                  <a:srgbClr val="1F2937"/>
                </a:solidFill>
              </a:rPr>
              <a:t>•  Tested against reality: predicts which dents are found (AUROC 0.90–0.95 on two sealed tests)</a:t>
            </a:r>
          </a:p>
        </p:txBody>
      </p:sp>
      <p:sp>
        <p:nvSpPr>
          <p:cNvPr id="4" name="Rounded Rectangle 3"/>
          <p:cNvSpPr/>
          <p:nvPr/>
        </p:nvSpPr>
        <p:spPr>
          <a:xfrm>
            <a:off x="548640" y="4910328"/>
            <a:ext cx="6035040" cy="987552"/>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047BB"/>
                </a:solidFill>
              </a:rPr>
              <a:t>We bound our misses, not just our false alarms.</a:t>
            </a:r>
          </a:p>
        </p:txBody>
      </p:sp>
      <p:pic>
        <p:nvPicPr>
          <p:cNvPr id="5" name="Picture 4" descr="s16_map.png"/>
          <p:cNvPicPr>
            <a:picLocks noChangeAspect="1"/>
          </p:cNvPicPr>
          <p:nvPr/>
        </p:nvPicPr>
        <p:blipFill>
          <a:blip r:embed="rId2"/>
          <a:stretch>
            <a:fillRect/>
          </a:stretch>
        </p:blipFill>
        <p:spPr>
          <a:xfrm>
            <a:off x="7104888" y="1783080"/>
            <a:ext cx="4443984" cy="4608576"/>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What's Still Missing</a:t>
            </a:r>
          </a:p>
        </p:txBody>
      </p:sp>
      <p:sp>
        <p:nvSpPr>
          <p:cNvPr id="3" name="TextBox 2"/>
          <p:cNvSpPr txBox="1"/>
          <p:nvPr/>
        </p:nvSpPr>
        <p:spPr>
          <a:xfrm>
            <a:off x="548640" y="1947672"/>
            <a:ext cx="5486400" cy="2962656"/>
          </a:xfrm>
          <a:prstGeom prst="rect">
            <a:avLst/>
          </a:prstGeom>
          <a:noFill/>
        </p:spPr>
        <p:txBody>
          <a:bodyPr wrap="square" anchor="t">
            <a:spAutoFit/>
          </a:bodyPr>
          <a:lstStyle/>
          <a:p>
            <a:pPr algn="l">
              <a:spcAft>
                <a:spcPts val="800"/>
              </a:spcAft>
            </a:pPr>
            <a:r>
              <a:rPr sz="2100" b="0">
                <a:solidFill>
                  <a:srgbClr val="1F2937"/>
                </a:solidFill>
              </a:rPr>
              <a:t>•  All results so far are on rendered blades</a:t>
            </a:r>
          </a:p>
          <a:p>
            <a:pPr algn="l">
              <a:spcAft>
                <a:spcPts val="800"/>
              </a:spcAft>
            </a:pPr>
            <a:r>
              <a:rPr sz="2100" b="0">
                <a:solidFill>
                  <a:srgbClr val="1F2937"/>
                </a:solidFill>
              </a:rPr>
              <a:t>•  One real dataset (scanned furniture) did not work yet</a:t>
            </a:r>
          </a:p>
          <a:p>
            <a:pPr algn="l">
              <a:spcAft>
                <a:spcPts val="800"/>
              </a:spcAft>
            </a:pPr>
            <a:r>
              <a:rPr sz="2100" b="0">
                <a:solidFill>
                  <a:srgbClr val="1F2937"/>
                </a:solidFill>
              </a:rPr>
              <a:t>•  Next: 3D-print a real blade, dent it, photograph it and scan it</a:t>
            </a:r>
          </a:p>
        </p:txBody>
      </p:sp>
      <p:pic>
        <p:nvPicPr>
          <p:cNvPr id="4" name="Picture 3" descr="s8_photo.png"/>
          <p:cNvPicPr>
            <a:picLocks noChangeAspect="1"/>
          </p:cNvPicPr>
          <p:nvPr/>
        </p:nvPicPr>
        <p:blipFill>
          <a:blip r:embed="rId2"/>
          <a:stretch>
            <a:fillRect/>
          </a:stretch>
        </p:blipFill>
        <p:spPr>
          <a:xfrm>
            <a:off x="6412038" y="1947672"/>
            <a:ext cx="2172082" cy="2962656"/>
          </a:xfrm>
          <a:prstGeom prst="rect">
            <a:avLst/>
          </a:prstGeom>
        </p:spPr>
      </p:pic>
      <p:sp>
        <p:nvSpPr>
          <p:cNvPr id="5" name="Right Arrow 4"/>
          <p:cNvSpPr/>
          <p:nvPr/>
        </p:nvSpPr>
        <p:spPr>
          <a:xfrm>
            <a:off x="8823960" y="3264408"/>
            <a:ext cx="548640" cy="329184"/>
          </a:xfrm>
          <a:prstGeom prst="rightArrow">
            <a:avLst/>
          </a:prstGeom>
          <a:solidFill>
            <a:srgbClr val="5A65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509760" y="1947672"/>
            <a:ext cx="2286000" cy="2962656"/>
          </a:xfrm>
          <a:prstGeom prst="roundRect">
            <a:avLst/>
          </a:prstGeom>
          <a:solidFill>
            <a:srgbClr val="F2F5FA"/>
          </a:solidFill>
          <a:ln w="19050">
            <a:solidFill>
              <a:srgbClr val="5A657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5A6577"/>
                </a:solidFill>
              </a:rPr>
              <a:t>?</a:t>
            </a:r>
          </a:p>
          <a:p>
            <a:pPr algn="ctr"/>
            <a:r>
              <a:rPr sz="2000" b="0">
                <a:solidFill>
                  <a:srgbClr val="5A6577"/>
                </a:solidFill>
              </a:rPr>
              <a:t>real printed</a:t>
            </a:r>
          </a:p>
          <a:p>
            <a:pPr algn="ctr"/>
            <a:r>
              <a:rPr sz="2000" b="0">
                <a:solidFill>
                  <a:srgbClr val="5A6577"/>
                </a:solidFill>
              </a:rPr>
              <a:t>blade</a:t>
            </a:r>
          </a:p>
        </p:txBody>
      </p:sp>
      <p:sp>
        <p:nvSpPr>
          <p:cNvPr id="7" name="TextBox 6"/>
          <p:cNvSpPr txBox="1"/>
          <p:nvPr/>
        </p:nvSpPr>
        <p:spPr>
          <a:xfrm>
            <a:off x="6309360" y="5074920"/>
            <a:ext cx="5486400" cy="493776"/>
          </a:xfrm>
          <a:prstGeom prst="rect">
            <a:avLst/>
          </a:prstGeom>
          <a:noFill/>
        </p:spPr>
        <p:txBody>
          <a:bodyPr wrap="square" anchor="t">
            <a:spAutoFit/>
          </a:bodyPr>
          <a:lstStyle/>
          <a:p>
            <a:pPr algn="ctr">
              <a:spcAft>
                <a:spcPts val="200"/>
              </a:spcAft>
            </a:pPr>
            <a:r>
              <a:rPr sz="2200" b="1">
                <a:solidFill>
                  <a:srgbClr val="0047BB"/>
                </a:solidFill>
              </a:rPr>
              <a:t>Next step: real validation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Summary</a:t>
            </a:r>
          </a:p>
        </p:txBody>
      </p:sp>
      <p:sp>
        <p:nvSpPr>
          <p:cNvPr id="3" name="TextBox 2"/>
          <p:cNvSpPr txBox="1"/>
          <p:nvPr/>
        </p:nvSpPr>
        <p:spPr>
          <a:xfrm>
            <a:off x="548640" y="1865376"/>
            <a:ext cx="5852160" cy="3950208"/>
          </a:xfrm>
          <a:prstGeom prst="rect">
            <a:avLst/>
          </a:prstGeom>
          <a:noFill/>
        </p:spPr>
        <p:txBody>
          <a:bodyPr wrap="square" anchor="t">
            <a:spAutoFit/>
          </a:bodyPr>
          <a:lstStyle/>
          <a:p>
            <a:pPr algn="l">
              <a:spcAft>
                <a:spcPts val="800"/>
              </a:spcAft>
            </a:pPr>
            <a:r>
              <a:rPr sz="2100" b="0">
                <a:solidFill>
                  <a:srgbClr val="1F2937"/>
                </a:solidFill>
              </a:rPr>
              <a:t>•  We built a method that finds 3D damage on blades from a few photos</a:t>
            </a:r>
          </a:p>
          <a:p>
            <a:pPr algn="l">
              <a:spcAft>
                <a:spcPts val="800"/>
              </a:spcAft>
            </a:pPr>
            <a:r>
              <a:rPr sz="2100" b="0">
                <a:solidFill>
                  <a:srgbClr val="1F2937"/>
                </a:solidFill>
              </a:rPr>
              <a:t>•  It knows when to say "not enough evidence"</a:t>
            </a:r>
          </a:p>
          <a:p>
            <a:pPr algn="l">
              <a:spcAft>
                <a:spcPts val="800"/>
              </a:spcAft>
            </a:pPr>
            <a:r>
              <a:rPr sz="2100" b="0">
                <a:solidFill>
                  <a:srgbClr val="1F2937"/>
                </a:solidFill>
              </a:rPr>
              <a:t>•  It controls false alarms and predicts which dents it can see</a:t>
            </a:r>
          </a:p>
          <a:p>
            <a:pPr algn="l">
              <a:spcAft>
                <a:spcPts val="800"/>
              </a:spcAft>
            </a:pPr>
            <a:r>
              <a:rPr sz="2100" b="0">
                <a:solidFill>
                  <a:srgbClr val="1F2937"/>
                </a:solidFill>
              </a:rPr>
              <a:t>•  It generalises to new blade designs (after a fix)</a:t>
            </a:r>
          </a:p>
          <a:p>
            <a:pPr algn="l">
              <a:spcAft>
                <a:spcPts val="800"/>
              </a:spcAft>
            </a:pPr>
            <a:r>
              <a:rPr sz="2100" b="0">
                <a:solidFill>
                  <a:srgbClr val="1F2937"/>
                </a:solidFill>
              </a:rPr>
              <a:t>•  Real validation is next</a:t>
            </a:r>
          </a:p>
        </p:txBody>
      </p:sp>
      <p:pic>
        <p:nvPicPr>
          <p:cNvPr id="4" name="Picture 3" descr="method_overview.png"/>
          <p:cNvPicPr>
            <a:picLocks noChangeAspect="1"/>
          </p:cNvPicPr>
          <p:nvPr/>
        </p:nvPicPr>
        <p:blipFill>
          <a:blip r:embed="rId2"/>
          <a:stretch>
            <a:fillRect/>
          </a:stretch>
        </p:blipFill>
        <p:spPr>
          <a:xfrm>
            <a:off x="6583680" y="2640003"/>
            <a:ext cx="5303520" cy="1742585"/>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Try It</a:t>
            </a:r>
          </a:p>
        </p:txBody>
      </p:sp>
      <p:pic>
        <p:nvPicPr>
          <p:cNvPr id="3" name="Picture 2" descr="s19_demo.png"/>
          <p:cNvPicPr>
            <a:picLocks noChangeAspect="1"/>
          </p:cNvPicPr>
          <p:nvPr/>
        </p:nvPicPr>
        <p:blipFill>
          <a:blip r:embed="rId2"/>
          <a:stretch>
            <a:fillRect/>
          </a:stretch>
        </p:blipFill>
        <p:spPr>
          <a:xfrm>
            <a:off x="1372597" y="1783080"/>
            <a:ext cx="6033044" cy="4608576"/>
          </a:xfrm>
          <a:prstGeom prst="rect">
            <a:avLst/>
          </a:prstGeom>
        </p:spPr>
      </p:pic>
      <p:sp>
        <p:nvSpPr>
          <p:cNvPr id="4" name="TextBox 3"/>
          <p:cNvSpPr txBox="1"/>
          <p:nvPr/>
        </p:nvSpPr>
        <p:spPr>
          <a:xfrm>
            <a:off x="8503920" y="2276856"/>
            <a:ext cx="3291840" cy="2880360"/>
          </a:xfrm>
          <a:prstGeom prst="rect">
            <a:avLst/>
          </a:prstGeom>
          <a:noFill/>
        </p:spPr>
        <p:txBody>
          <a:bodyPr wrap="square" anchor="t">
            <a:spAutoFit/>
          </a:bodyPr>
          <a:lstStyle/>
          <a:p>
            <a:pPr algn="l">
              <a:spcAft>
                <a:spcPts val="800"/>
              </a:spcAft>
            </a:pPr>
            <a:r>
              <a:rPr sz="1900" b="0">
                <a:solidFill>
                  <a:srgbClr val="1F2937"/>
                </a:solidFill>
              </a:rPr>
              <a:t>•  Pick a blade case</a:t>
            </a:r>
          </a:p>
          <a:p>
            <a:pPr algn="l">
              <a:spcAft>
                <a:spcPts val="800"/>
              </a:spcAft>
            </a:pPr>
            <a:r>
              <a:rPr sz="1900" b="0">
                <a:solidFill>
                  <a:srgbClr val="1F2937"/>
                </a:solidFill>
              </a:rPr>
              <a:t>•  See the decision, depth and evidence</a:t>
            </a:r>
          </a:p>
          <a:p>
            <a:pPr algn="l">
              <a:spcAft>
                <a:spcPts val="800"/>
              </a:spcAft>
            </a:pPr>
            <a:r>
              <a:rPr sz="1900" b="0">
                <a:solidFill>
                  <a:srgbClr val="1F2937"/>
                </a:solidFill>
              </a:rPr>
              <a:t>•  Drag the slider: healthy vs photo</a:t>
            </a:r>
          </a:p>
        </p:txBody>
      </p:sp>
      <p:sp>
        <p:nvSpPr>
          <p:cNvPr id="5" name="TextBox 4"/>
          <p:cNvSpPr txBox="1"/>
          <p:nvPr/>
        </p:nvSpPr>
        <p:spPr>
          <a:xfrm>
            <a:off x="8503920" y="4992624"/>
            <a:ext cx="3291840" cy="987552"/>
          </a:xfrm>
          <a:prstGeom prst="rect">
            <a:avLst/>
          </a:prstGeom>
          <a:noFill/>
        </p:spPr>
        <p:txBody>
          <a:bodyPr wrap="square" anchor="t">
            <a:spAutoFit/>
          </a:bodyPr>
          <a:lstStyle/>
          <a:p>
            <a:pPr algn="l">
              <a:spcAft>
                <a:spcPts val="200"/>
              </a:spcAft>
            </a:pPr>
            <a:r>
              <a:rPr sz="1500" b="1">
                <a:solidFill>
                  <a:srgbClr val="0047BB"/>
                </a:solidFill>
              </a:rPr>
              <a:t>afeefaaazam03.github.io/3D-Jetblade/try.html</a:t>
            </a:r>
          </a:p>
        </p:txBody>
      </p:sp>
    </p:spTree>
  </p:cSld>
  <p:clrMapOvr>
    <a:masterClrMapping/>
  </p:clrMapOvr>
</p:sld>
</file>

<file path=ppt/theme/theme1.xml><?xml version="1.0" encoding="utf-8"?>
<a:theme xmlns:a="http://schemas.openxmlformats.org/drawingml/2006/main" name="KU Theme">
  <a:themeElements>
    <a:clrScheme name="KU">
      <a:dk1>
        <a:sysClr val="windowText" lastClr="000000"/>
      </a:dk1>
      <a:lt1>
        <a:sysClr val="window" lastClr="FFFFFF"/>
      </a:lt1>
      <a:dk2>
        <a:srgbClr val="0047BA"/>
      </a:dk2>
      <a:lt2>
        <a:srgbClr val="96969A"/>
      </a:lt2>
      <a:accent1>
        <a:srgbClr val="00CE7C"/>
      </a:accent1>
      <a:accent2>
        <a:srgbClr val="E53E51"/>
      </a:accent2>
      <a:accent3>
        <a:srgbClr val="84DADE"/>
      </a:accent3>
      <a:accent4>
        <a:srgbClr val="4C3041"/>
      </a:accent4>
      <a:accent5>
        <a:srgbClr val="F5CE3E"/>
      </a:accent5>
      <a:accent6>
        <a:srgbClr val="D0CFCD"/>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1850" smtClean="0"/>
        </a:defPPr>
      </a:lstStyle>
    </a:txDef>
  </a:objectDefaults>
  <a:extraClrSchemeLst/>
  <a:extLst>
    <a:ext uri="{05A4C25C-085E-4340-85A3-A5531E510DB2}">
      <thm15:themeFamily xmlns:thm15="http://schemas.microsoft.com/office/thememl/2012/main" name="KU_presentation_template_v2018-04-09 E.potx" id="{AF960482-6B50-417C-AC38-1AFEBFC77BA4}" vid="{1F04D338-456F-4FFC-9561-BAAA645232F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ublishingExpirationDate xmlns="http://schemas.microsoft.com/sharepoint/v3" xsi:nil="true"/>
    <PublishingStartDate xmlns="http://schemas.microsoft.com/sharepoint/v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E7BCE9BEE86D22418B98990A0B028EF2" ma:contentTypeVersion="2" ma:contentTypeDescription="Create a new document." ma:contentTypeScope="" ma:versionID="c92d080676834feb7a8d6e7ac37a685f">
  <xsd:schema xmlns:xsd="http://www.w3.org/2001/XMLSchema" xmlns:xs="http://www.w3.org/2001/XMLSchema" xmlns:p="http://schemas.microsoft.com/office/2006/metadata/properties" xmlns:ns1="http://schemas.microsoft.com/sharepoint/v3" xmlns:ns2="557946a8-a765-46f2-8d44-445b86b509b9" targetNamespace="http://schemas.microsoft.com/office/2006/metadata/properties" ma:root="true" ma:fieldsID="773afa511ca0245c4474d0f23d29f83c" ns1:_="" ns2:_="">
    <xsd:import namespace="http://schemas.microsoft.com/sharepoint/v3"/>
    <xsd:import namespace="557946a8-a765-46f2-8d44-445b86b509b9"/>
    <xsd:element name="properties">
      <xsd:complexType>
        <xsd:sequence>
          <xsd:element name="documentManagement">
            <xsd:complexType>
              <xsd:all>
                <xsd:element ref="ns1:PublishingStartDate" minOccurs="0"/>
                <xsd:element ref="ns1:PublishingExpirationDate" minOccurs="0"/>
                <xsd:element ref="ns2: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8" nillable="true" ma:displayName="Scheduling Start Date" ma:description="Scheduling Start Date is a site column created by the Publishing feature. It is used to specify the date and time on which this page will first appear to site visitors." ma:hidden="true" ma:internalName="PublishingStartDate">
      <xsd:simpleType>
        <xsd:restriction base="dms:Unknown"/>
      </xsd:simpleType>
    </xsd:element>
    <xsd:element name="PublishingExpirationDate" ma:index="9" nillable="true" ma:displayName="Scheduling End Date" ma:description="Scheduling End Date is a site column created by the Publishing feature. It is used to specify the date and time on which this page will no longer appear to site visitors."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57946a8-a765-46f2-8d44-445b86b509b9" elementFormDefault="qualified">
    <xsd:import namespace="http://schemas.microsoft.com/office/2006/documentManagement/types"/>
    <xsd:import namespace="http://schemas.microsoft.com/office/infopath/2007/PartnerControls"/>
    <xsd:element name="SharedWithUsers" ma:index="10"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B510135-11A2-4CE9-AC9A-F9B5F7E81A9F}">
  <ds:schemaRefs>
    <ds:schemaRef ds:uri="http://www.w3.org/XML/1998/namespace"/>
    <ds:schemaRef ds:uri="http://schemas.microsoft.com/office/2006/documentManagement/types"/>
    <ds:schemaRef ds:uri="http://purl.org/dc/terms/"/>
    <ds:schemaRef ds:uri="http://schemas.microsoft.com/sharepoint/v3"/>
    <ds:schemaRef ds:uri="557946a8-a765-46f2-8d44-445b86b509b9"/>
    <ds:schemaRef ds:uri="http://purl.org/dc/elements/1.1/"/>
    <ds:schemaRef ds:uri="http://schemas.microsoft.com/office/2006/metadata/properties"/>
    <ds:schemaRef ds:uri="http://schemas.microsoft.com/office/infopath/2007/PartnerControls"/>
    <ds:schemaRef ds:uri="http://schemas.openxmlformats.org/package/2006/metadata/core-properties"/>
    <ds:schemaRef ds:uri="http://purl.org/dc/dcmitype/"/>
  </ds:schemaRefs>
</ds:datastoreItem>
</file>

<file path=customXml/itemProps2.xml><?xml version="1.0" encoding="utf-8"?>
<ds:datastoreItem xmlns:ds="http://schemas.openxmlformats.org/officeDocument/2006/customXml" ds:itemID="{1FD50A8C-CA97-4410-A798-5A85CCD8F172}">
  <ds:schemaRefs>
    <ds:schemaRef ds:uri="http://schemas.microsoft.com/sharepoint/v3/contenttype/forms"/>
  </ds:schemaRefs>
</ds:datastoreItem>
</file>

<file path=customXml/itemProps3.xml><?xml version="1.0" encoding="utf-8"?>
<ds:datastoreItem xmlns:ds="http://schemas.openxmlformats.org/officeDocument/2006/customXml" ds:itemID="{AC14F958-FA86-4F8B-BDB0-691B121869C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57946a8-a765-46f2-8d44-445b86b509b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KU Theme</Template>
  <TotalTime>30283</TotalTime>
  <Words>122</Words>
  <Application>Microsoft Office PowerPoint</Application>
  <PresentationFormat>Widescreen</PresentationFormat>
  <Paragraphs>24</Paragraphs>
  <Slides>5</Slides>
  <Notes>0</Notes>
  <HiddenSlides>0</HiddenSlides>
  <MMClips>0</MMClips>
  <ScaleCrop>false</ScaleCrop>
  <HeadingPairs>
    <vt:vector size="4" baseType="variant">
      <vt:variant>
        <vt:lpstr>Theme</vt:lpstr>
      </vt:variant>
      <vt:variant>
        <vt:i4>1</vt:i4>
      </vt:variant>
      <vt:variant>
        <vt:lpstr>Slide Titles</vt:lpstr>
      </vt:variant>
      <vt:variant>
        <vt:i4>5</vt:i4>
      </vt:variant>
    </vt:vector>
  </HeadingPairs>
  <TitlesOfParts>
    <vt:vector size="6" baseType="lpstr">
      <vt:lpstr>KU Theme</vt:lpstr>
      <vt:lpstr>Silal &amp; Khalifa University Incubation Program</vt:lpstr>
      <vt:lpstr>Dataset Summary</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Main Title Goes Here</dc:title>
  <dc:creator>Majed Almansoori</dc:creator>
  <cp:lastModifiedBy>Muhammad  Shafay</cp:lastModifiedBy>
  <cp:revision>182</cp:revision>
  <dcterms:created xsi:type="dcterms:W3CDTF">2018-04-29T10:48:36Z</dcterms:created>
  <dcterms:modified xsi:type="dcterms:W3CDTF">2026-10-13T07:33:33Z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0x010100E7BCE9BEE86D22418B98990A0B028EF2</vt:lpwstr>
  </property>
</Properties>
</file>