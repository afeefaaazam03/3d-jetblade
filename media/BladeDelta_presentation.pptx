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2.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7" r:id="rId18"/>
    <p:sldId id="268" r:id="rId19"/>
    <p:sldId id="270" r:id="rId21"/>
    <p:sldId id="276" r:id="rId27"/>
    <p:sldId id="277" r:id="rId28"/>
    <p:sldId id="281" r:id="rId32"/>
    <p:sldId id="282" r:id="rId33"/>
    <p:sldId id="283" r:id="rId34"/>
    <p:sldId id="284" r:id="rId35"/>
    <p:sldId id="287" r:id="rId38"/>
    <p:sldId id="288" r:id="rId39"/>
    <p:sldId id="290" r:id="rId41"/>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8" Type="http://schemas.openxmlformats.org/officeDocument/2006/relationships/slide" Target="slides/slide9.xml"/><Relationship Id="rId19" Type="http://schemas.openxmlformats.org/officeDocument/2006/relationships/slide" Target="slides/slide10.xml"/><Relationship Id="rId21" Type="http://schemas.openxmlformats.org/officeDocument/2006/relationships/slide" Target="slides/slide12.xml"/><Relationship Id="rId27" Type="http://schemas.openxmlformats.org/officeDocument/2006/relationships/slide" Target="slides/slide18.xml"/><Relationship Id="rId28" Type="http://schemas.openxmlformats.org/officeDocument/2006/relationships/slide" Target="slides/slide19.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8" Type="http://schemas.openxmlformats.org/officeDocument/2006/relationships/slide" Target="slides/slide29.xml"/><Relationship Id="rId39" Type="http://schemas.openxmlformats.org/officeDocument/2006/relationships/slide" Target="slides/slide30.xml"/><Relationship Id="rId41" Type="http://schemas.openxmlformats.org/officeDocument/2006/relationships/slide" Target="slides/slide32.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Separation (AUROC × 100)</c:v>
                </c:pt>
              </c:strCache>
            </c:strRef>
          </c:tx>
          <c:spPr>
            <a:solidFill>
              <a:srgbClr val="0047BB"/>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Sheet1!$B$2:$B$5</c:f>
              <c:numCache>
                <c:formatCode>General</c:formatCode>
                <c:ptCount val="4"/>
                <c:pt idx="0">
                  <c:v>82</c:v>
                </c:pt>
                <c:pt idx="1">
                  <c:v>74</c:v>
                </c:pt>
                <c:pt idx="2">
                  <c:v>72</c:v>
                </c:pt>
                <c:pt idx="3">
                  <c:v>63</c:v>
                </c:pt>
              </c:numCache>
            </c:numRef>
          </c:val>
        </c:ser>
        <c:ser>
          <c:idx val="1"/>
          <c:order val="1"/>
          <c:tx>
            <c:strRef>
              <c:f>Sheet1!$C$1</c:f>
              <c:strCache>
                <c:ptCount val="1"/>
                <c:pt idx="0">
                  <c:v>Visible dents found (%)</c:v>
                </c:pt>
              </c:strCache>
            </c:strRef>
          </c:tx>
          <c:spPr>
            <a:solidFill>
              <a:srgbClr val="E8833A"/>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Sheet1!$C$2:$C$5</c:f>
              <c:numCache>
                <c:formatCode>General</c:formatCode>
                <c:ptCount val="4"/>
                <c:pt idx="0">
                  <c:v>54</c:v>
                </c:pt>
                <c:pt idx="1">
                  <c:v>16</c:v>
                </c:pt>
                <c:pt idx="2">
                  <c:v>24</c:v>
                </c:pt>
                <c:pt idx="3">
                  <c:v>14</c:v>
                </c:pt>
              </c:numCache>
            </c:numRef>
          </c:val>
        </c:ser>
        <c:ser>
          <c:idx val="2"/>
          <c:order val="2"/>
          <c:tx>
            <c:strRef>
              <c:f>Sheet1!$D$1</c:f>
              <c:strCache>
                <c:ptCount val="1"/>
                <c:pt idx="0">
                  <c:v>…in the right place (%)</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Sheet1!$D$2:$D$5</c:f>
              <c:numCache>
                <c:formatCode>General</c:formatCode>
                <c:ptCount val="4"/>
                <c:pt idx="0">
                  <c:v>54</c:v>
                </c:pt>
                <c:pt idx="1">
                  <c:v>11</c:v>
                </c:pt>
                <c:pt idx="2">
                  <c:v>16</c:v>
                </c:pt>
                <c:pt idx="3">
                  <c:v>11</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Target false alarms (%)</c:v>
                </c:pt>
              </c:strCache>
            </c:strRef>
          </c:tx>
          <c:spPr>
            <a:solidFill>
              <a:srgbClr val="5A657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Sheet1!$B$2:$B$4</c:f>
              <c:numCache>
                <c:formatCode>General</c:formatCode>
                <c:ptCount val="3"/>
                <c:pt idx="0">
                  <c:v>5</c:v>
                </c:pt>
                <c:pt idx="1">
                  <c:v>1</c:v>
                </c:pt>
                <c:pt idx="2">
                  <c:v>0</c:v>
                </c:pt>
              </c:numCache>
            </c:numRef>
          </c:val>
        </c:ser>
        <c:ser>
          <c:idx val="1"/>
          <c:order val="1"/>
          <c:tx>
            <c:strRef>
              <c:f>Sheet1!$C$1</c:f>
              <c:strCache>
                <c:ptCount val="1"/>
                <c:pt idx="0">
                  <c:v>Actual false alarms (%)</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 test</c:v>
                </c:pt>
                <c:pt idx="2">
                  <c:v>A-contrario</c:v>
                </c:pt>
              </c:strCache>
            </c:strRef>
          </c:cat>
          <c:val>
            <c:numRef>
              <c:f>Sheet1!$C$2:$C$4</c:f>
              <c:numCache>
                <c:formatCode>General</c:formatCode>
                <c:ptCount val="3"/>
                <c:pt idx="0">
                  <c:v>10</c:v>
                </c:pt>
                <c:pt idx="1">
                  <c:v>32</c:v>
                </c:pt>
                <c:pt idx="2">
                  <c:v>96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Industrial blade 6, depth (mm)</c:v>
                </c:pt>
              </c:strCache>
            </c:strRef>
          </c:tx>
          <c:spPr>
            <a:solidFill>
              <a:srgbClr val="1A7F37"/>
            </a:solidFill>
          </c:spPr>
          <c:dPt>
            <c:idx val="0"/>
            <c:spPr>
              <a:solidFill>
                <a:srgbClr val="1A7F37"/>
              </a:solidFill>
            </c:spPr>
          </c:dPt>
          <c:dPt>
            <c:idx val="1"/>
            <c:spPr>
              <a:solidFill>
                <a:srgbClr val="C62828"/>
              </a:solidFill>
            </c:spPr>
          </c:dPt>
          <c:dLbls>
            <c:numFmt formatCode="0.00 &quot;mm&quot;" sourceLinked="0"/>
            <c:txPr>
              <a:bodyPr/>
              <a:lstStyle/>
              <a:p>
                <a:pPr>
                  <a:defRPr sz="1400" b="1"/>
                </a:pPr>
              </a:p>
            </c:txPr>
            <c:dLblPos val="outEnd"/>
            <c:showLegendKey val="0"/>
            <c:showVal val="1"/>
            <c:showCatName val="0"/>
            <c:showSerName val="0"/>
            <c:showPercent val="0"/>
            <c:showBubbleSize val="0"/>
            <c:showLeaderLines val="1"/>
          </c:dLbls>
          <c:cat>
            <c:strRef>
              <c:f>Sheet1!$A$2:$A$3</c:f>
              <c:strCache>
                <c:ptCount val="2"/>
                <c:pt idx="0">
                  <c:v>True depth</c:v>
                </c:pt>
                <c:pt idx="1">
                  <c:v>Measured</c:v>
                </c:pt>
              </c:strCache>
            </c:strRef>
          </c:cat>
          <c:val>
            <c:numRef>
              <c:f>Sheet1!$B$2:$B$3</c:f>
              <c:numCache>
                <c:formatCode>General</c:formatCode>
                <c:ptCount val="2"/>
                <c:pt idx="0">
                  <c:v>0.64</c:v>
                </c:pt>
                <c:pt idx="1">
                  <c:v>0.06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question: can a computer look at a few photos of a jet engine blade and tell, in 3D, whether it is damaged? And just as important: can it tell when the photos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Blades are inspected regularly from photos. Here a blade has a faint darker patch, circled. Is it damage? That is the question for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dark spot has four possible causes. Only the first, a dent, is real damage. The other three are harmless. A computer must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already exists. Pose-agnostic anomaly detectors like PAD, SplatPose and PIAD compare photos with a model of a healthy object, but output a 2D heatmap. Looking 3D uses a reference mesh but outputs classes and boxes. CAD-NeRF and CADSplat fit a deformation to a CAD model, but to build a digital twin; the deformation absorbs mismatch, it is not a measured defect. Benchmarks like SiM3D and Real3D-AD score anomalies. None gives a measured 3D change, and none says when the photos are not enough. That is our gap.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inputs are the healthy design file and two to seven photos. The method compares two explanations: nothing broke, versus the same plus a dent. Strong evidence: report the dent with its depth and location. Weak evidence: say 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once: render blades with known damage, train an appearance model that predicts how a blade looks under the lights, calibrate the decision threshold on healthy and stained blades, then freeze everything. Online, for each inspection: correct the camera and lighting, fit the best no-damage explanation, propose dents with a fast statistical test, fit the best dent by differentiable rendering, and compare the evidence with the threshold. The same fit also gives the detection-limit map.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public Rotor37 blades, we imported your six industrial blade CAD models. Blue is the airfoil the method inspects; grey is the platform and root. We generated 456 cases with real-world dent sizes. Nothing was retrained on them: this tests whether the method transfers to new designs.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Sealed test, 30 unseen blades. Ours separates dents from healthy blades best and finds more than twice as many dents, all in the right place. MLP and free-form fields reimplement the idea of the recent CADSplat work. Compared fairly at the same false-alarm rate, 51 percent versus at most 19.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held-out industrial blades. Top: a healthy blade; the old version reported a dent, the fixed one reports nothing. Bottom: a real dent; the old version put it 37 millimetres away, the fixed one finds it. Honest limitation: on these new designs the measured depth is still too small, about 60 percent of the truth on average, against 89 percent on the original blades.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score is a likelihood ratio, so why not use a textbook threshold? Because those assume ideal image noise. On the same test fits, a chi-square threshold asked for 1 percent false alarms gives 32 percent, and the classic a-contrario detector flags 96 percent of healthy blades. Our threshold is set on real healthy and stained blades, so it stays close to its target. Calibration is what makes false-alarm control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summary of the numbers. Every number is from frozen methods on sealed test data. The honest caveat: all of this is on rendered images.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honest failure case. On industrial blade 6, a 0.64 millimetre dent is found in the right place but measured as 0.06. We diagnosed it: with two photos, small sharp dents of very different depths produce almost the same pixels. Searching better and restarting the fit deeper did not help. So the fix is more information in the capture, which is our next step.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plan. Step one, synthetic, is done: that is everything you saw. Next, we 3D print the industrial blades, make real damage: dents, nicks, cracks and stains, then measure each blade with a 3D scanner, which gives the true shape in millimetres. We photograph them from two to seven calibrated views, run the method, and compare its numbers with the scan: location, depth and size. Today the method models dents and stains; nicks and cracks need new damage models, which is part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First and most important, real data. Then more views aimed at the suspect area, and grazing light, which makes dent depth visible through shadows. Report depth as a range when the photos cannot pin it down. Extend to nicks and cracks. And the paper, targeting CVPR 2027 with ICCV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3D demo. Here an industrial blade: left the actual dent, right what the model predicts, 0.29 versus 0.30 millimetres, same place. Dents are exaggerated twenty times so they are visible. You can rotate, zoom, and switch between healthy, actual, the new model and the old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9.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8.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9.xml"/><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6.png"/><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BladeDelta: Evidence-Bounded 3D Damage Estimation</a:t>
            </a:r>
          </a:p>
        </p:txBody>
      </p:sp>
      <p:sp>
        <p:nvSpPr>
          <p:cNvPr id="3" name="Subtitle 2"/>
          <p:cNvSpPr>
            <a:spLocks noGrp="1"/>
          </p:cNvSpPr>
          <p:nvPr>
            <p:ph type="subTitle" idx="1"/>
          </p:nvPr>
        </p:nvSpPr>
        <p:spPr/>
        <p:txBody>
          <a:bodyPr/>
          <a:lstStyle/>
          <a:p>
            <a:r>
              <a:t>Measuring blade damage from a CAD model and a few photos</a:t>
            </a:r>
          </a:p>
        </p:txBody>
      </p:sp>
      <p:sp>
        <p:nvSpPr>
          <p:cNvPr id="4" name="Text Placeholder 3"/>
          <p:cNvSpPr>
            <a:spLocks noGrp="1"/>
          </p:cNvSpPr>
          <p:nvPr>
            <p:ph type="body" sz="quarter" idx="10"/>
          </p:nvPr>
        </p:nvSpPr>
        <p:spPr/>
        <p:txBody>
          <a:bodyPr/>
          <a:lstStyle/>
          <a:p>
            <a:r>
              <a:t>[Your Name]  ·  October 2026</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4992624"/>
            <a:ext cx="9418320" cy="1316736"/>
          </a:xfrm>
          <a:prstGeom prst="rect">
            <a:avLst/>
          </a:prstGeom>
          <a:noFill/>
        </p:spPr>
        <p:txBody>
          <a:bodyPr wrap="square" anchor="t">
            <a:spAutoFit/>
          </a:bodyPr>
          <a:lstStyle/>
          <a:p>
            <a:pPr algn="ctr">
              <a:spcAft>
                <a:spcPts val="200"/>
              </a:spcAft>
            </a:pPr>
            <a:r>
              <a:rPr sz="1400" b="0">
                <a:solidFill>
                  <a:srgbClr val="FFFFFF"/>
                </a:solidFill>
              </a:rPr>
              <a:t>Paper: afeefaaazam03.github.io/3D-Jetblade/paper/BladeDelta_draft.pdf</a:t>
            </a:r>
          </a:p>
          <a:p>
            <a:pPr algn="ctr">
              <a:spcAft>
                <a:spcPts val="200"/>
              </a:spcAft>
            </a:pPr>
            <a:r>
              <a:rPr sz="1400" b="0">
                <a:solidFill>
                  <a:srgbClr val="FFFFFF"/>
                </a:solidFill>
              </a:rPr>
              <a:t>Code: github.com/afeefaaazam03/3D-Jetblade    ·    Demo: afeefaaazam03.github.io/3D-Jetblade/try.html</a:t>
            </a:r>
          </a:p>
          <a:p>
            <a:pPr algn="ctr">
              <a:spcAft>
                <a:spcPts val="200"/>
              </a:spcAft>
            </a:pPr>
            <a:r>
              <a:rPr sz="1400" b="0">
                <a:solidFill>
                  <a:srgbClr val="FFFFFF"/>
                </a:solidFill>
              </a:rPr>
              <a:t>Contact: [Your Email]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The Problem</a:t>
            </a:r>
          </a:p>
        </p:txBody>
      </p:sp>
      <p:sp>
        <p:nvSpPr>
          <p:cNvPr id="3" name="TextBox 2"/>
          <p:cNvSpPr txBox="1"/>
          <p:nvPr/>
        </p:nvSpPr>
        <p:spPr>
          <a:xfrm>
            <a:off x="548640" y="2029968"/>
            <a:ext cx="5760720" cy="2880360"/>
          </a:xfrm>
          <a:prstGeom prst="rect">
            <a:avLst/>
          </a:prstGeom>
          <a:noFill/>
        </p:spPr>
        <p:txBody>
          <a:bodyPr wrap="square" anchor="t">
            <a:spAutoFit/>
          </a:bodyPr>
          <a:lstStyle/>
          <a:p>
            <a:pPr algn="l">
              <a:spcAft>
                <a:spcPts val="800"/>
              </a:spcAft>
            </a:pPr>
            <a:r>
              <a:rPr sz="2400" b="0">
                <a:solidFill>
                  <a:srgbClr val="1F2937"/>
                </a:solidFill>
              </a:rPr>
              <a:t>•  Jet engine blades need regular inspection</a:t>
            </a:r>
          </a:p>
          <a:p>
            <a:pPr algn="l">
              <a:spcAft>
                <a:spcPts val="800"/>
              </a:spcAft>
            </a:pPr>
            <a:r>
              <a:rPr sz="2400" b="0">
                <a:solidFill>
                  <a:srgbClr val="1F2937"/>
                </a:solidFill>
              </a:rPr>
              <a:t>•  Inspectors look at photos and write reports</a:t>
            </a:r>
          </a:p>
          <a:p>
            <a:pPr algn="l">
              <a:spcAft>
                <a:spcPts val="800"/>
              </a:spcAft>
            </a:pPr>
            <a:r>
              <a:rPr sz="2400" b="0">
                <a:solidFill>
                  <a:srgbClr val="1F2937"/>
                </a:solidFill>
              </a:rPr>
              <a:t>•  But a dark spot in a photo could be many things</a:t>
            </a:r>
          </a:p>
        </p:txBody>
      </p:sp>
      <p:pic>
        <p:nvPicPr>
          <p:cNvPr id="4" name="Picture 3" descr="s2_whatisthis.png"/>
          <p:cNvPicPr>
            <a:picLocks noChangeAspect="1"/>
          </p:cNvPicPr>
          <p:nvPr/>
        </p:nvPicPr>
        <p:blipFill>
          <a:blip r:embed="rId2"/>
          <a:stretch>
            <a:fillRect/>
          </a:stretch>
        </p:blipFill>
        <p:spPr>
          <a:xfrm>
            <a:off x="7500322" y="1783080"/>
            <a:ext cx="3378794" cy="4608576"/>
          </a:xfrm>
          <a:prstGeom prst="rect">
            <a:avLst/>
          </a:prstGeom>
        </p:spPr>
      </p:pic>
      <p:sp>
        <p:nvSpPr>
          <p:cNvPr id="5" name="Rounded Rectangle 4"/>
          <p:cNvSpPr/>
          <p:nvPr/>
        </p:nvSpPr>
        <p:spPr>
          <a:xfrm>
            <a:off x="9052560" y="1906524"/>
            <a:ext cx="2377440" cy="534924"/>
          </a:xfrm>
          <a:prstGeom prst="round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E8B000"/>
                </a:solidFill>
              </a:rPr>
              <a:t>What is this?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Could a Dark Spot Be?</a:t>
            </a:r>
          </a:p>
        </p:txBody>
      </p:sp>
      <p:pic>
        <p:nvPicPr>
          <p:cNvPr id="3" name="Picture 2" descr="s3_spot.png"/>
          <p:cNvPicPr>
            <a:picLocks noChangeAspect="1"/>
          </p:cNvPicPr>
          <p:nvPr/>
        </p:nvPicPr>
        <p:blipFill>
          <a:blip r:embed="rId2"/>
          <a:stretch>
            <a:fillRect/>
          </a:stretch>
        </p:blipFill>
        <p:spPr>
          <a:xfrm>
            <a:off x="676655" y="1947672"/>
            <a:ext cx="2304288" cy="2304288"/>
          </a:xfrm>
          <a:prstGeom prst="rect">
            <a:avLst/>
          </a:prstGeom>
        </p:spPr>
      </p:pic>
      <p:sp>
        <p:nvSpPr>
          <p:cNvPr id="4" name="Rounded Rectangle 3"/>
          <p:cNvSpPr/>
          <p:nvPr/>
        </p:nvSpPr>
        <p:spPr>
          <a:xfrm>
            <a:off x="548640" y="4375404"/>
            <a:ext cx="2560320" cy="576072"/>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DENT</a:t>
            </a:r>
          </a:p>
        </p:txBody>
      </p:sp>
      <p:sp>
        <p:nvSpPr>
          <p:cNvPr id="5" name="TextBox 4"/>
          <p:cNvSpPr txBox="1"/>
          <p:nvPr/>
        </p:nvSpPr>
        <p:spPr>
          <a:xfrm>
            <a:off x="548640" y="5033772"/>
            <a:ext cx="2560320" cy="658368"/>
          </a:xfrm>
          <a:prstGeom prst="rect">
            <a:avLst/>
          </a:prstGeom>
          <a:noFill/>
        </p:spPr>
        <p:txBody>
          <a:bodyPr wrap="square" anchor="t">
            <a:spAutoFit/>
          </a:bodyPr>
          <a:lstStyle/>
          <a:p>
            <a:pPr algn="ctr">
              <a:spcAft>
                <a:spcPts val="200"/>
              </a:spcAft>
            </a:pPr>
            <a:r>
              <a:rPr sz="1600" b="0">
                <a:solidFill>
                  <a:srgbClr val="5A6577"/>
                </a:solidFill>
              </a:rPr>
              <a:t>pushed-in metal: real damage</a:t>
            </a:r>
          </a:p>
        </p:txBody>
      </p:sp>
      <p:pic>
        <p:nvPicPr>
          <p:cNvPr id="6" name="Picture 5" descr="s3_spot.png"/>
          <p:cNvPicPr>
            <a:picLocks noChangeAspect="1"/>
          </p:cNvPicPr>
          <p:nvPr/>
        </p:nvPicPr>
        <p:blipFill>
          <a:blip r:embed="rId2"/>
          <a:stretch>
            <a:fillRect/>
          </a:stretch>
        </p:blipFill>
        <p:spPr>
          <a:xfrm>
            <a:off x="3511296" y="1947672"/>
            <a:ext cx="2304288" cy="2304288"/>
          </a:xfrm>
          <a:prstGeom prst="rect">
            <a:avLst/>
          </a:prstGeom>
        </p:spPr>
      </p:pic>
      <p:sp>
        <p:nvSpPr>
          <p:cNvPr id="7" name="Rounded Rectangle 6"/>
          <p:cNvSpPr/>
          <p:nvPr/>
        </p:nvSpPr>
        <p:spPr>
          <a:xfrm>
            <a:off x="3383280" y="4375404"/>
            <a:ext cx="2560320" cy="57607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STAIN</a:t>
            </a:r>
          </a:p>
        </p:txBody>
      </p:sp>
      <p:sp>
        <p:nvSpPr>
          <p:cNvPr id="8" name="TextBox 7"/>
          <p:cNvSpPr txBox="1"/>
          <p:nvPr/>
        </p:nvSpPr>
        <p:spPr>
          <a:xfrm>
            <a:off x="3383280" y="5033772"/>
            <a:ext cx="2560320" cy="658368"/>
          </a:xfrm>
          <a:prstGeom prst="rect">
            <a:avLst/>
          </a:prstGeom>
          <a:noFill/>
        </p:spPr>
        <p:txBody>
          <a:bodyPr wrap="square" anchor="t">
            <a:spAutoFit/>
          </a:bodyPr>
          <a:lstStyle/>
          <a:p>
            <a:pPr algn="ctr">
              <a:spcAft>
                <a:spcPts val="200"/>
              </a:spcAft>
            </a:pPr>
            <a:r>
              <a:rPr sz="1600" b="0">
                <a:solidFill>
                  <a:srgbClr val="5A6577"/>
                </a:solidFill>
              </a:rPr>
              <a:t>only the colour changed</a:t>
            </a:r>
          </a:p>
        </p:txBody>
      </p:sp>
      <p:pic>
        <p:nvPicPr>
          <p:cNvPr id="9" name="Picture 8" descr="s3_spot.png"/>
          <p:cNvPicPr>
            <a:picLocks noChangeAspect="1"/>
          </p:cNvPicPr>
          <p:nvPr/>
        </p:nvPicPr>
        <p:blipFill>
          <a:blip r:embed="rId2"/>
          <a:stretch>
            <a:fillRect/>
          </a:stretch>
        </p:blipFill>
        <p:spPr>
          <a:xfrm>
            <a:off x="6345936" y="1947672"/>
            <a:ext cx="2304288" cy="2304288"/>
          </a:xfrm>
          <a:prstGeom prst="rect">
            <a:avLst/>
          </a:prstGeom>
        </p:spPr>
      </p:pic>
      <p:sp>
        <p:nvSpPr>
          <p:cNvPr id="10" name="Rounded Rectangle 9"/>
          <p:cNvSpPr/>
          <p:nvPr/>
        </p:nvSpPr>
        <p:spPr>
          <a:xfrm>
            <a:off x="6217920" y="4375404"/>
            <a:ext cx="2560320" cy="576072"/>
          </a:xfrm>
          <a:prstGeom prst="roundRect">
            <a:avLst/>
          </a:prstGeom>
          <a:solidFill>
            <a:srgbClr val="E8B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LIGHTING</a:t>
            </a:r>
          </a:p>
        </p:txBody>
      </p:sp>
      <p:sp>
        <p:nvSpPr>
          <p:cNvPr id="11" name="TextBox 10"/>
          <p:cNvSpPr txBox="1"/>
          <p:nvPr/>
        </p:nvSpPr>
        <p:spPr>
          <a:xfrm>
            <a:off x="6217920" y="5033772"/>
            <a:ext cx="2560320" cy="658368"/>
          </a:xfrm>
          <a:prstGeom prst="rect">
            <a:avLst/>
          </a:prstGeom>
          <a:noFill/>
        </p:spPr>
        <p:txBody>
          <a:bodyPr wrap="square" anchor="t">
            <a:spAutoFit/>
          </a:bodyPr>
          <a:lstStyle/>
          <a:p>
            <a:pPr algn="ctr">
              <a:spcAft>
                <a:spcPts val="200"/>
              </a:spcAft>
            </a:pPr>
            <a:r>
              <a:rPr sz="1600" b="0">
                <a:solidFill>
                  <a:srgbClr val="5A6577"/>
                </a:solidFill>
              </a:rPr>
              <a:t>a lamp brighter or dimmer</a:t>
            </a:r>
          </a:p>
        </p:txBody>
      </p:sp>
      <p:pic>
        <p:nvPicPr>
          <p:cNvPr id="12" name="Picture 11" descr="s3_spot.png"/>
          <p:cNvPicPr>
            <a:picLocks noChangeAspect="1"/>
          </p:cNvPicPr>
          <p:nvPr/>
        </p:nvPicPr>
        <p:blipFill>
          <a:blip r:embed="rId2"/>
          <a:stretch>
            <a:fillRect/>
          </a:stretch>
        </p:blipFill>
        <p:spPr>
          <a:xfrm>
            <a:off x="9180576" y="1947672"/>
            <a:ext cx="2304288" cy="2304288"/>
          </a:xfrm>
          <a:prstGeom prst="rect">
            <a:avLst/>
          </a:prstGeom>
        </p:spPr>
      </p:pic>
      <p:sp>
        <p:nvSpPr>
          <p:cNvPr id="13" name="Rounded Rectangle 12"/>
          <p:cNvSpPr/>
          <p:nvPr/>
        </p:nvSpPr>
        <p:spPr>
          <a:xfrm>
            <a:off x="9052560" y="4375404"/>
            <a:ext cx="25603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CAMERA ERROR</a:t>
            </a:r>
          </a:p>
        </p:txBody>
      </p:sp>
      <p:sp>
        <p:nvSpPr>
          <p:cNvPr id="14" name="TextBox 13"/>
          <p:cNvSpPr txBox="1"/>
          <p:nvPr/>
        </p:nvSpPr>
        <p:spPr>
          <a:xfrm>
            <a:off x="9052560" y="5033772"/>
            <a:ext cx="2560320" cy="658368"/>
          </a:xfrm>
          <a:prstGeom prst="rect">
            <a:avLst/>
          </a:prstGeom>
          <a:noFill/>
        </p:spPr>
        <p:txBody>
          <a:bodyPr wrap="square" anchor="t">
            <a:spAutoFit/>
          </a:bodyPr>
          <a:lstStyle/>
          <a:p>
            <a:pPr algn="ctr">
              <a:spcAft>
                <a:spcPts val="200"/>
              </a:spcAft>
            </a:pPr>
            <a:r>
              <a:rPr sz="1600" b="0">
                <a:solidFill>
                  <a:srgbClr val="5A6577"/>
                </a:solidFill>
              </a:rPr>
              <a:t>the camera moved 1°</a:t>
            </a:r>
          </a:p>
        </p:txBody>
      </p:sp>
      <p:sp>
        <p:nvSpPr>
          <p:cNvPr id="15" name="TextBox 14"/>
          <p:cNvSpPr txBox="1"/>
          <p:nvPr/>
        </p:nvSpPr>
        <p:spPr>
          <a:xfrm>
            <a:off x="548640" y="5856731"/>
            <a:ext cx="11064240" cy="493776"/>
          </a:xfrm>
          <a:prstGeom prst="rect">
            <a:avLst/>
          </a:prstGeom>
          <a:noFill/>
        </p:spPr>
        <p:txBody>
          <a:bodyPr wrap="square" anchor="t">
            <a:spAutoFit/>
          </a:bodyPr>
          <a:lstStyle/>
          <a:p>
            <a:pPr algn="ctr">
              <a:spcAft>
                <a:spcPts val="200"/>
              </a:spcAft>
            </a:pPr>
            <a:r>
              <a:rPr sz="2400" b="1">
                <a:solidFill>
                  <a:srgbClr val="0047BB"/>
                </a:solidFill>
              </a:rPr>
              <a:t>In a photo, all four can look almost exactly the same.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What Exists Today: The Literature Gap</a:t>
            </a:r>
          </a:p>
        </p:txBody>
      </p:sp>
      <p:graphicFrame>
        <p:nvGraphicFramePr>
          <p:cNvPr id="3" name="Table 2"/>
          <p:cNvGraphicFramePr>
            <a:graphicFrameLocks noGrp="1"/>
          </p:cNvGraphicFramePr>
          <p:nvPr/>
        </p:nvGraphicFramePr>
        <p:xfrm>
          <a:off x="365760" y="1783080"/>
          <a:ext cx="11430000" cy="3538728"/>
        </p:xfrm>
        <a:graphic>
          <a:graphicData uri="http://schemas.openxmlformats.org/drawingml/2006/table">
            <a:tbl>
              <a:tblPr firstRow="1" bandRow="1">
                <a:tableStyleId>{5C22544A-7EE6-4342-B048-85BDC9FD1C3A}</a:tableStyleId>
              </a:tblPr>
              <a:tblGrid>
                <a:gridCol w="3291840"/>
                <a:gridCol w="2651760"/>
                <a:gridCol w="2651760"/>
                <a:gridCol w="1463040"/>
                <a:gridCol w="1371600"/>
              </a:tblGrid>
              <a:tr h="505532">
                <a:tc>
                  <a:txBody>
                    <a:bodyPr/>
                    <a:lstStyle/>
                    <a:p>
                      <a:r>
                        <a:rPr sz="1200" b="1">
                          <a:solidFill>
                            <a:srgbClr val="FFFFFF"/>
                          </a:solidFill>
                        </a:rPr>
                        <a:t>Work</a:t>
                      </a:r>
                    </a:p>
                  </a:txBody>
                  <a:tcPr>
                    <a:solidFill>
                      <a:srgbClr val="0047BB"/>
                    </a:solidFill>
                  </a:tcPr>
                </a:tc>
                <a:tc>
                  <a:txBody>
                    <a:bodyPr/>
                    <a:lstStyle/>
                    <a:p>
                      <a:r>
                        <a:rPr sz="1200" b="1">
                          <a:solidFill>
                            <a:srgbClr val="FFFFFF"/>
                          </a:solidFill>
                        </a:rPr>
                        <a:t>Input / reference</a:t>
                      </a:r>
                    </a:p>
                  </a:txBody>
                  <a:tcPr>
                    <a:solidFill>
                      <a:srgbClr val="0047BB"/>
                    </a:solidFill>
                  </a:tcPr>
                </a:tc>
                <a:tc>
                  <a:txBody>
                    <a:bodyPr/>
                    <a:lstStyle/>
                    <a:p>
                      <a:r>
                        <a:rPr sz="1200" b="1">
                          <a:solidFill>
                            <a:srgbClr val="FFFFFF"/>
                          </a:solidFill>
                        </a:rPr>
                        <a:t>Output</a:t>
                      </a:r>
                    </a:p>
                  </a:txBody>
                  <a:tcPr>
                    <a:solidFill>
                      <a:srgbClr val="0047BB"/>
                    </a:solidFill>
                  </a:tcPr>
                </a:tc>
                <a:tc>
                  <a:txBody>
                    <a:bodyPr/>
                    <a:lstStyle/>
                    <a:p>
                      <a:r>
                        <a:rPr sz="1200" b="1">
                          <a:solidFill>
                            <a:srgbClr val="FFFFFF"/>
                          </a:solidFill>
                        </a:rPr>
                        <a:t>Real 3D depth (mm)?</a:t>
                      </a:r>
                    </a:p>
                  </a:txBody>
                  <a:tcPr>
                    <a:solidFill>
                      <a:srgbClr val="0047BB"/>
                    </a:solidFill>
                  </a:tcPr>
                </a:tc>
                <a:tc>
                  <a:txBody>
                    <a:bodyPr/>
                    <a:lstStyle/>
                    <a:p>
                      <a:r>
                        <a:rPr sz="1200" b="1">
                          <a:solidFill>
                            <a:srgbClr val="FFFFFF"/>
                          </a:solidFill>
                        </a:rPr>
                        <a:t>Says "not sure"?</a:t>
                      </a:r>
                    </a:p>
                  </a:txBody>
                  <a:tcPr>
                    <a:solidFill>
                      <a:srgbClr val="0047BB"/>
                    </a:solidFill>
                  </a:tcPr>
                </a:tc>
              </a:tr>
              <a:tr h="505532">
                <a:tc>
                  <a:txBody>
                    <a:bodyPr/>
                    <a:lstStyle/>
                    <a:p>
                      <a:r>
                        <a:rPr sz="1200" b="0">
                          <a:solidFill>
                            <a:srgbClr val="1F2937"/>
                          </a:solidFill>
                        </a:rPr>
                        <a:t>PAD / OmniposeAD (NeurIPS 2023)</a:t>
                      </a:r>
                    </a:p>
                  </a:txBody>
                  <a:tcPr>
                    <a:solidFill>
                      <a:srgbClr val="F2F5FA"/>
                    </a:solidFill>
                  </a:tcPr>
                </a:tc>
                <a:tc>
                  <a:txBody>
                    <a:bodyPr/>
                    <a:lstStyle/>
                    <a:p>
                      <a:r>
                        <a:rPr sz="1200" b="0">
                          <a:solidFill>
                            <a:srgbClr val="1F2937"/>
                          </a:solidFill>
                        </a:rPr>
                        <a:t>Photos + healthy-object NeRF</a:t>
                      </a:r>
                    </a:p>
                  </a:txBody>
                  <a:tcPr>
                    <a:solidFill>
                      <a:srgbClr val="F2F5FA"/>
                    </a:solidFill>
                  </a:tcPr>
                </a:tc>
                <a:tc>
                  <a:txBody>
                    <a:bodyPr/>
                    <a:lstStyle/>
                    <a:p>
                      <a:r>
                        <a:rPr sz="1200" b="0">
                          <a:solidFill>
                            <a:srgbClr val="1F2937"/>
                          </a:solidFill>
                        </a:rPr>
                        <a:t>2D anomaly map</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2">
                <a:tc>
                  <a:txBody>
                    <a:bodyPr/>
                    <a:lstStyle/>
                    <a:p>
                      <a:r>
                        <a:rPr sz="1200" b="0">
                          <a:solidFill>
                            <a:srgbClr val="1F2937"/>
                          </a:solidFill>
                        </a:rPr>
                        <a:t>SplatPose (2024), PIAD (CVPR 2025)</a:t>
                      </a:r>
                    </a:p>
                  </a:txBody>
                  <a:tcPr>
                    <a:solidFill>
                      <a:srgbClr val="FFFFFF"/>
                    </a:solidFill>
                  </a:tcPr>
                </a:tc>
                <a:tc>
                  <a:txBody>
                    <a:bodyPr/>
                    <a:lstStyle/>
                    <a:p>
                      <a:r>
                        <a:rPr sz="1200" b="0">
                          <a:solidFill>
                            <a:srgbClr val="1F2937"/>
                          </a:solidFill>
                        </a:rPr>
                        <a:t>Photos + healthy-object Gaussians</a:t>
                      </a:r>
                    </a:p>
                  </a:txBody>
                  <a:tcPr>
                    <a:solidFill>
                      <a:srgbClr val="FFFFFF"/>
                    </a:solidFill>
                  </a:tcPr>
                </a:tc>
                <a:tc>
                  <a:txBody>
                    <a:bodyPr/>
                    <a:lstStyle/>
                    <a:p>
                      <a:r>
                        <a:rPr sz="1200" b="0">
                          <a:solidFill>
                            <a:srgbClr val="1F2937"/>
                          </a:solidFill>
                        </a:rPr>
                        <a:t>2D anomaly map</a:t>
                      </a:r>
                    </a:p>
                  </a:txBody>
                  <a:tcPr>
                    <a:solidFill>
                      <a:srgbClr val="FFFFFF"/>
                    </a:solidFill>
                  </a:tcPr>
                </a:tc>
                <a:tc>
                  <a:txBody>
                    <a:bodyPr/>
                    <a:lstStyle/>
                    <a:p>
                      <a:r>
                        <a:rPr sz="1200" b="0">
                          <a:solidFill>
                            <a:srgbClr val="1F2937"/>
                          </a:solidFill>
                        </a:rPr>
                        <a:t>No</a:t>
                      </a:r>
                    </a:p>
                  </a:txBody>
                  <a:tcPr>
                    <a:solidFill>
                      <a:srgbClr val="FFFFFF"/>
                    </a:solidFill>
                  </a:tcPr>
                </a:tc>
                <a:tc>
                  <a:txBody>
                    <a:bodyPr/>
                    <a:lstStyle/>
                    <a:p>
                      <a:r>
                        <a:rPr sz="1200" b="0">
                          <a:solidFill>
                            <a:srgbClr val="1F2937"/>
                          </a:solidFill>
                        </a:rPr>
                        <a:t>No</a:t>
                      </a:r>
                    </a:p>
                  </a:txBody>
                  <a:tcPr>
                    <a:solidFill>
                      <a:srgbClr val="FFFFFF"/>
                    </a:solidFill>
                  </a:tcPr>
                </a:tc>
              </a:tr>
              <a:tr h="505532">
                <a:tc>
                  <a:txBody>
                    <a:bodyPr/>
                    <a:lstStyle/>
                    <a:p>
                      <a:r>
                        <a:rPr sz="1200" b="0">
                          <a:solidFill>
                            <a:srgbClr val="1F2937"/>
                          </a:solidFill>
                        </a:rPr>
                        <a:t>Looking 3D (CVPR 2024)</a:t>
                      </a:r>
                    </a:p>
                  </a:txBody>
                  <a:tcPr>
                    <a:solidFill>
                      <a:srgbClr val="F2F5FA"/>
                    </a:solidFill>
                  </a:tcPr>
                </a:tc>
                <a:tc>
                  <a:txBody>
                    <a:bodyPr/>
                    <a:lstStyle/>
                    <a:p>
                      <a:r>
                        <a:rPr sz="1200" b="0">
                          <a:solidFill>
                            <a:srgbClr val="1F2937"/>
                          </a:solidFill>
                        </a:rPr>
                        <a:t>1 photo + reference mesh</a:t>
                      </a:r>
                    </a:p>
                  </a:txBody>
                  <a:tcPr>
                    <a:solidFill>
                      <a:srgbClr val="F2F5FA"/>
                    </a:solidFill>
                  </a:tcPr>
                </a:tc>
                <a:tc>
                  <a:txBody>
                    <a:bodyPr/>
                    <a:lstStyle/>
                    <a:p>
                      <a:r>
                        <a:rPr sz="1200" b="0">
                          <a:solidFill>
                            <a:srgbClr val="1F2937"/>
                          </a:solidFill>
                        </a:rPr>
                        <a:t>Class, box, mask</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2">
                <a:tc>
                  <a:txBody>
                    <a:bodyPr/>
                    <a:lstStyle/>
                    <a:p>
                      <a:r>
                        <a:rPr sz="1200" b="0">
                          <a:solidFill>
                            <a:srgbClr val="1F2937"/>
                          </a:solidFill>
                        </a:rPr>
                        <a:t>CAD-NeRF (2024), CADSplat (2026)</a:t>
                      </a:r>
                    </a:p>
                  </a:txBody>
                  <a:tcPr>
                    <a:solidFill>
                      <a:srgbClr val="FFFFFF"/>
                    </a:solidFill>
                  </a:tcPr>
                </a:tc>
                <a:tc>
                  <a:txBody>
                    <a:bodyPr/>
                    <a:lstStyle/>
                    <a:p>
                      <a:r>
                        <a:rPr sz="1200" b="0">
                          <a:solidFill>
                            <a:srgbClr val="1F2937"/>
                          </a:solidFill>
                        </a:rPr>
                        <a:t>Few posed views + CAD</a:t>
                      </a:r>
                    </a:p>
                  </a:txBody>
                  <a:tcPr>
                    <a:solidFill>
                      <a:srgbClr val="FFFFFF"/>
                    </a:solidFill>
                  </a:tcPr>
                </a:tc>
                <a:tc>
                  <a:txBody>
                    <a:bodyPr/>
                    <a:lstStyle/>
                    <a:p>
                      <a:r>
                        <a:rPr sz="1200" b="0">
                          <a:solidFill>
                            <a:srgbClr val="1F2937"/>
                          </a:solidFill>
                        </a:rPr>
                        <a:t>Digital twin (shape mismatch absorbed)</a:t>
                      </a:r>
                    </a:p>
                  </a:txBody>
                  <a:tcPr>
                    <a:solidFill>
                      <a:srgbClr val="FFFFFF"/>
                    </a:solidFill>
                  </a:tcPr>
                </a:tc>
                <a:tc>
                  <a:txBody>
                    <a:bodyPr/>
                    <a:lstStyle/>
                    <a:p>
                      <a:r>
                        <a:rPr sz="1200" b="0">
                          <a:solidFill>
                            <a:srgbClr val="1F2937"/>
                          </a:solidFill>
                        </a:rPr>
                        <a:t>No</a:t>
                      </a:r>
                    </a:p>
                  </a:txBody>
                  <a:tcPr>
                    <a:solidFill>
                      <a:srgbClr val="FFFFFF"/>
                    </a:solidFill>
                  </a:tcPr>
                </a:tc>
                <a:tc>
                  <a:txBody>
                    <a:bodyPr/>
                    <a:lstStyle/>
                    <a:p>
                      <a:r>
                        <a:rPr sz="1200" b="0">
                          <a:solidFill>
                            <a:srgbClr val="1F2937"/>
                          </a:solidFill>
                        </a:rPr>
                        <a:t>No</a:t>
                      </a:r>
                    </a:p>
                  </a:txBody>
                  <a:tcPr>
                    <a:solidFill>
                      <a:srgbClr val="FFFFFF"/>
                    </a:solidFill>
                  </a:tcPr>
                </a:tc>
              </a:tr>
              <a:tr h="505532">
                <a:tc>
                  <a:txBody>
                    <a:bodyPr/>
                    <a:lstStyle/>
                    <a:p>
                      <a:r>
                        <a:rPr sz="1200" b="0">
                          <a:solidFill>
                            <a:srgbClr val="1F2937"/>
                          </a:solidFill>
                        </a:rPr>
                        <a:t>SiM3D (ICCV 2025), Real3D-AD (NeurIPS 2023)</a:t>
                      </a:r>
                    </a:p>
                  </a:txBody>
                  <a:tcPr>
                    <a:solidFill>
                      <a:srgbClr val="F2F5FA"/>
                    </a:solidFill>
                  </a:tcPr>
                </a:tc>
                <a:tc>
                  <a:txBody>
                    <a:bodyPr/>
                    <a:lstStyle/>
                    <a:p>
                      <a:r>
                        <a:rPr sz="1200" b="0">
                          <a:solidFill>
                            <a:srgbClr val="1F2937"/>
                          </a:solidFill>
                        </a:rPr>
                        <a:t>3D scans / multi-view</a:t>
                      </a:r>
                    </a:p>
                  </a:txBody>
                  <a:tcPr>
                    <a:solidFill>
                      <a:srgbClr val="F2F5FA"/>
                    </a:solidFill>
                  </a:tcPr>
                </a:tc>
                <a:tc>
                  <a:txBody>
                    <a:bodyPr/>
                    <a:lstStyle/>
                    <a:p>
                      <a:r>
                        <a:rPr sz="1200" b="0">
                          <a:solidFill>
                            <a:srgbClr val="1F2937"/>
                          </a:solidFill>
                        </a:rPr>
                        <a:t>Benchmarks, anomaly scores</a:t>
                      </a:r>
                    </a:p>
                  </a:txBody>
                  <a:tcPr>
                    <a:solidFill>
                      <a:srgbClr val="F2F5FA"/>
                    </a:solidFill>
                  </a:tcPr>
                </a:tc>
                <a:tc>
                  <a:txBody>
                    <a:bodyPr/>
                    <a:lstStyle/>
                    <a:p>
                      <a:r>
                        <a:rPr sz="1200" b="0">
                          <a:solidFill>
                            <a:srgbClr val="1F2937"/>
                          </a:solidFill>
                        </a:rPr>
                        <a:t>No</a:t>
                      </a:r>
                    </a:p>
                  </a:txBody>
                  <a:tcPr>
                    <a:solidFill>
                      <a:srgbClr val="F2F5FA"/>
                    </a:solidFill>
                  </a:tcPr>
                </a:tc>
                <a:tc>
                  <a:txBody>
                    <a:bodyPr/>
                    <a:lstStyle/>
                    <a:p>
                      <a:r>
                        <a:rPr sz="1200" b="0">
                          <a:solidFill>
                            <a:srgbClr val="1F2937"/>
                          </a:solidFill>
                        </a:rPr>
                        <a:t>No</a:t>
                      </a:r>
                    </a:p>
                  </a:txBody>
                  <a:tcPr>
                    <a:solidFill>
                      <a:srgbClr val="F2F5FA"/>
                    </a:solidFill>
                  </a:tcPr>
                </a:tc>
              </a:tr>
              <a:tr h="505536">
                <a:tc>
                  <a:txBody>
                    <a:bodyPr/>
                    <a:lstStyle/>
                    <a:p>
                      <a:r>
                        <a:rPr sz="1200" b="1">
                          <a:solidFill>
                            <a:srgbClr val="0047BB"/>
                          </a:solidFill>
                        </a:rPr>
                        <a:t>Ours: BladeDelta</a:t>
                      </a:r>
                    </a:p>
                  </a:txBody>
                  <a:tcPr>
                    <a:solidFill>
                      <a:srgbClr val="E3ECFA"/>
                    </a:solidFill>
                  </a:tcPr>
                </a:tc>
                <a:tc>
                  <a:txBody>
                    <a:bodyPr/>
                    <a:lstStyle/>
                    <a:p>
                      <a:r>
                        <a:rPr sz="1200" b="1">
                          <a:solidFill>
                            <a:srgbClr val="0047BB"/>
                          </a:solidFill>
                        </a:rPr>
                        <a:t>Healthy CAD + 2–7 photos</a:t>
                      </a:r>
                    </a:p>
                  </a:txBody>
                  <a:tcPr>
                    <a:solidFill>
                      <a:srgbClr val="E3ECFA"/>
                    </a:solidFill>
                  </a:tcPr>
                </a:tc>
                <a:tc>
                  <a:txBody>
                    <a:bodyPr/>
                    <a:lstStyle/>
                    <a:p>
                      <a:r>
                        <a:rPr sz="1200" b="1">
                          <a:solidFill>
                            <a:srgbClr val="0047BB"/>
                          </a:solidFill>
                        </a:rPr>
                        <a:t>3D dent: location + depth (mm)</a:t>
                      </a:r>
                    </a:p>
                  </a:txBody>
                  <a:tcPr>
                    <a:solidFill>
                      <a:srgbClr val="E3ECFA"/>
                    </a:solidFill>
                  </a:tcPr>
                </a:tc>
                <a:tc>
                  <a:txBody>
                    <a:bodyPr/>
                    <a:lstStyle/>
                    <a:p>
                      <a:r>
                        <a:rPr sz="1200" b="1">
                          <a:solidFill>
                            <a:srgbClr val="0047BB"/>
                          </a:solidFill>
                        </a:rPr>
                        <a:t>Yes</a:t>
                      </a:r>
                    </a:p>
                  </a:txBody>
                  <a:tcPr>
                    <a:solidFill>
                      <a:srgbClr val="E3ECFA"/>
                    </a:solidFill>
                  </a:tcPr>
                </a:tc>
                <a:tc>
                  <a:txBody>
                    <a:bodyPr/>
                    <a:lstStyle/>
                    <a:p>
                      <a:r>
                        <a:rPr sz="1200" b="1">
                          <a:solidFill>
                            <a:srgbClr val="0047BB"/>
                          </a:solidFill>
                        </a:rPr>
                        <a:t>Yes, calibrated</a:t>
                      </a:r>
                    </a:p>
                  </a:txBody>
                  <a:tcPr>
                    <a:solidFill>
                      <a:srgbClr val="E3ECFA"/>
                    </a:solidFill>
                  </a:tcPr>
                </a:tc>
              </a:tr>
            </a:tbl>
          </a:graphicData>
        </a:graphic>
      </p:graphicFrame>
      <p:sp>
        <p:nvSpPr>
          <p:cNvPr id="4" name="Rounded Rectangle 3"/>
          <p:cNvSpPr/>
          <p:nvPr/>
        </p:nvSpPr>
        <p:spPr>
          <a:xfrm>
            <a:off x="365760" y="5527548"/>
            <a:ext cx="11430000" cy="6995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0047BB"/>
                </a:solidFill>
              </a:rPr>
              <a:t>Gap: no method outputs a measured 3D change and knows when the photos cannot support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Idea: Evidence-Bounded 3D Damage Estimation</a:t>
            </a:r>
          </a:p>
        </p:txBody>
      </p:sp>
      <p:sp>
        <p:nvSpPr>
          <p:cNvPr id="3" name="TextBox 2"/>
          <p:cNvSpPr txBox="1"/>
          <p:nvPr/>
        </p:nvSpPr>
        <p:spPr>
          <a:xfrm>
            <a:off x="548640" y="1906524"/>
            <a:ext cx="10972800" cy="987552"/>
          </a:xfrm>
          <a:prstGeom prst="rect">
            <a:avLst/>
          </a:prstGeom>
          <a:noFill/>
        </p:spPr>
        <p:txBody>
          <a:bodyPr wrap="square" anchor="t">
            <a:spAutoFit/>
          </a:bodyPr>
          <a:lstStyle/>
          <a:p>
            <a:pPr algn="l">
              <a:spcAft>
                <a:spcPts val="200"/>
              </a:spcAft>
            </a:pPr>
            <a:r>
              <a:rPr sz="2000" b="0">
                <a:solidFill>
                  <a:srgbClr val="5A6577"/>
                </a:solidFill>
              </a:rPr>
              <a:t>Given a healthy CAD model + a few photos, find physical damage in 3D,</a:t>
            </a:r>
          </a:p>
          <a:p>
            <a:pPr algn="l">
              <a:spcAft>
                <a:spcPts val="200"/>
              </a:spcAft>
            </a:pPr>
            <a:r>
              <a:rPr sz="2000" b="0">
                <a:solidFill>
                  <a:srgbClr val="5A6577"/>
                </a:solidFill>
              </a:rPr>
              <a:t>but only when the photos actually prove it. If not sure, say "not enough evidence".</a:t>
            </a:r>
          </a:p>
        </p:txBody>
      </p:sp>
      <p:pic>
        <p:nvPicPr>
          <p:cNvPr id="4" name="Picture 3" descr="s8_healthy.png"/>
          <p:cNvPicPr>
            <a:picLocks noChangeAspect="1"/>
          </p:cNvPicPr>
          <p:nvPr/>
        </p:nvPicPr>
        <p:blipFill>
          <a:blip r:embed="rId2"/>
          <a:stretch>
            <a:fillRect/>
          </a:stretch>
        </p:blipFill>
        <p:spPr>
          <a:xfrm>
            <a:off x="632957" y="3099816"/>
            <a:ext cx="1568725" cy="2139696"/>
          </a:xfrm>
          <a:prstGeom prst="rect">
            <a:avLst/>
          </a:prstGeom>
        </p:spPr>
      </p:pic>
      <p:pic>
        <p:nvPicPr>
          <p:cNvPr id="5" name="Picture 4" descr="s8_photo.png"/>
          <p:cNvPicPr>
            <a:picLocks noChangeAspect="1"/>
          </p:cNvPicPr>
          <p:nvPr/>
        </p:nvPicPr>
        <p:blipFill>
          <a:blip r:embed="rId3"/>
          <a:stretch>
            <a:fillRect/>
          </a:stretch>
        </p:blipFill>
        <p:spPr>
          <a:xfrm>
            <a:off x="2461757" y="3099816"/>
            <a:ext cx="1568725" cy="2139696"/>
          </a:xfrm>
          <a:prstGeom prst="rect">
            <a:avLst/>
          </a:prstGeom>
        </p:spPr>
      </p:pic>
      <p:sp>
        <p:nvSpPr>
          <p:cNvPr id="6" name="TextBox 5"/>
          <p:cNvSpPr txBox="1"/>
          <p:nvPr/>
        </p:nvSpPr>
        <p:spPr>
          <a:xfrm>
            <a:off x="548640" y="5280660"/>
            <a:ext cx="3566160" cy="411480"/>
          </a:xfrm>
          <a:prstGeom prst="rect">
            <a:avLst/>
          </a:prstGeom>
          <a:noFill/>
        </p:spPr>
        <p:txBody>
          <a:bodyPr wrap="square" anchor="t">
            <a:spAutoFit/>
          </a:bodyPr>
          <a:lstStyle/>
          <a:p>
            <a:pPr algn="ctr">
              <a:spcAft>
                <a:spcPts val="200"/>
              </a:spcAft>
            </a:pPr>
            <a:r>
              <a:rPr sz="1600" b="0">
                <a:solidFill>
                  <a:srgbClr val="5A6577"/>
                </a:solidFill>
              </a:rPr>
              <a:t>healthy CAD   +   photos</a:t>
            </a:r>
          </a:p>
        </p:txBody>
      </p:sp>
      <p:sp>
        <p:nvSpPr>
          <p:cNvPr id="7" name="Right Arrow 6"/>
          <p:cNvSpPr/>
          <p:nvPr/>
        </p:nvSpPr>
        <p:spPr>
          <a:xfrm>
            <a:off x="4297680" y="4005072"/>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3346704"/>
            <a:ext cx="2651760" cy="164592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Compare two</a:t>
            </a:r>
          </a:p>
          <a:p>
            <a:pPr algn="ctr"/>
            <a:r>
              <a:rPr sz="1600" b="0">
                <a:solidFill>
                  <a:srgbClr val="FFFFFF"/>
                </a:solidFill>
              </a:rPr>
              <a:t>explanations</a:t>
            </a:r>
          </a:p>
          <a:p>
            <a:pPr algn="ctr"/>
            <a:r>
              <a:rPr sz="1600" b="0">
                <a:solidFill>
                  <a:srgbClr val="FFFFFF"/>
                </a:solidFill>
              </a:rPr>
              <a:t>"nothing broke"</a:t>
            </a:r>
          </a:p>
          <a:p>
            <a:pPr algn="ctr"/>
            <a:r>
              <a:rPr sz="1600" b="0">
                <a:solidFill>
                  <a:srgbClr val="FFFFFF"/>
                </a:solidFill>
              </a:rPr>
              <a:t>vs "plus a dent"</a:t>
            </a:r>
          </a:p>
        </p:txBody>
      </p:sp>
      <p:sp>
        <p:nvSpPr>
          <p:cNvPr id="9" name="Right Arrow 8"/>
          <p:cNvSpPr/>
          <p:nvPr/>
        </p:nvSpPr>
        <p:spPr>
          <a:xfrm>
            <a:off x="7863840" y="3552444"/>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863840" y="470458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95360" y="3017520"/>
            <a:ext cx="310896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DAMAGE FOUND</a:t>
            </a:r>
          </a:p>
          <a:p>
            <a:pPr algn="ctr"/>
            <a:r>
              <a:rPr sz="1800" b="0">
                <a:solidFill>
                  <a:srgbClr val="FFFFFF"/>
                </a:solidFill>
              </a:rPr>
              <a:t>0.35 mm deep, here</a:t>
            </a:r>
          </a:p>
        </p:txBody>
      </p:sp>
      <p:sp>
        <p:nvSpPr>
          <p:cNvPr id="12" name="Rounded Rectangle 11"/>
          <p:cNvSpPr/>
          <p:nvPr/>
        </p:nvSpPr>
        <p:spPr>
          <a:xfrm>
            <a:off x="8595360" y="4375404"/>
            <a:ext cx="3108960" cy="102870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NOT ENOUGH</a:t>
            </a:r>
          </a:p>
          <a:p>
            <a:pPr algn="ctr"/>
            <a:r>
              <a:rPr sz="1800" b="0">
                <a:solidFill>
                  <a:srgbClr val="FFFFFF"/>
                </a:solidFill>
              </a:rPr>
              <a:t>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System Architecture</a:t>
            </a:r>
          </a:p>
        </p:txBody>
      </p:sp>
      <p:sp>
        <p:nvSpPr>
          <p:cNvPr id="3" name="TextBox 2"/>
          <p:cNvSpPr txBox="1"/>
          <p:nvPr/>
        </p:nvSpPr>
        <p:spPr>
          <a:xfrm>
            <a:off x="365760" y="1741932"/>
            <a:ext cx="2743200" cy="329184"/>
          </a:xfrm>
          <a:prstGeom prst="rect">
            <a:avLst/>
          </a:prstGeom>
          <a:noFill/>
        </p:spPr>
        <p:txBody>
          <a:bodyPr wrap="square" anchor="t">
            <a:spAutoFit/>
          </a:bodyPr>
          <a:lstStyle/>
          <a:p>
            <a:pPr algn="l">
              <a:spcAft>
                <a:spcPts val="200"/>
              </a:spcAft>
            </a:pPr>
            <a:r>
              <a:rPr sz="1400" b="1">
                <a:solidFill>
                  <a:srgbClr val="5A6577"/>
                </a:solidFill>
              </a:rPr>
              <a:t>OFFLINE (once)</a:t>
            </a:r>
          </a:p>
        </p:txBody>
      </p:sp>
      <p:sp>
        <p:nvSpPr>
          <p:cNvPr id="4" name="Rounded Rectangle 3"/>
          <p:cNvSpPr/>
          <p:nvPr/>
        </p:nvSpPr>
        <p:spPr>
          <a:xfrm>
            <a:off x="36576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Blade CAD + synthetic damage</a:t>
            </a:r>
          </a:p>
          <a:p>
            <a:pPr algn="ctr"/>
            <a:r>
              <a:rPr sz="1300" b="0">
                <a:solidFill>
                  <a:srgbClr val="FFFFFF"/>
                </a:solidFill>
              </a:rPr>
              <a:t>Blender renders</a:t>
            </a:r>
          </a:p>
        </p:txBody>
      </p:sp>
      <p:sp>
        <p:nvSpPr>
          <p:cNvPr id="5" name="Right Arrow 4"/>
          <p:cNvSpPr/>
          <p:nvPr/>
        </p:nvSpPr>
        <p:spPr>
          <a:xfrm>
            <a:off x="2907791"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4612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Appearance model</a:t>
            </a:r>
          </a:p>
          <a:p>
            <a:pPr algn="ctr"/>
            <a:r>
              <a:rPr sz="1300" b="0">
                <a:solidFill>
                  <a:srgbClr val="FFFFFF"/>
                </a:solidFill>
              </a:rPr>
              <a:t>trained on renders</a:t>
            </a:r>
          </a:p>
        </p:txBody>
      </p:sp>
      <p:sp>
        <p:nvSpPr>
          <p:cNvPr id="7" name="Right Arrow 6"/>
          <p:cNvSpPr/>
          <p:nvPr/>
        </p:nvSpPr>
        <p:spPr>
          <a:xfrm>
            <a:off x="578815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Calibrate threshold</a:t>
            </a:r>
          </a:p>
          <a:p>
            <a:pPr algn="ctr"/>
            <a:r>
              <a:rPr sz="1300" b="0">
                <a:solidFill>
                  <a:srgbClr val="FFFFFF"/>
                </a:solidFill>
              </a:rPr>
              <a:t>healthy + stained blades</a:t>
            </a:r>
          </a:p>
        </p:txBody>
      </p:sp>
      <p:sp>
        <p:nvSpPr>
          <p:cNvPr id="9" name="Right Arrow 8"/>
          <p:cNvSpPr/>
          <p:nvPr/>
        </p:nvSpPr>
        <p:spPr>
          <a:xfrm>
            <a:off x="8668512" y="2318004"/>
            <a:ext cx="292608" cy="288036"/>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6840" y="2071116"/>
            <a:ext cx="2514600" cy="822960"/>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Freeze</a:t>
            </a:r>
          </a:p>
          <a:p>
            <a:pPr algn="ctr"/>
            <a:r>
              <a:rPr sz="1300" b="0">
                <a:solidFill>
                  <a:srgbClr val="FFFFFF"/>
                </a:solidFill>
              </a:rPr>
              <a:t>fingerprint, then test</a:t>
            </a:r>
          </a:p>
        </p:txBody>
      </p:sp>
      <p:sp>
        <p:nvSpPr>
          <p:cNvPr id="11" name="TextBox 10"/>
          <p:cNvSpPr txBox="1"/>
          <p:nvPr/>
        </p:nvSpPr>
        <p:spPr>
          <a:xfrm>
            <a:off x="365760" y="3099816"/>
            <a:ext cx="2743200" cy="329184"/>
          </a:xfrm>
          <a:prstGeom prst="rect">
            <a:avLst/>
          </a:prstGeom>
          <a:noFill/>
        </p:spPr>
        <p:txBody>
          <a:bodyPr wrap="square" anchor="t">
            <a:spAutoFit/>
          </a:bodyPr>
          <a:lstStyle/>
          <a:p>
            <a:pPr algn="l">
              <a:spcAft>
                <a:spcPts val="200"/>
              </a:spcAft>
            </a:pPr>
            <a:r>
              <a:rPr sz="1400" b="1">
                <a:solidFill>
                  <a:srgbClr val="0047BB"/>
                </a:solidFill>
              </a:rPr>
              <a:t>ONLINE (each inspection)</a:t>
            </a:r>
          </a:p>
        </p:txBody>
      </p:sp>
      <p:sp>
        <p:nvSpPr>
          <p:cNvPr id="12" name="Rounded Rectangle 11"/>
          <p:cNvSpPr/>
          <p:nvPr/>
        </p:nvSpPr>
        <p:spPr>
          <a:xfrm>
            <a:off x="36576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CAD + 2–7 photos</a:t>
            </a:r>
          </a:p>
          <a:p>
            <a:pPr algn="ctr"/>
            <a:r>
              <a:rPr sz="1200" b="0">
                <a:solidFill>
                  <a:srgbClr val="FFFFFF"/>
                </a:solidFill>
              </a:rPr>
              <a:t>calibrated cameras</a:t>
            </a:r>
          </a:p>
        </p:txBody>
      </p:sp>
      <p:sp>
        <p:nvSpPr>
          <p:cNvPr id="13" name="Right Arrow 12"/>
          <p:cNvSpPr/>
          <p:nvPr/>
        </p:nvSpPr>
        <p:spPr>
          <a:xfrm>
            <a:off x="207568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8600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Camera &amp; light fix</a:t>
            </a:r>
          </a:p>
          <a:p>
            <a:pPr algn="ctr"/>
            <a:r>
              <a:rPr sz="1200" b="0">
                <a:solidFill>
                  <a:srgbClr val="FFFFFF"/>
                </a:solidFill>
              </a:rPr>
              <a:t>v1.1: moves with blade</a:t>
            </a:r>
          </a:p>
        </p:txBody>
      </p:sp>
      <p:sp>
        <p:nvSpPr>
          <p:cNvPr id="15" name="Right Arrow 14"/>
          <p:cNvSpPr/>
          <p:nvPr/>
        </p:nvSpPr>
        <p:spPr>
          <a:xfrm>
            <a:off x="399592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06240" y="3429000"/>
            <a:ext cx="1691640" cy="102870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No-damage fit</a:t>
            </a:r>
          </a:p>
          <a:p>
            <a:pPr algn="ctr"/>
            <a:r>
              <a:rPr sz="1200" b="0">
                <a:solidFill>
                  <a:srgbClr val="FFFFFF"/>
                </a:solidFill>
              </a:rPr>
              <a:t>pose · light · stain</a:t>
            </a:r>
          </a:p>
        </p:txBody>
      </p:sp>
      <p:sp>
        <p:nvSpPr>
          <p:cNvPr id="17" name="Right Arrow 16"/>
          <p:cNvSpPr/>
          <p:nvPr/>
        </p:nvSpPr>
        <p:spPr>
          <a:xfrm>
            <a:off x="591616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proposals</a:t>
            </a:r>
          </a:p>
          <a:p>
            <a:pPr algn="ctr"/>
            <a:r>
              <a:rPr sz="1200" b="0">
                <a:solidFill>
                  <a:srgbClr val="FFFFFF"/>
                </a:solidFill>
              </a:rPr>
              <a:t>score test, 1 pass</a:t>
            </a:r>
          </a:p>
        </p:txBody>
      </p:sp>
      <p:sp>
        <p:nvSpPr>
          <p:cNvPr id="19" name="Right Arrow 18"/>
          <p:cNvSpPr/>
          <p:nvPr/>
        </p:nvSpPr>
        <p:spPr>
          <a:xfrm>
            <a:off x="783640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0" y="3429000"/>
            <a:ext cx="1691640" cy="1028700"/>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Dent fit</a:t>
            </a:r>
          </a:p>
          <a:p>
            <a:pPr algn="ctr"/>
            <a:r>
              <a:rPr sz="1200" b="0">
                <a:solidFill>
                  <a:srgbClr val="FFFFFF"/>
                </a:solidFill>
              </a:rPr>
              <a:t>differentiable rendering</a:t>
            </a:r>
          </a:p>
        </p:txBody>
      </p:sp>
      <p:sp>
        <p:nvSpPr>
          <p:cNvPr id="21" name="Right Arrow 20"/>
          <p:cNvSpPr/>
          <p:nvPr/>
        </p:nvSpPr>
        <p:spPr>
          <a:xfrm>
            <a:off x="9756648" y="3799332"/>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3429000"/>
            <a:ext cx="169164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Evidence vs threshold</a:t>
            </a:r>
          </a:p>
          <a:p>
            <a:pPr algn="ctr"/>
            <a:r>
              <a:rPr sz="1200" b="0">
                <a:solidFill>
                  <a:srgbClr val="FFFFFF"/>
                </a:solidFill>
              </a:rPr>
              <a:t>report or abstain</a:t>
            </a:r>
          </a:p>
        </p:txBody>
      </p:sp>
      <p:sp>
        <p:nvSpPr>
          <p:cNvPr id="23" name="Rounded Rectangle 22"/>
          <p:cNvSpPr/>
          <p:nvPr/>
        </p:nvSpPr>
        <p:spPr>
          <a:xfrm>
            <a:off x="6126480" y="4828031"/>
            <a:ext cx="2651760" cy="74066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Dent: location + depth (mm)</a:t>
            </a:r>
          </a:p>
        </p:txBody>
      </p:sp>
      <p:sp>
        <p:nvSpPr>
          <p:cNvPr id="24" name="Rounded Rectangle 23"/>
          <p:cNvSpPr/>
          <p:nvPr/>
        </p:nvSpPr>
        <p:spPr>
          <a:xfrm>
            <a:off x="8961120" y="4828031"/>
            <a:ext cx="2651760" cy="740664"/>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Not supported</a:t>
            </a:r>
          </a:p>
        </p:txBody>
      </p:sp>
      <p:sp>
        <p:nvSpPr>
          <p:cNvPr id="25" name="Rounded Rectangle 24"/>
          <p:cNvSpPr/>
          <p:nvPr/>
        </p:nvSpPr>
        <p:spPr>
          <a:xfrm>
            <a:off x="365760" y="4828031"/>
            <a:ext cx="548640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F2937"/>
                </a:solidFill>
              </a:rPr>
              <a:t>Detection-limit map: smallest visible dent per point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Data: Six Industrial Blade Designs</a:t>
            </a:r>
          </a:p>
        </p:txBody>
      </p:sp>
      <p:pic>
        <p:nvPicPr>
          <p:cNvPr id="3" name="Picture 2" descr="cad6_blades.png"/>
          <p:cNvPicPr>
            <a:picLocks noChangeAspect="1"/>
          </p:cNvPicPr>
          <p:nvPr/>
        </p:nvPicPr>
        <p:blipFill>
          <a:blip r:embed="rId2"/>
          <a:stretch>
            <a:fillRect/>
          </a:stretch>
        </p:blipFill>
        <p:spPr>
          <a:xfrm>
            <a:off x="970357" y="1783080"/>
            <a:ext cx="10220805" cy="2386584"/>
          </a:xfrm>
          <a:prstGeom prst="rect">
            <a:avLst/>
          </a:prstGeom>
        </p:spPr>
      </p:pic>
      <p:sp>
        <p:nvSpPr>
          <p:cNvPr id="4" name="TextBox 3"/>
          <p:cNvSpPr txBox="1"/>
          <p:nvPr/>
        </p:nvSpPr>
        <p:spPr>
          <a:xfrm>
            <a:off x="548640" y="4334256"/>
            <a:ext cx="5669280" cy="1975104"/>
          </a:xfrm>
          <a:prstGeom prst="rect">
            <a:avLst/>
          </a:prstGeom>
          <a:noFill/>
        </p:spPr>
        <p:txBody>
          <a:bodyPr wrap="square" anchor="t">
            <a:spAutoFit/>
          </a:bodyPr>
          <a:lstStyle/>
          <a:p>
            <a:pPr algn="l">
              <a:spcAft>
                <a:spcPts val="800"/>
              </a:spcAft>
            </a:pPr>
            <a:r>
              <a:rPr sz="1700" b="0">
                <a:solidFill>
                  <a:srgbClr val="1F2937"/>
                </a:solidFill>
              </a:rPr>
              <a:t>•  Your six STEP CAD models (airfoils 24–70 mm), with platform and root</a:t>
            </a:r>
          </a:p>
          <a:p>
            <a:pPr algn="l">
              <a:spcAft>
                <a:spcPts val="800"/>
              </a:spcAft>
            </a:pPr>
            <a:r>
              <a:rPr sz="1700" b="0">
                <a:solidFill>
                  <a:srgbClr val="1F2937"/>
                </a:solidFill>
              </a:rPr>
              <a:t>•  456 cases: 30% visible dents, 15% hidden, 20% healthy, 15% stain, 10% dent + stain, 10% camera error</a:t>
            </a:r>
          </a:p>
          <a:p>
            <a:pPr algn="l">
              <a:spcAft>
                <a:spcPts val="800"/>
              </a:spcAft>
            </a:pPr>
            <a:r>
              <a:rPr sz="1700" b="0">
                <a:solidFill>
                  <a:srgbClr val="1F2937"/>
                </a:solidFill>
              </a:rPr>
              <a:t>•  Real-world dent sizes: 0.1–1.0 mm deep, 1–5 mm radius</a:t>
            </a:r>
          </a:p>
        </p:txBody>
      </p:sp>
      <p:sp>
        <p:nvSpPr>
          <p:cNvPr id="5" name="Rounded Rectangle 4"/>
          <p:cNvSpPr/>
          <p:nvPr/>
        </p:nvSpPr>
        <p:spPr>
          <a:xfrm>
            <a:off x="6492240" y="4416552"/>
            <a:ext cx="5212080" cy="156362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2937"/>
                </a:solidFill>
              </a:rPr>
              <a:t>A tougher test</a:t>
            </a:r>
          </a:p>
          <a:p>
            <a:pPr algn="ctr"/>
            <a:r>
              <a:rPr sz="1500" b="0">
                <a:solidFill>
                  <a:srgbClr val="1F2937"/>
                </a:solidFill>
              </a:rPr>
              <a:t>The method was never trained or tuned on these designs.</a:t>
            </a:r>
          </a:p>
          <a:p>
            <a:pPr algn="ctr"/>
            <a:r>
              <a:rPr sz="1500" b="0">
                <a:solidFill>
                  <a:srgbClr val="1F2937"/>
                </a:solidFill>
              </a:rPr>
              <a:t>Blades 1–2: develop the fix · 3–6: held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Our Method vs. Baselines</a:t>
            </a:r>
          </a:p>
        </p:txBody>
      </p:sp>
      <p:graphicFrame>
        <p:nvGraphicFramePr>
          <p:cNvPr id="3" name="Chart 2"/>
          <p:cNvGraphicFramePr>
            <a:graphicFrameLocks noGrp="1"/>
          </p:cNvGraphicFramePr>
          <p:nvPr/>
        </p:nvGraphicFramePr>
        <p:xfrm>
          <a:off x="457200" y="1783080"/>
          <a:ext cx="11247120" cy="3703320"/>
        </p:xfrm>
        <a:graphic>
          <a:graphicData uri="http://schemas.openxmlformats.org/drawingml/2006/chart">
            <c:chart xmlns:c="http://schemas.openxmlformats.org/drawingml/2006/chart" r:id="rId2"/>
          </a:graphicData>
        </a:graphic>
      </p:graphicFrame>
      <p:sp>
        <p:nvSpPr>
          <p:cNvPr id="4" name="TextBox 3"/>
          <p:cNvSpPr txBox="1"/>
          <p:nvPr/>
        </p:nvSpPr>
        <p:spPr>
          <a:xfrm>
            <a:off x="457200" y="5650992"/>
            <a:ext cx="11247120" cy="411480"/>
          </a:xfrm>
          <a:prstGeom prst="rect">
            <a:avLst/>
          </a:prstGeom>
          <a:noFill/>
        </p:spPr>
        <p:txBody>
          <a:bodyPr wrap="square" anchor="t">
            <a:spAutoFit/>
          </a:bodyPr>
          <a:lstStyle/>
          <a:p>
            <a:pPr algn="ctr">
              <a:spcAft>
                <a:spcPts val="200"/>
              </a:spcAft>
            </a:pPr>
            <a:r>
              <a:rPr sz="1800" b="1">
                <a:solidFill>
                  <a:srgbClr val="0047BB"/>
                </a:solidFill>
              </a:rPr>
              <a:t>At the same 5% false-alarm rate: ours locates 51% of visible dents; every other method 19% or less.</a:t>
            </a:r>
          </a:p>
        </p:txBody>
      </p:sp>
      <p:sp>
        <p:nvSpPr>
          <p:cNvPr id="5" name="TextBox 4"/>
          <p:cNvSpPr txBox="1"/>
          <p:nvPr/>
        </p:nvSpPr>
        <p:spPr>
          <a:xfrm>
            <a:off x="457200" y="6062472"/>
            <a:ext cx="11247120" cy="411480"/>
          </a:xfrm>
          <a:prstGeom prst="rect">
            <a:avLst/>
          </a:prstGeom>
          <a:noFill/>
        </p:spPr>
        <p:txBody>
          <a:bodyPr wrap="square" anchor="t">
            <a:spAutoFit/>
          </a:bodyPr>
          <a:lstStyle/>
          <a:p>
            <a:pPr algn="ctr">
              <a:spcAft>
                <a:spcPts val="200"/>
              </a:spcAft>
            </a:pPr>
            <a:r>
              <a:rPr sz="1200" b="0">
                <a:solidFill>
                  <a:srgbClr val="5A6577"/>
                </a:solidFill>
              </a:rPr>
              <a:t>Baselines: MLP &amp; free-form deformation fields = core idea of CADSplat (Overdulve et al., arXiv 2026) and CAD-NeRF (Wen et al., 2024), reimplemented; 2D detector = U-Net (Ronneberger et al., MICCAI 2015) lifted onto the 3D blade.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Industrial Blades: Before and After the Fix</a:t>
            </a:r>
          </a:p>
        </p:txBody>
      </p:sp>
      <p:sp>
        <p:nvSpPr>
          <p:cNvPr id="3" name="TextBox 2"/>
          <p:cNvSpPr txBox="1"/>
          <p:nvPr/>
        </p:nvSpPr>
        <p:spPr>
          <a:xfrm>
            <a:off x="548640" y="1783080"/>
            <a:ext cx="5486400" cy="329184"/>
          </a:xfrm>
          <a:prstGeom prst="rect">
            <a:avLst/>
          </a:prstGeom>
          <a:noFill/>
        </p:spPr>
        <p:txBody>
          <a:bodyPr wrap="square" anchor="t">
            <a:spAutoFit/>
          </a:bodyPr>
          <a:lstStyle/>
          <a:p>
            <a:pPr algn="l">
              <a:spcAft>
                <a:spcPts val="200"/>
              </a:spcAft>
            </a:pPr>
            <a:r>
              <a:rPr sz="1600" b="1">
                <a:solidFill>
                  <a:srgbClr val="C62828"/>
                </a:solidFill>
              </a:rPr>
              <a:t>Frozen v1</a:t>
            </a:r>
          </a:p>
        </p:txBody>
      </p:sp>
      <p:sp>
        <p:nvSpPr>
          <p:cNvPr id="4" name="TextBox 3"/>
          <p:cNvSpPr txBox="1"/>
          <p:nvPr/>
        </p:nvSpPr>
        <p:spPr>
          <a:xfrm>
            <a:off x="6309360" y="1783080"/>
            <a:ext cx="5486400" cy="329184"/>
          </a:xfrm>
          <a:prstGeom prst="rect">
            <a:avLst/>
          </a:prstGeom>
          <a:noFill/>
        </p:spPr>
        <p:txBody>
          <a:bodyPr wrap="square" anchor="t">
            <a:spAutoFit/>
          </a:bodyPr>
          <a:lstStyle/>
          <a:p>
            <a:pPr algn="l">
              <a:spcAft>
                <a:spcPts val="200"/>
              </a:spcAft>
            </a:pPr>
            <a:r>
              <a:rPr sz="1600" b="1">
                <a:solidFill>
                  <a:srgbClr val="1A7F37"/>
                </a:solidFill>
              </a:rPr>
              <a:t>v1.1 (fixed)</a:t>
            </a:r>
          </a:p>
        </p:txBody>
      </p:sp>
      <p:pic>
        <p:nvPicPr>
          <p:cNvPr id="5" name="Picture 4" descr="fix_before.jpg"/>
          <p:cNvPicPr>
            <a:picLocks noChangeAspect="1"/>
          </p:cNvPicPr>
          <p:nvPr/>
        </p:nvPicPr>
        <p:blipFill>
          <a:blip r:embed="rId2"/>
          <a:stretch>
            <a:fillRect/>
          </a:stretch>
        </p:blipFill>
        <p:spPr>
          <a:xfrm>
            <a:off x="1177747" y="2153412"/>
            <a:ext cx="4228185" cy="1316736"/>
          </a:xfrm>
          <a:prstGeom prst="rect">
            <a:avLst/>
          </a:prstGeom>
        </p:spPr>
      </p:pic>
      <p:pic>
        <p:nvPicPr>
          <p:cNvPr id="6" name="Picture 5" descr="fix_after.jpg"/>
          <p:cNvPicPr>
            <a:picLocks noChangeAspect="1"/>
          </p:cNvPicPr>
          <p:nvPr/>
        </p:nvPicPr>
        <p:blipFill>
          <a:blip r:embed="rId3"/>
          <a:stretch>
            <a:fillRect/>
          </a:stretch>
        </p:blipFill>
        <p:spPr>
          <a:xfrm>
            <a:off x="6938467" y="2153412"/>
            <a:ext cx="4228185" cy="1316736"/>
          </a:xfrm>
          <a:prstGeom prst="rect">
            <a:avLst/>
          </a:prstGeom>
        </p:spPr>
      </p:pic>
      <p:pic>
        <p:nvPicPr>
          <p:cNvPr id="7" name="Picture 6" descr="fix2_before.jpg"/>
          <p:cNvPicPr>
            <a:picLocks noChangeAspect="1"/>
          </p:cNvPicPr>
          <p:nvPr/>
        </p:nvPicPr>
        <p:blipFill>
          <a:blip r:embed="rId4"/>
          <a:stretch>
            <a:fillRect/>
          </a:stretch>
        </p:blipFill>
        <p:spPr>
          <a:xfrm>
            <a:off x="1216152" y="3593592"/>
            <a:ext cx="4151376" cy="1316736"/>
          </a:xfrm>
          <a:prstGeom prst="rect">
            <a:avLst/>
          </a:prstGeom>
        </p:spPr>
      </p:pic>
      <p:pic>
        <p:nvPicPr>
          <p:cNvPr id="8" name="Picture 7" descr="fix2_after.jpg"/>
          <p:cNvPicPr>
            <a:picLocks noChangeAspect="1"/>
          </p:cNvPicPr>
          <p:nvPr/>
        </p:nvPicPr>
        <p:blipFill>
          <a:blip r:embed="rId5"/>
          <a:stretch>
            <a:fillRect/>
          </a:stretch>
        </p:blipFill>
        <p:spPr>
          <a:xfrm>
            <a:off x="6976872" y="3593592"/>
            <a:ext cx="4151376" cy="1316736"/>
          </a:xfrm>
          <a:prstGeom prst="rect">
            <a:avLst/>
          </a:prstGeom>
        </p:spPr>
      </p:pic>
      <p:sp>
        <p:nvSpPr>
          <p:cNvPr id="9" name="TextBox 8"/>
          <p:cNvSpPr txBox="1"/>
          <p:nvPr/>
        </p:nvSpPr>
        <p:spPr>
          <a:xfrm>
            <a:off x="548640" y="4992624"/>
            <a:ext cx="11247120" cy="1234440"/>
          </a:xfrm>
          <a:prstGeom prst="rect">
            <a:avLst/>
          </a:prstGeom>
          <a:noFill/>
        </p:spPr>
        <p:txBody>
          <a:bodyPr wrap="square" anchor="t">
            <a:spAutoFit/>
          </a:bodyPr>
          <a:lstStyle/>
          <a:p>
            <a:pPr algn="l">
              <a:spcAft>
                <a:spcPts val="800"/>
              </a:spcAft>
            </a:pPr>
            <a:r>
              <a:rPr sz="1600" b="0">
                <a:solidFill>
                  <a:srgbClr val="1F2937"/>
                </a:solidFill>
              </a:rPr>
              <a:t>•  Top: healthy blade, camera moved: v1 invents a dent; v1.1 reports nothing.</a:t>
            </a:r>
          </a:p>
          <a:p>
            <a:pPr algn="l">
              <a:spcAft>
                <a:spcPts val="800"/>
              </a:spcAft>
            </a:pPr>
            <a:r>
              <a:rPr sz="1600" b="0">
                <a:solidFill>
                  <a:srgbClr val="1F2937"/>
                </a:solidFill>
              </a:rPr>
              <a:t>•  Bottom: real dent: v1 is 37 mm off; v1.1 finds the right place.</a:t>
            </a:r>
          </a:p>
          <a:p>
            <a:pPr algn="l">
              <a:spcAft>
                <a:spcPts val="800"/>
              </a:spcAft>
            </a:pPr>
            <a:r>
              <a:rPr sz="1600" b="0">
                <a:solidFill>
                  <a:srgbClr val="1F2937"/>
                </a:solidFill>
              </a:rPr>
              <a:t>•  Still open: on new designs depth is underestimated (median 60% of true, vs 89% on Rotor37).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Why Not a Standard Statistical Test?</a:t>
            </a:r>
          </a:p>
        </p:txBody>
      </p:sp>
      <p:graphicFrame>
        <p:nvGraphicFramePr>
          <p:cNvPr id="3" name="Chart 2"/>
          <p:cNvGraphicFramePr>
            <a:graphicFrameLocks noGrp="1"/>
          </p:cNvGraphicFramePr>
          <p:nvPr/>
        </p:nvGraphicFramePr>
        <p:xfrm>
          <a:off x="457200" y="1865376"/>
          <a:ext cx="6766560" cy="4032504"/>
        </p:xfrm>
        <a:graphic>
          <a:graphicData uri="http://schemas.openxmlformats.org/drawingml/2006/chart">
            <c:chart xmlns:c="http://schemas.openxmlformats.org/drawingml/2006/chart" r:id="rId2"/>
          </a:graphicData>
        </a:graphic>
      </p:graphicFrame>
      <p:sp>
        <p:nvSpPr>
          <p:cNvPr id="4" name="TextBox 3"/>
          <p:cNvSpPr txBox="1"/>
          <p:nvPr/>
        </p:nvSpPr>
        <p:spPr>
          <a:xfrm>
            <a:off x="7498079" y="2029968"/>
            <a:ext cx="4297680" cy="2962656"/>
          </a:xfrm>
          <a:prstGeom prst="rect">
            <a:avLst/>
          </a:prstGeom>
          <a:noFill/>
        </p:spPr>
        <p:txBody>
          <a:bodyPr wrap="square" anchor="t">
            <a:spAutoFit/>
          </a:bodyPr>
          <a:lstStyle/>
          <a:p>
            <a:pPr algn="l">
              <a:spcAft>
                <a:spcPts val="800"/>
              </a:spcAft>
            </a:pPr>
            <a:r>
              <a:rPr sz="1700" b="0">
                <a:solidFill>
                  <a:srgbClr val="1F2937"/>
                </a:solidFill>
              </a:rPr>
              <a:t>•  Textbook tests assume ideal image noise</a:t>
            </a:r>
          </a:p>
          <a:p>
            <a:pPr algn="l">
              <a:spcAft>
                <a:spcPts val="800"/>
              </a:spcAft>
            </a:pPr>
            <a:r>
              <a:rPr sz="1700" b="0">
                <a:solidFill>
                  <a:srgbClr val="1F2937"/>
                </a:solidFill>
              </a:rPr>
              <a:t>•  Real mismatch (camera, lighting, rendering) is much larger</a:t>
            </a:r>
          </a:p>
          <a:p>
            <a:pPr algn="l">
              <a:spcAft>
                <a:spcPts val="800"/>
              </a:spcAft>
            </a:pPr>
            <a:r>
              <a:rPr sz="1700" b="0">
                <a:solidFill>
                  <a:srgbClr val="1F2937"/>
                </a:solidFill>
              </a:rPr>
              <a:t>•  χ²: asked for 1%, gives 32%: about 30× too many</a:t>
            </a:r>
          </a:p>
          <a:p>
            <a:pPr algn="l">
              <a:spcAft>
                <a:spcPts val="800"/>
              </a:spcAft>
            </a:pPr>
            <a:r>
              <a:rPr sz="1700" b="0">
                <a:solidFill>
                  <a:srgbClr val="1F2937"/>
                </a:solidFill>
              </a:rPr>
              <a:t>•  A-contrario: flags 96% of healthy blades</a:t>
            </a:r>
          </a:p>
        </p:txBody>
      </p:sp>
      <p:sp>
        <p:nvSpPr>
          <p:cNvPr id="5" name="Rounded Rectangle 4"/>
          <p:cNvSpPr/>
          <p:nvPr/>
        </p:nvSpPr>
        <p:spPr>
          <a:xfrm>
            <a:off x="7498079" y="4910328"/>
            <a:ext cx="42976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Calibration is required,</a:t>
            </a:r>
          </a:p>
          <a:p>
            <a:pPr algn="ctr"/>
            <a:r>
              <a:rPr sz="1700" b="0">
                <a:solidFill>
                  <a:srgbClr val="FFFFFF"/>
                </a:solidFill>
              </a:rPr>
              <a:t>not cosmetic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Key Results at a Glance</a:t>
            </a:r>
          </a:p>
        </p:txBody>
      </p:sp>
      <p:graphicFrame>
        <p:nvGraphicFramePr>
          <p:cNvPr id="3" name="Table 2"/>
          <p:cNvGraphicFramePr>
            <a:graphicFrameLocks noGrp="1"/>
          </p:cNvGraphicFramePr>
          <p:nvPr/>
        </p:nvGraphicFramePr>
        <p:xfrm>
          <a:off x="457200" y="1783080"/>
          <a:ext cx="11247120" cy="3785615"/>
        </p:xfrm>
        <a:graphic>
          <a:graphicData uri="http://schemas.openxmlformats.org/drawingml/2006/table">
            <a:tbl>
              <a:tblPr firstRow="1" bandRow="1">
                <a:tableStyleId>{5C22544A-7EE6-4342-B048-85BDC9FD1C3A}</a:tableStyleId>
              </a:tblPr>
              <a:tblGrid>
                <a:gridCol w="4572000"/>
                <a:gridCol w="3566160"/>
                <a:gridCol w="3108960"/>
              </a:tblGrid>
              <a:tr h="473201">
                <a:tc>
                  <a:txBody>
                    <a:bodyPr/>
                    <a:lstStyle/>
                    <a:p>
                      <a:r>
                        <a:rPr sz="1400" b="1">
                          <a:solidFill>
                            <a:srgbClr val="FFFFFF"/>
                          </a:solidFill>
                        </a:rPr>
                        <a:t>Metric</a:t>
                      </a:r>
                    </a:p>
                  </a:txBody>
                  <a:tcPr>
                    <a:solidFill>
                      <a:srgbClr val="0047BB"/>
                    </a:solidFill>
                  </a:tcPr>
                </a:tc>
                <a:tc>
                  <a:txBody>
                    <a:bodyPr/>
                    <a:lstStyle/>
                    <a:p>
                      <a:r>
                        <a:rPr sz="1400" b="1">
                          <a:solidFill>
                            <a:srgbClr val="FFFFFF"/>
                          </a:solidFill>
                        </a:rPr>
                        <a:t>Result</a:t>
                      </a:r>
                    </a:p>
                  </a:txBody>
                  <a:tcPr>
                    <a:solidFill>
                      <a:srgbClr val="0047BB"/>
                    </a:solidFill>
                  </a:tcPr>
                </a:tc>
                <a:tc>
                  <a:txBody>
                    <a:bodyPr/>
                    <a:lstStyle/>
                    <a:p>
                      <a:r>
                        <a:rPr sz="1400" b="1">
                          <a:solidFill>
                            <a:srgbClr val="FFFFFF"/>
                          </a:solidFill>
                        </a:rPr>
                        <a:t>Data</a:t>
                      </a:r>
                    </a:p>
                  </a:txBody>
                  <a:tcPr>
                    <a:solidFill>
                      <a:srgbClr val="0047BB"/>
                    </a:solidFill>
                  </a:tcPr>
                </a:tc>
              </a:tr>
              <a:tr h="473201">
                <a:tc>
                  <a:txBody>
                    <a:bodyPr/>
                    <a:lstStyle/>
                    <a:p>
                      <a:r>
                        <a:rPr sz="1400" b="0">
                          <a:solidFill>
                            <a:srgbClr val="1F2937"/>
                          </a:solidFill>
                        </a:rPr>
                        <a:t>Visible dents located at 5% false alarms</a:t>
                      </a:r>
                    </a:p>
                  </a:txBody>
                  <a:tcPr>
                    <a:solidFill>
                      <a:srgbClr val="F2F5FA"/>
                    </a:solidFill>
                  </a:tcPr>
                </a:tc>
                <a:tc>
                  <a:txBody>
                    <a:bodyPr/>
                    <a:lstStyle/>
                    <a:p>
                      <a:r>
                        <a:rPr sz="1400" b="0">
                          <a:solidFill>
                            <a:srgbClr val="1F2937"/>
                          </a:solidFill>
                        </a:rPr>
                        <a:t>51% (baselines ≤ 19%)</a:t>
                      </a:r>
                    </a:p>
                  </a:txBody>
                  <a:tcPr>
                    <a:solidFill>
                      <a:srgbClr val="F2F5FA"/>
                    </a:solidFill>
                  </a:tcPr>
                </a:tc>
                <a:tc>
                  <a:txBody>
                    <a:bodyPr/>
                    <a:lstStyle/>
                    <a:p>
                      <a:r>
                        <a:rPr sz="1400" b="0">
                          <a:solidFill>
                            <a:srgbClr val="1F2937"/>
                          </a:solidFill>
                        </a:rPr>
                        <a:t>Sealed test, 30 unseen blades</a:t>
                      </a:r>
                    </a:p>
                  </a:txBody>
                  <a:tcPr>
                    <a:solidFill>
                      <a:srgbClr val="F2F5FA"/>
                    </a:solidFill>
                  </a:tcPr>
                </a:tc>
              </a:tr>
              <a:tr h="473201">
                <a:tc>
                  <a:txBody>
                    <a:bodyPr/>
                    <a:lstStyle/>
                    <a:p>
                      <a:r>
                        <a:rPr sz="1400" b="0">
                          <a:solidFill>
                            <a:srgbClr val="1F2937"/>
                          </a:solidFill>
                        </a:rPr>
                        <a:t>Dents &gt; 0.2 mm found</a:t>
                      </a:r>
                    </a:p>
                  </a:txBody>
                  <a:tcPr>
                    <a:solidFill>
                      <a:srgbClr val="FFFFFF"/>
                    </a:solidFill>
                  </a:tcPr>
                </a:tc>
                <a:tc>
                  <a:txBody>
                    <a:bodyPr/>
                    <a:lstStyle/>
                    <a:p>
                      <a:r>
                        <a:rPr sz="1400" b="0">
                          <a:solidFill>
                            <a:srgbClr val="1F2937"/>
                          </a:solidFill>
                        </a:rPr>
                        <a:t>12 of 13 (92%)</a:t>
                      </a:r>
                    </a:p>
                  </a:txBody>
                  <a:tcPr>
                    <a:solidFill>
                      <a:srgbClr val="FFFFFF"/>
                    </a:solidFill>
                  </a:tcPr>
                </a:tc>
                <a:tc>
                  <a:txBody>
                    <a:bodyPr/>
                    <a:lstStyle/>
                    <a:p>
                      <a:r>
                        <a:rPr sz="1400" b="0">
                          <a:solidFill>
                            <a:srgbClr val="1F2937"/>
                          </a:solidFill>
                        </a:rPr>
                        <a:t>Sealed test</a:t>
                      </a:r>
                    </a:p>
                  </a:txBody>
                  <a:tcPr>
                    <a:solidFill>
                      <a:srgbClr val="FFFFFF"/>
                    </a:solidFill>
                  </a:tcPr>
                </a:tc>
              </a:tr>
              <a:tr h="473201">
                <a:tc>
                  <a:txBody>
                    <a:bodyPr/>
                    <a:lstStyle/>
                    <a:p>
                      <a:r>
                        <a:rPr sz="1400" b="0">
                          <a:solidFill>
                            <a:srgbClr val="1F2937"/>
                          </a:solidFill>
                        </a:rPr>
                        <a:t>Separation of dented vs healthy (AUROC)</a:t>
                      </a:r>
                    </a:p>
                  </a:txBody>
                  <a:tcPr>
                    <a:solidFill>
                      <a:srgbClr val="F2F5FA"/>
                    </a:solidFill>
                  </a:tcPr>
                </a:tc>
                <a:tc>
                  <a:txBody>
                    <a:bodyPr/>
                    <a:lstStyle/>
                    <a:p>
                      <a:r>
                        <a:rPr sz="1400" b="0">
                          <a:solidFill>
                            <a:srgbClr val="1F2937"/>
                          </a:solidFill>
                        </a:rPr>
                        <a:t>0.82 (baselines 0.63–0.74)</a:t>
                      </a:r>
                    </a:p>
                  </a:txBody>
                  <a:tcPr>
                    <a:solidFill>
                      <a:srgbClr val="F2F5FA"/>
                    </a:solidFill>
                  </a:tcPr>
                </a:tc>
                <a:tc>
                  <a:txBody>
                    <a:bodyPr/>
                    <a:lstStyle/>
                    <a:p>
                      <a:r>
                        <a:rPr sz="1400" b="0">
                          <a:solidFill>
                            <a:srgbClr val="1F2937"/>
                          </a:solidFill>
                        </a:rPr>
                        <a:t>Sealed test</a:t>
                      </a:r>
                    </a:p>
                  </a:txBody>
                  <a:tcPr>
                    <a:solidFill>
                      <a:srgbClr val="F2F5FA"/>
                    </a:solidFill>
                  </a:tcPr>
                </a:tc>
              </a:tr>
              <a:tr h="473201">
                <a:tc>
                  <a:txBody>
                    <a:bodyPr/>
                    <a:lstStyle/>
                    <a:p>
                      <a:r>
                        <a:rPr sz="1400" b="0">
                          <a:solidFill>
                            <a:srgbClr val="1F2937"/>
                          </a:solidFill>
                        </a:rPr>
                        <a:t>False alarms on new blade designs</a:t>
                      </a:r>
                    </a:p>
                  </a:txBody>
                  <a:tcPr>
                    <a:solidFill>
                      <a:srgbClr val="FFFFFF"/>
                    </a:solidFill>
                  </a:tcPr>
                </a:tc>
                <a:tc>
                  <a:txBody>
                    <a:bodyPr/>
                    <a:lstStyle/>
                    <a:p>
                      <a:r>
                        <a:rPr sz="1400" b="0">
                          <a:solidFill>
                            <a:srgbClr val="1F2937"/>
                          </a:solidFill>
                        </a:rPr>
                        <a:t>51% → 4% with v1.1</a:t>
                      </a:r>
                    </a:p>
                  </a:txBody>
                  <a:tcPr>
                    <a:solidFill>
                      <a:srgbClr val="FFFFFF"/>
                    </a:solidFill>
                  </a:tcPr>
                </a:tc>
                <a:tc>
                  <a:txBody>
                    <a:bodyPr/>
                    <a:lstStyle/>
                    <a:p>
                      <a:r>
                        <a:rPr sz="1400" b="0">
                          <a:solidFill>
                            <a:srgbClr val="1F2937"/>
                          </a:solidFill>
                        </a:rPr>
                        <a:t>4 held-out industrial blades</a:t>
                      </a:r>
                    </a:p>
                  </a:txBody>
                  <a:tcPr>
                    <a:solidFill>
                      <a:srgbClr val="FFFFFF"/>
                    </a:solidFill>
                  </a:tcPr>
                </a:tc>
              </a:tr>
              <a:tr h="473201">
                <a:tc>
                  <a:txBody>
                    <a:bodyPr/>
                    <a:lstStyle/>
                    <a:p>
                      <a:r>
                        <a:rPr sz="1400" b="0">
                          <a:solidFill>
                            <a:srgbClr val="1F2937"/>
                          </a:solidFill>
                        </a:rPr>
                        <a:t>Depth accuracy (measured / true, median)</a:t>
                      </a:r>
                    </a:p>
                  </a:txBody>
                  <a:tcPr>
                    <a:solidFill>
                      <a:srgbClr val="F2F5FA"/>
                    </a:solidFill>
                  </a:tcPr>
                </a:tc>
                <a:tc>
                  <a:txBody>
                    <a:bodyPr/>
                    <a:lstStyle/>
                    <a:p>
                      <a:r>
                        <a:rPr sz="1400" b="0">
                          <a:solidFill>
                            <a:srgbClr val="1F2937"/>
                          </a:solidFill>
                        </a:rPr>
                        <a:t>0.89 Rotor37 · 0.60 industrial</a:t>
                      </a:r>
                    </a:p>
                  </a:txBody>
                  <a:tcPr>
                    <a:solidFill>
                      <a:srgbClr val="F2F5FA"/>
                    </a:solidFill>
                  </a:tcPr>
                </a:tc>
                <a:tc>
                  <a:txBody>
                    <a:bodyPr/>
                    <a:lstStyle/>
                    <a:p>
                      <a:r>
                        <a:rPr sz="1400" b="0">
                          <a:solidFill>
                            <a:srgbClr val="1F2937"/>
                          </a:solidFill>
                        </a:rPr>
                        <a:t>Found dents</a:t>
                      </a:r>
                    </a:p>
                  </a:txBody>
                  <a:tcPr>
                    <a:solidFill>
                      <a:srgbClr val="F2F5FA"/>
                    </a:solidFill>
                  </a:tcPr>
                </a:tc>
              </a:tr>
              <a:tr h="473201">
                <a:tc>
                  <a:txBody>
                    <a:bodyPr/>
                    <a:lstStyle/>
                    <a:p>
                      <a:r>
                        <a:rPr sz="1400" b="0">
                          <a:solidFill>
                            <a:srgbClr val="1F2937"/>
                          </a:solidFill>
                        </a:rPr>
                        <a:t>Textbook tests: actual false alarms</a:t>
                      </a:r>
                    </a:p>
                  </a:txBody>
                  <a:tcPr>
                    <a:solidFill>
                      <a:srgbClr val="FFFFFF"/>
                    </a:solidFill>
                  </a:tcPr>
                </a:tc>
                <a:tc>
                  <a:txBody>
                    <a:bodyPr/>
                    <a:lstStyle/>
                    <a:p>
                      <a:r>
                        <a:rPr sz="1400" b="0">
                          <a:solidFill>
                            <a:srgbClr val="1F2937"/>
                          </a:solidFill>
                        </a:rPr>
                        <a:t>χ² 32%, a-contrario 96%</a:t>
                      </a:r>
                    </a:p>
                  </a:txBody>
                  <a:tcPr>
                    <a:solidFill>
                      <a:srgbClr val="FFFFFF"/>
                    </a:solidFill>
                  </a:tcPr>
                </a:tc>
                <a:tc>
                  <a:txBody>
                    <a:bodyPr/>
                    <a:lstStyle/>
                    <a:p>
                      <a:r>
                        <a:rPr sz="1400" b="0">
                          <a:solidFill>
                            <a:srgbClr val="1F2937"/>
                          </a:solidFill>
                        </a:rPr>
                        <a:t>Same fits, sealed test</a:t>
                      </a:r>
                    </a:p>
                  </a:txBody>
                  <a:tcPr>
                    <a:solidFill>
                      <a:srgbClr val="FFFFFF"/>
                    </a:solidFill>
                  </a:tcPr>
                </a:tc>
              </a:tr>
              <a:tr h="473208">
                <a:tc>
                  <a:txBody>
                    <a:bodyPr/>
                    <a:lstStyle/>
                    <a:p>
                      <a:r>
                        <a:rPr sz="1400" b="0">
                          <a:solidFill>
                            <a:srgbClr val="1F2937"/>
                          </a:solidFill>
                        </a:rPr>
                        <a:t>Predicting which dents are detectable (AUROC)</a:t>
                      </a:r>
                    </a:p>
                  </a:txBody>
                  <a:tcPr>
                    <a:solidFill>
                      <a:srgbClr val="F2F5FA"/>
                    </a:solidFill>
                  </a:tcPr>
                </a:tc>
                <a:tc>
                  <a:txBody>
                    <a:bodyPr/>
                    <a:lstStyle/>
                    <a:p>
                      <a:r>
                        <a:rPr sz="1400" b="0">
                          <a:solidFill>
                            <a:srgbClr val="1F2937"/>
                          </a:solidFill>
                        </a:rPr>
                        <a:t>0.90 – 0.95</a:t>
                      </a:r>
                    </a:p>
                  </a:txBody>
                  <a:tcPr>
                    <a:solidFill>
                      <a:srgbClr val="F2F5FA"/>
                    </a:solidFill>
                  </a:tcPr>
                </a:tc>
                <a:tc>
                  <a:txBody>
                    <a:bodyPr/>
                    <a:lstStyle/>
                    <a:p>
                      <a:r>
                        <a:rPr sz="1400" b="0">
                          <a:solidFill>
                            <a:srgbClr val="1F2937"/>
                          </a:solidFill>
                        </a:rPr>
                        <a:t>Two sealed tests</a:t>
                      </a:r>
                    </a:p>
                  </a:txBody>
                  <a:tcPr>
                    <a:solidFill>
                      <a:srgbClr val="F2F5FA"/>
                    </a:solidFill>
                  </a:tcPr>
                </a:tc>
              </a:tr>
            </a:tbl>
          </a:graphicData>
        </a:graphic>
      </p:graphicFrame>
      <p:sp>
        <p:nvSpPr>
          <p:cNvPr id="4" name="TextBox 3"/>
          <p:cNvSpPr txBox="1"/>
          <p:nvPr/>
        </p:nvSpPr>
        <p:spPr>
          <a:xfrm>
            <a:off x="457200" y="5815584"/>
            <a:ext cx="11247120" cy="493776"/>
          </a:xfrm>
          <a:prstGeom prst="rect">
            <a:avLst/>
          </a:prstGeom>
          <a:noFill/>
        </p:spPr>
        <p:txBody>
          <a:bodyPr wrap="square" anchor="t">
            <a:spAutoFit/>
          </a:bodyPr>
          <a:lstStyle/>
          <a:p>
            <a:pPr algn="ctr">
              <a:spcAft>
                <a:spcPts val="200"/>
              </a:spcAft>
            </a:pPr>
            <a:r>
              <a:rPr sz="1700" b="1">
                <a:solidFill>
                  <a:srgbClr val="0047BB"/>
                </a:solidFill>
              </a:rPr>
              <a:t>All numbers on rendered blades; real-blade validation is the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Why Some Depths Are Wrong</a:t>
            </a:r>
          </a:p>
        </p:txBody>
      </p:sp>
      <p:graphicFrame>
        <p:nvGraphicFramePr>
          <p:cNvPr id="3" name="Chart 2"/>
          <p:cNvGraphicFramePr>
            <a:graphicFrameLocks noGrp="1"/>
          </p:cNvGraphicFramePr>
          <p:nvPr/>
        </p:nvGraphicFramePr>
        <p:xfrm>
          <a:off x="457200" y="1865376"/>
          <a:ext cx="5852160" cy="3785615"/>
        </p:xfrm>
        <a:graphic>
          <a:graphicData uri="http://schemas.openxmlformats.org/drawingml/2006/chart">
            <c:chart xmlns:c="http://schemas.openxmlformats.org/drawingml/2006/chart" r:id="rId2"/>
          </a:graphicData>
        </a:graphic>
      </p:graphicFrame>
      <p:sp>
        <p:nvSpPr>
          <p:cNvPr id="4" name="TextBox 3"/>
          <p:cNvSpPr txBox="1"/>
          <p:nvPr/>
        </p:nvSpPr>
        <p:spPr>
          <a:xfrm>
            <a:off x="6583680" y="1947672"/>
            <a:ext cx="5212080" cy="3291840"/>
          </a:xfrm>
          <a:prstGeom prst="rect">
            <a:avLst/>
          </a:prstGeom>
          <a:noFill/>
        </p:spPr>
        <p:txBody>
          <a:bodyPr wrap="square" anchor="t">
            <a:spAutoFit/>
          </a:bodyPr>
          <a:lstStyle/>
          <a:p>
            <a:pPr algn="l">
              <a:spcAft>
                <a:spcPts val="800"/>
              </a:spcAft>
            </a:pPr>
            <a:r>
              <a:rPr sz="1700" b="0">
                <a:solidFill>
                  <a:srgbClr val="1F2937"/>
                </a:solidFill>
              </a:rPr>
              <a:t>•  Found in the right place, but measured 10× too shallow</a:t>
            </a:r>
          </a:p>
          <a:p>
            <a:pPr algn="l">
              <a:spcAft>
                <a:spcPts val="800"/>
              </a:spcAft>
            </a:pPr>
            <a:r>
              <a:rPr sz="1700" b="0">
                <a:solidFill>
                  <a:srgbClr val="1F2937"/>
                </a:solidFill>
              </a:rPr>
              <a:t>•  Small, sharp dent: in two photos a 0.06 mm and a 0.6 mm dent look almost the same</a:t>
            </a:r>
          </a:p>
          <a:p>
            <a:pPr algn="l">
              <a:spcAft>
                <a:spcPts val="800"/>
              </a:spcAft>
            </a:pPr>
            <a:r>
              <a:rPr sz="1700" b="0">
                <a:solidFill>
                  <a:srgbClr val="1F2937"/>
                </a:solidFill>
              </a:rPr>
              <a:t>•  We tested: better search and restarting the fit deeper do not help</a:t>
            </a:r>
          </a:p>
          <a:p>
            <a:pPr algn="l">
              <a:spcAft>
                <a:spcPts val="800"/>
              </a:spcAft>
            </a:pPr>
            <a:r>
              <a:rPr sz="1700" b="0">
                <a:solidFill>
                  <a:srgbClr val="1F2937"/>
                </a:solidFill>
              </a:rPr>
              <a:t>•  So the limit is the information in the photos, not the optimiser</a:t>
            </a:r>
          </a:p>
        </p:txBody>
      </p:sp>
      <p:sp>
        <p:nvSpPr>
          <p:cNvPr id="5" name="Rounded Rectangle 4"/>
          <p:cNvSpPr/>
          <p:nvPr/>
        </p:nvSpPr>
        <p:spPr>
          <a:xfrm>
            <a:off x="6583680" y="5074920"/>
            <a:ext cx="5212080" cy="90525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0047BB"/>
                </a:solidFill>
              </a:rPr>
              <a:t>Fix = more information:</a:t>
            </a:r>
          </a:p>
          <a:p>
            <a:pPr algn="ctr"/>
            <a:r>
              <a:rPr sz="1500" b="0">
                <a:solidFill>
                  <a:srgbClr val="0047BB"/>
                </a:solidFill>
              </a:rPr>
              <a:t>extra views, grazing light, depth ranges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Plan: From Synthetic to Physical Blades</a:t>
            </a:r>
          </a:p>
        </p:txBody>
      </p:sp>
      <p:sp>
        <p:nvSpPr>
          <p:cNvPr id="3" name="Rounded Rectangle 2"/>
          <p:cNvSpPr/>
          <p:nvPr/>
        </p:nvSpPr>
        <p:spPr>
          <a:xfrm>
            <a:off x="365760" y="1947672"/>
            <a:ext cx="1691640" cy="1399032"/>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1. Synthetic (done)</a:t>
            </a:r>
          </a:p>
          <a:p>
            <a:pPr algn="ctr"/>
            <a:r>
              <a:rPr sz="1300" b="0">
                <a:solidFill>
                  <a:srgbClr val="FFFFFF"/>
                </a:solidFill>
              </a:rPr>
              <a:t>rendered blades, exact answers</a:t>
            </a:r>
          </a:p>
        </p:txBody>
      </p:sp>
      <p:sp>
        <p:nvSpPr>
          <p:cNvPr id="4" name="Right Arrow 3"/>
          <p:cNvSpPr/>
          <p:nvPr/>
        </p:nvSpPr>
        <p:spPr>
          <a:xfrm>
            <a:off x="207568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600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2. Print real blades</a:t>
            </a:r>
          </a:p>
          <a:p>
            <a:pPr algn="ctr"/>
            <a:r>
              <a:rPr sz="1300" b="0">
                <a:solidFill>
                  <a:srgbClr val="FFFFFF"/>
                </a:solidFill>
              </a:rPr>
              <a:t>industrial CAD, 3D printed</a:t>
            </a:r>
          </a:p>
        </p:txBody>
      </p:sp>
      <p:sp>
        <p:nvSpPr>
          <p:cNvPr id="6" name="Right Arrow 5"/>
          <p:cNvSpPr/>
          <p:nvPr/>
        </p:nvSpPr>
        <p:spPr>
          <a:xfrm>
            <a:off x="399592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3. Make damage</a:t>
            </a:r>
          </a:p>
          <a:p>
            <a:pPr algn="ctr"/>
            <a:r>
              <a:rPr sz="1300" b="0">
                <a:solidFill>
                  <a:srgbClr val="FFFFFF"/>
                </a:solidFill>
              </a:rPr>
              <a:t>dents · nicks · cracks · stains</a:t>
            </a:r>
          </a:p>
        </p:txBody>
      </p:sp>
      <p:sp>
        <p:nvSpPr>
          <p:cNvPr id="8" name="Right Arrow 7"/>
          <p:cNvSpPr/>
          <p:nvPr/>
        </p:nvSpPr>
        <p:spPr>
          <a:xfrm>
            <a:off x="591616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947672"/>
            <a:ext cx="1691640" cy="139903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4. 3D scan</a:t>
            </a:r>
          </a:p>
          <a:p>
            <a:pPr algn="ctr"/>
            <a:r>
              <a:rPr sz="1300" b="0">
                <a:solidFill>
                  <a:srgbClr val="FFFFFF"/>
                </a:solidFill>
              </a:rPr>
              <a:t>measured ground truth (mm)</a:t>
            </a:r>
          </a:p>
        </p:txBody>
      </p:sp>
      <p:sp>
        <p:nvSpPr>
          <p:cNvPr id="10" name="Right Arrow 9"/>
          <p:cNvSpPr/>
          <p:nvPr/>
        </p:nvSpPr>
        <p:spPr>
          <a:xfrm>
            <a:off x="783640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947672"/>
            <a:ext cx="1691640" cy="139903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5. Photograph</a:t>
            </a:r>
          </a:p>
          <a:p>
            <a:pPr algn="ctr"/>
            <a:r>
              <a:rPr sz="1300" b="0">
                <a:solidFill>
                  <a:srgbClr val="FFFFFF"/>
                </a:solidFill>
              </a:rPr>
              <a:t>2–7 calibrated views</a:t>
            </a:r>
          </a:p>
        </p:txBody>
      </p:sp>
      <p:sp>
        <p:nvSpPr>
          <p:cNvPr id="12" name="Right Arrow 11"/>
          <p:cNvSpPr/>
          <p:nvPr/>
        </p:nvSpPr>
        <p:spPr>
          <a:xfrm>
            <a:off x="9756648" y="2482596"/>
            <a:ext cx="201168" cy="263347"/>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966960" y="1947672"/>
            <a:ext cx="1691640" cy="1399032"/>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6. Compare</a:t>
            </a:r>
          </a:p>
          <a:p>
            <a:pPr algn="ctr"/>
            <a:r>
              <a:rPr sz="1300" b="0">
                <a:solidFill>
                  <a:srgbClr val="FFFFFF"/>
                </a:solidFill>
              </a:rPr>
              <a:t>our numbers vs the scan</a:t>
            </a:r>
          </a:p>
        </p:txBody>
      </p:sp>
      <p:sp>
        <p:nvSpPr>
          <p:cNvPr id="14" name="TextBox 13"/>
          <p:cNvSpPr txBox="1"/>
          <p:nvPr/>
        </p:nvSpPr>
        <p:spPr>
          <a:xfrm>
            <a:off x="548640" y="3675888"/>
            <a:ext cx="5760720" cy="2468880"/>
          </a:xfrm>
          <a:prstGeom prst="rect">
            <a:avLst/>
          </a:prstGeom>
          <a:noFill/>
        </p:spPr>
        <p:txBody>
          <a:bodyPr wrap="square" anchor="t">
            <a:spAutoFit/>
          </a:bodyPr>
          <a:lstStyle/>
          <a:p>
            <a:pPr algn="l">
              <a:spcAft>
                <a:spcPts val="800"/>
              </a:spcAft>
            </a:pPr>
            <a:r>
              <a:rPr sz="1700" b="0">
                <a:solidFill>
                  <a:srgbClr val="1F2937"/>
                </a:solidFill>
              </a:rPr>
              <a:t>•  Measure: location, depth, size of each defect</a:t>
            </a:r>
          </a:p>
          <a:p>
            <a:pPr algn="l">
              <a:spcAft>
                <a:spcPts val="800"/>
              </a:spcAft>
            </a:pPr>
            <a:r>
              <a:rPr sz="1700" b="0">
                <a:solidFill>
                  <a:srgbClr val="1F2937"/>
                </a:solidFill>
              </a:rPr>
              <a:t>•  Same metrics as on synthetic: found, false alarms, depth error</a:t>
            </a:r>
          </a:p>
          <a:p>
            <a:pPr algn="l">
              <a:spcAft>
                <a:spcPts val="800"/>
              </a:spcAft>
            </a:pPr>
            <a:r>
              <a:rPr sz="1700" b="0">
                <a:solidFill>
                  <a:srgbClr val="1F2937"/>
                </a:solidFill>
              </a:rPr>
              <a:t>•  Healthy and stain-only blades check false alarms</a:t>
            </a:r>
          </a:p>
        </p:txBody>
      </p:sp>
      <p:sp>
        <p:nvSpPr>
          <p:cNvPr id="15" name="Rounded Rectangle 14"/>
          <p:cNvSpPr/>
          <p:nvPr/>
        </p:nvSpPr>
        <p:spPr>
          <a:xfrm>
            <a:off x="6583680" y="3675888"/>
            <a:ext cx="5212080" cy="21396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2937"/>
                </a:solidFill>
              </a:rPr>
              <a:t>Damage types</a:t>
            </a:r>
          </a:p>
          <a:p>
            <a:pPr algn="ctr"/>
            <a:r>
              <a:rPr sz="1500" b="0">
                <a:solidFill>
                  <a:srgbClr val="1F2937"/>
                </a:solidFill>
              </a:rPr>
              <a:t>Dents and stains: modelled today</a:t>
            </a:r>
          </a:p>
          <a:p>
            <a:pPr algn="ctr"/>
            <a:r>
              <a:rPr sz="1500" b="0">
                <a:solidFill>
                  <a:srgbClr val="1F2937"/>
                </a:solidFill>
              </a:rPr>
              <a:t>Nicks and cracks: new damage models (planned)</a:t>
            </a:r>
          </a:p>
          <a:p>
            <a:pPr algn="ctr"/>
            <a:r>
              <a:rPr sz="1500" b="0">
                <a:solidFill>
                  <a:srgbClr val="1F2937"/>
                </a:solidFill>
              </a:rPr>
              <a:t>Scanner gives the true shape to compare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Next Steps</a:t>
            </a:r>
          </a:p>
        </p:txBody>
      </p:sp>
      <p:sp>
        <p:nvSpPr>
          <p:cNvPr id="3" name="Rounded Rectangle 2"/>
          <p:cNvSpPr/>
          <p:nvPr/>
        </p:nvSpPr>
        <p:spPr>
          <a:xfrm>
            <a:off x="457200" y="1947672"/>
            <a:ext cx="3566160" cy="1563624"/>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Real data</a:t>
            </a:r>
          </a:p>
          <a:p>
            <a:pPr algn="ctr"/>
            <a:r>
              <a:rPr sz="1500" b="0">
                <a:solidFill>
                  <a:srgbClr val="FFFFFF"/>
                </a:solidFill>
              </a:rPr>
              <a:t>printed + scanned blades; retry SiM3D</a:t>
            </a:r>
          </a:p>
        </p:txBody>
      </p:sp>
      <p:sp>
        <p:nvSpPr>
          <p:cNvPr id="4" name="Rounded Rectangle 3"/>
          <p:cNvSpPr/>
          <p:nvPr/>
        </p:nvSpPr>
        <p:spPr>
          <a:xfrm>
            <a:off x="4251960" y="1947672"/>
            <a:ext cx="3566160" cy="1563624"/>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More views</a:t>
            </a:r>
          </a:p>
          <a:p>
            <a:pPr algn="ctr"/>
            <a:r>
              <a:rPr sz="1500" b="0">
                <a:solidFill>
                  <a:srgbClr val="FFFFFF"/>
                </a:solidFill>
              </a:rPr>
              <a:t>oblique views aimed at the suspect spot</a:t>
            </a:r>
          </a:p>
        </p:txBody>
      </p:sp>
      <p:sp>
        <p:nvSpPr>
          <p:cNvPr id="5" name="Rounded Rectangle 4"/>
          <p:cNvSpPr/>
          <p:nvPr/>
        </p:nvSpPr>
        <p:spPr>
          <a:xfrm>
            <a:off x="8046720" y="1947672"/>
            <a:ext cx="3566160" cy="1563624"/>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Lighting</a:t>
            </a:r>
          </a:p>
          <a:p>
            <a:pPr algn="ctr"/>
            <a:r>
              <a:rPr sz="1500" b="0">
                <a:solidFill>
                  <a:srgbClr val="FFFFFF"/>
                </a:solidFill>
              </a:rPr>
              <a:t>grazing light: dents cast shadows, depth becomes visible</a:t>
            </a:r>
          </a:p>
        </p:txBody>
      </p:sp>
      <p:sp>
        <p:nvSpPr>
          <p:cNvPr id="6" name="Rounded Rectangle 5"/>
          <p:cNvSpPr/>
          <p:nvPr/>
        </p:nvSpPr>
        <p:spPr>
          <a:xfrm>
            <a:off x="457200" y="3840480"/>
            <a:ext cx="3566160" cy="156362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Depth ranges</a:t>
            </a:r>
          </a:p>
          <a:p>
            <a:pPr algn="ctr"/>
            <a:r>
              <a:rPr sz="1500" b="0">
                <a:solidFill>
                  <a:srgbClr val="FFFFFF"/>
                </a:solidFill>
              </a:rPr>
              <a:t>report "at least X mm" when depth is uncertain</a:t>
            </a:r>
          </a:p>
        </p:txBody>
      </p:sp>
      <p:sp>
        <p:nvSpPr>
          <p:cNvPr id="7" name="Rounded Rectangle 6"/>
          <p:cNvSpPr/>
          <p:nvPr/>
        </p:nvSpPr>
        <p:spPr>
          <a:xfrm>
            <a:off x="4251960" y="3840480"/>
            <a:ext cx="3566160" cy="1563624"/>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New damage types</a:t>
            </a:r>
          </a:p>
          <a:p>
            <a:pPr algn="ctr"/>
            <a:r>
              <a:rPr sz="1500" b="0">
                <a:solidFill>
                  <a:srgbClr val="FFFFFF"/>
                </a:solidFill>
              </a:rPr>
              <a:t>nicks and cracks</a:t>
            </a:r>
          </a:p>
        </p:txBody>
      </p:sp>
      <p:sp>
        <p:nvSpPr>
          <p:cNvPr id="8" name="Rounded Rectangle 7"/>
          <p:cNvSpPr/>
          <p:nvPr/>
        </p:nvSpPr>
        <p:spPr>
          <a:xfrm>
            <a:off x="8046720" y="3840480"/>
            <a:ext cx="3566160" cy="1563624"/>
          </a:xfrm>
          <a:prstGeom prst="roundRect">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Paper</a:t>
            </a:r>
          </a:p>
          <a:p>
            <a:pPr algn="ctr"/>
            <a:r>
              <a:rPr sz="1500" b="0">
                <a:solidFill>
                  <a:srgbClr val="FFFFFF"/>
                </a:solidFill>
              </a:rPr>
              <a:t>CVPR 2027 (Nov 2026); ICCV 2027 as fallback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3D Demo: Actual Damage vs Model Prediction</a:t>
            </a:r>
          </a:p>
        </p:txBody>
      </p:sp>
      <p:pic>
        <p:nvPicPr>
          <p:cNvPr id="3" name="Picture 2" descr="viewer_ind.png"/>
          <p:cNvPicPr>
            <a:picLocks noChangeAspect="1"/>
          </p:cNvPicPr>
          <p:nvPr/>
        </p:nvPicPr>
        <p:blipFill>
          <a:blip r:embed="rId2"/>
          <a:stretch>
            <a:fillRect/>
          </a:stretch>
        </p:blipFill>
        <p:spPr>
          <a:xfrm>
            <a:off x="715571" y="1783080"/>
            <a:ext cx="6889897" cy="4114800"/>
          </a:xfrm>
          <a:prstGeom prst="rect">
            <a:avLst/>
          </a:prstGeom>
        </p:spPr>
      </p:pic>
      <p:sp>
        <p:nvSpPr>
          <p:cNvPr id="4" name="TextBox 3"/>
          <p:cNvSpPr txBox="1"/>
          <p:nvPr/>
        </p:nvSpPr>
        <p:spPr>
          <a:xfrm>
            <a:off x="8138160" y="1947672"/>
            <a:ext cx="3657600" cy="2962656"/>
          </a:xfrm>
          <a:prstGeom prst="rect">
            <a:avLst/>
          </a:prstGeom>
          <a:noFill/>
        </p:spPr>
        <p:txBody>
          <a:bodyPr wrap="square" anchor="t">
            <a:spAutoFit/>
          </a:bodyPr>
          <a:lstStyle/>
          <a:p>
            <a:pPr algn="l">
              <a:spcAft>
                <a:spcPts val="800"/>
              </a:spcAft>
            </a:pPr>
            <a:r>
              <a:rPr sz="1600" b="0">
                <a:solidFill>
                  <a:srgbClr val="1F2937"/>
                </a:solidFill>
              </a:rPr>
              <a:t>•  Rotate the blade 360°</a:t>
            </a:r>
          </a:p>
          <a:p>
            <a:pPr algn="l">
              <a:spcAft>
                <a:spcPts val="800"/>
              </a:spcAft>
            </a:pPr>
            <a:r>
              <a:rPr sz="1600" b="0">
                <a:solidFill>
                  <a:srgbClr val="1F2937"/>
                </a:solidFill>
              </a:rPr>
              <a:t>•  Switch: healthy · actual damage · model prediction · old model</a:t>
            </a:r>
          </a:p>
          <a:p>
            <a:pPr algn="l">
              <a:spcAft>
                <a:spcPts val="800"/>
              </a:spcAft>
            </a:pPr>
            <a:r>
              <a:rPr sz="1600" b="0">
                <a:solidFill>
                  <a:srgbClr val="1F2937"/>
                </a:solidFill>
              </a:rPr>
              <a:t>•  Side by side: truth (left) vs model (right)</a:t>
            </a:r>
          </a:p>
          <a:p>
            <a:pPr algn="l">
              <a:spcAft>
                <a:spcPts val="800"/>
              </a:spcAft>
            </a:pPr>
            <a:r>
              <a:rPr sz="1600" b="0">
                <a:solidFill>
                  <a:srgbClr val="1F2937"/>
                </a:solidFill>
              </a:rPr>
              <a:t>•  Rotor37 and industrial blades</a:t>
            </a:r>
          </a:p>
        </p:txBody>
      </p:sp>
      <p:sp>
        <p:nvSpPr>
          <p:cNvPr id="5" name="TextBox 4"/>
          <p:cNvSpPr txBox="1"/>
          <p:nvPr/>
        </p:nvSpPr>
        <p:spPr>
          <a:xfrm>
            <a:off x="8138160" y="4910328"/>
            <a:ext cx="3657600" cy="987552"/>
          </a:xfrm>
          <a:prstGeom prst="rect">
            <a:avLst/>
          </a:prstGeom>
          <a:noFill/>
        </p:spPr>
        <p:txBody>
          <a:bodyPr wrap="square" anchor="t">
            <a:spAutoFit/>
          </a:bodyPr>
          <a:lstStyle/>
          <a:p>
            <a:pPr algn="l">
              <a:spcAft>
                <a:spcPts val="200"/>
              </a:spcAft>
            </a:pPr>
            <a:r>
              <a:rPr sz="1400" b="1">
                <a:solidFill>
                  <a:srgbClr val="0047BB"/>
                </a:solidFill>
              </a:rPr>
              <a:t>afeefaaazam03.github.io/3D-Jetblade/viewer3d.html</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