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0"/>
  </p:notesMasterIdLst>
  <p:sldIdLst>
    <p:sldId id="257" r:id="rId5"/>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CBBB8"/>
    <a:srgbClr val="0047BA"/>
    <a:srgbClr val="E67E22"/>
    <a:srgbClr val="9B59B6"/>
    <a:srgbClr val="2C3E50"/>
    <a:srgbClr val="27AE60"/>
    <a:srgbClr val="F2F2F2"/>
    <a:srgbClr val="E2F0D9"/>
    <a:srgbClr val="C6C6C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E8B1032C-EA38-4F05-BA0D-38AFFFC7BED3}">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199" autoAdjust="0"/>
    <p:restoredTop sz="95033" autoAdjust="0"/>
  </p:normalViewPr>
  <p:slideViewPr>
    <p:cSldViewPr snapToGrid="0" showGuides="1">
      <p:cViewPr varScale="1">
        <p:scale>
          <a:sx n="109" d="100"/>
          <a:sy n="109" d="100"/>
        </p:scale>
        <p:origin x="1818"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9" Type="http://schemas.openxmlformats.org/officeDocument/2006/relationships/slide" Target="slides/slide5.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Mismatch with the photo (lower = better)</c:v>
                </c:pt>
              </c:strCache>
            </c:strRef>
          </c:tx>
          <c:spPr>
            <a:solidFill>
              <a:srgbClr val="0047BB"/>
            </a:solidFill>
          </c:spPr>
          <c:dPt>
            <c:idx val="0"/>
            <c:spPr>
              <a:solidFill>
                <a:srgbClr val="0047BB"/>
              </a:solidFill>
            </c:spPr>
          </c:dPt>
          <c:dPt>
            <c:idx val="1"/>
            <c:spPr>
              <a:solidFill>
                <a:srgbClr val="E8833A"/>
              </a:solidFill>
            </c:spPr>
          </c:dPt>
          <c:dLbls>
            <c:numFmt formatCode="0.0" sourceLinked="0"/>
            <c:txPr>
              <a:bodyPr/>
              <a:lstStyle/>
              <a:p>
                <a:pPr>
                  <a:defRPr sz="1400" b="1"/>
                </a:pPr>
              </a:p>
            </c:txPr>
            <c:dLblPos val="outEnd"/>
            <c:showLegendKey val="0"/>
            <c:showVal val="1"/>
            <c:showCatName val="0"/>
            <c:showSerName val="0"/>
            <c:showPercent val="0"/>
            <c:showBubbleSize val="0"/>
            <c:showLeaderLines val="1"/>
          </c:dLbls>
          <c:cat>
            <c:strRef>
              <c:f>Sheet1!$A$2:$A$3</c:f>
              <c:strCache>
                <c:ptCount val="2"/>
                <c:pt idx="0">
                  <c:v>No damage</c:v>
                </c:pt>
                <c:pt idx="1">
                  <c:v>With a dent</c:v>
                </c:pt>
              </c:strCache>
            </c:strRef>
          </c:cat>
          <c:val>
            <c:numRef>
              <c:f>Sheet1!$B$2:$B$3</c:f>
              <c:numCache>
                <c:formatCode>General</c:formatCode>
                <c:ptCount val="2"/>
                <c:pt idx="0">
                  <c:v>89.3</c:v>
                </c:pt>
                <c:pt idx="1">
                  <c:v>19.9</c:v>
                </c:pt>
              </c:numCache>
            </c:numRef>
          </c:val>
        </c:ser>
        <c:gapWidth val="60"/>
        <c:axId val="-2068027336"/>
        <c:axId val="-2113994440"/>
      </c:barChart>
      <c:catAx>
        <c:axId val="-2068027336"/>
        <c:scaling>
          <c:orientation val="minMax"/>
        </c:scaling>
        <c:delete val="0"/>
        <c:axPos val="b"/>
        <c:majorTickMark val="out"/>
        <c:minorTickMark val="none"/>
        <c:tickLblPos val="nextTo"/>
        <c:txPr>
          <a:bodyPr/>
          <a:lstStyle/>
          <a:p>
            <a:pPr>
              <a:defRPr sz="1400"/>
            </a:pPr>
          </a:p>
        </c:txPr>
        <c:crossAx val="-2113994440"/>
        <c:crosses val="autoZero"/>
        <c:auto val="1"/>
        <c:lblAlgn val="ctr"/>
        <c:lblOffset val="100"/>
        <c:noMultiLvlLbl val="0"/>
      </c:catAx>
      <c:valAx>
        <c:axId val="-2113994440"/>
        <c:scaling>
          <c:max val="110.0"/>
          <c:min val="0.0"/>
        </c:scaling>
        <c:delete/>
        <c:axPos val="l"/>
        <c:majorTickMark val="out"/>
        <c:minorTickMark val="none"/>
        <c:tickLblPos val="nextTo"/>
        <c:txPr>
          <a:bodyPr/>
          <a:lstStyle/>
          <a:p>
            <a:pPr>
              <a:defRPr sz="12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Separation (AUROC × 100)</c:v>
                </c:pt>
              </c:strCache>
            </c:strRef>
          </c:tx>
          <c:spPr>
            <a:solidFill>
              <a:srgbClr val="0047BB"/>
            </a:solidFill>
          </c:spPr>
          <c:dLbls>
            <c:numFmt formatCode="0" sourceLinked="0"/>
            <c:txPr>
              <a:bodyPr/>
              <a:lstStyle/>
              <a:p>
                <a:pPr>
                  <a:defRPr sz="1400" b="1"/>
                </a:pPr>
              </a:p>
            </c:txPr>
            <c:dLblPos val="outEnd"/>
            <c:showLegendKey val="0"/>
            <c:showVal val="1"/>
            <c:showCatName val="0"/>
            <c:showSerName val="0"/>
            <c:showPercent val="0"/>
            <c:showBubbleSize val="0"/>
            <c:showLeaderLines val="1"/>
          </c:dLbls>
          <c:cat>
            <c:strRef>
              <c:f>Sheet1!$A$2:$A$5</c:f>
              <c:strCache>
                <c:ptCount val="4"/>
                <c:pt idx="0">
                  <c:v>Ours</c:v>
                </c:pt>
                <c:pt idx="1">
                  <c:v>MLP field</c:v>
                </c:pt>
                <c:pt idx="2">
                  <c:v>2D detector</c:v>
                </c:pt>
                <c:pt idx="3">
                  <c:v>Free-form field</c:v>
                </c:pt>
              </c:strCache>
            </c:strRef>
          </c:cat>
          <c:val>
            <c:numRef>
              <c:f>Sheet1!$B$2:$B$5</c:f>
              <c:numCache>
                <c:formatCode>General</c:formatCode>
                <c:ptCount val="4"/>
                <c:pt idx="0">
                  <c:v>82</c:v>
                </c:pt>
                <c:pt idx="1">
                  <c:v>74</c:v>
                </c:pt>
                <c:pt idx="2">
                  <c:v>72</c:v>
                </c:pt>
                <c:pt idx="3">
                  <c:v>63</c:v>
                </c:pt>
              </c:numCache>
            </c:numRef>
          </c:val>
        </c:ser>
        <c:ser>
          <c:idx val="1"/>
          <c:order val="1"/>
          <c:tx>
            <c:strRef>
              <c:f>Sheet1!$C$1</c:f>
              <c:strCache>
                <c:ptCount val="1"/>
                <c:pt idx="0">
                  <c:v>Visible dents found (%)</c:v>
                </c:pt>
              </c:strCache>
            </c:strRef>
          </c:tx>
          <c:spPr>
            <a:solidFill>
              <a:srgbClr val="E8833A"/>
            </a:solidFill>
          </c:spPr>
          <c:dLbls>
            <c:numFmt formatCode="0" sourceLinked="0"/>
            <c:txPr>
              <a:bodyPr/>
              <a:lstStyle/>
              <a:p>
                <a:pPr>
                  <a:defRPr sz="1400" b="1"/>
                </a:pPr>
              </a:p>
            </c:txPr>
            <c:dLblPos val="outEnd"/>
            <c:showLegendKey val="0"/>
            <c:showVal val="1"/>
            <c:showCatName val="0"/>
            <c:showSerName val="0"/>
            <c:showPercent val="0"/>
            <c:showBubbleSize val="0"/>
            <c:showLeaderLines val="1"/>
          </c:dLbls>
          <c:cat>
            <c:strRef>
              <c:f>Sheet1!$A$2:$A$5</c:f>
              <c:strCache>
                <c:ptCount val="4"/>
                <c:pt idx="0">
                  <c:v>Ours</c:v>
                </c:pt>
                <c:pt idx="1">
                  <c:v>MLP field</c:v>
                </c:pt>
                <c:pt idx="2">
                  <c:v>2D detector</c:v>
                </c:pt>
                <c:pt idx="3">
                  <c:v>Free-form field</c:v>
                </c:pt>
              </c:strCache>
            </c:strRef>
          </c:cat>
          <c:val>
            <c:numRef>
              <c:f>Sheet1!$C$2:$C$5</c:f>
              <c:numCache>
                <c:formatCode>General</c:formatCode>
                <c:ptCount val="4"/>
                <c:pt idx="0">
                  <c:v>54</c:v>
                </c:pt>
                <c:pt idx="1">
                  <c:v>16</c:v>
                </c:pt>
                <c:pt idx="2">
                  <c:v>24</c:v>
                </c:pt>
                <c:pt idx="3">
                  <c:v>14</c:v>
                </c:pt>
              </c:numCache>
            </c:numRef>
          </c:val>
        </c:ser>
        <c:ser>
          <c:idx val="2"/>
          <c:order val="2"/>
          <c:tx>
            <c:strRef>
              <c:f>Sheet1!$D$1</c:f>
              <c:strCache>
                <c:ptCount val="1"/>
                <c:pt idx="0">
                  <c:v>…in the right place (%)</c:v>
                </c:pt>
              </c:strCache>
            </c:strRef>
          </c:tx>
          <c:spPr>
            <a:solidFill>
              <a:srgbClr val="1A7F37"/>
            </a:solidFill>
          </c:spPr>
          <c:dLbls>
            <c:numFmt formatCode="0" sourceLinked="0"/>
            <c:txPr>
              <a:bodyPr/>
              <a:lstStyle/>
              <a:p>
                <a:pPr>
                  <a:defRPr sz="1400" b="1"/>
                </a:pPr>
              </a:p>
            </c:txPr>
            <c:dLblPos val="outEnd"/>
            <c:showLegendKey val="0"/>
            <c:showVal val="1"/>
            <c:showCatName val="0"/>
            <c:showSerName val="0"/>
            <c:showPercent val="0"/>
            <c:showBubbleSize val="0"/>
            <c:showLeaderLines val="1"/>
          </c:dLbls>
          <c:cat>
            <c:strRef>
              <c:f>Sheet1!$A$2:$A$5</c:f>
              <c:strCache>
                <c:ptCount val="4"/>
                <c:pt idx="0">
                  <c:v>Ours</c:v>
                </c:pt>
                <c:pt idx="1">
                  <c:v>MLP field</c:v>
                </c:pt>
                <c:pt idx="2">
                  <c:v>2D detector</c:v>
                </c:pt>
                <c:pt idx="3">
                  <c:v>Free-form field</c:v>
                </c:pt>
              </c:strCache>
            </c:strRef>
          </c:cat>
          <c:val>
            <c:numRef>
              <c:f>Sheet1!$D$2:$D$5</c:f>
              <c:numCache>
                <c:formatCode>General</c:formatCode>
                <c:ptCount val="4"/>
                <c:pt idx="0">
                  <c:v>54</c:v>
                </c:pt>
                <c:pt idx="1">
                  <c:v>11</c:v>
                </c:pt>
                <c:pt idx="2">
                  <c:v>16</c:v>
                </c:pt>
                <c:pt idx="3">
                  <c:v>11</c:v>
                </c:pt>
              </c:numCache>
            </c:numRef>
          </c:val>
        </c:ser>
        <c:gapWidth val="60"/>
        <c:axId val="-2068027336"/>
        <c:axId val="-2113994440"/>
      </c:barChart>
      <c:catAx>
        <c:axId val="-2068027336"/>
        <c:scaling>
          <c:orientation val="minMax"/>
        </c:scaling>
        <c:delete val="0"/>
        <c:axPos val="b"/>
        <c:majorTickMark val="out"/>
        <c:minorTickMark val="none"/>
        <c:tickLblPos val="nextTo"/>
        <c:txPr>
          <a:bodyPr/>
          <a:lstStyle/>
          <a:p>
            <a:pPr>
              <a:defRPr sz="1400"/>
            </a:pPr>
          </a:p>
        </c:txPr>
        <c:crossAx val="-2113994440"/>
        <c:crosses val="autoZero"/>
        <c:auto val="1"/>
        <c:lblAlgn val="ctr"/>
        <c:lblOffset val="100"/>
        <c:noMultiLvlLbl val="0"/>
      </c:catAx>
      <c:valAx>
        <c:axId val="-2113994440"/>
        <c:scaling>
          <c:max val="100.0"/>
          <c:min val="0.0"/>
        </c:scaling>
        <c:delete/>
        <c:axPos val="l"/>
        <c:majorTickMark val="out"/>
        <c:minorTickMark val="none"/>
        <c:tickLblPos val="nextTo"/>
        <c:txPr>
          <a:bodyPr/>
          <a:lstStyle/>
          <a:p>
            <a:pPr>
              <a:defRPr sz="1200"/>
            </a:pPr>
          </a:p>
        </c:txPr>
        <c:crossAx val="-2068027336"/>
        <c:crosses val="autoZero"/>
      </c:valAx>
    </c:plotArea>
    <c:legend>
      <c:legendPos val="b"/>
      <c:overlay val="0"/>
      <c:txPr>
        <a:bodyPr/>
        <a:lstStyle/>
        <a:p>
          <a:pPr>
            <a:defRPr sz="1400"/>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b="1"/>
              <a:t>Without the evidence test</a:t>
            </a:r>
          </a:p>
        </c:rich>
      </c:tx>
      <c:layout/>
      <c:overlay val="0"/>
    </c:title>
    <c:autoTitleDeleted val="0"/>
    <c:plotArea>
      <c:barChart>
        <c:barDir val="col"/>
        <c:grouping val="clustered"/>
        <c:ser>
          <c:idx val="0"/>
          <c:order val="0"/>
          <c:tx>
            <c:strRef>
              <c:f>Sheet1!$B$1</c:f>
              <c:strCache>
                <c:ptCount val="1"/>
                <c:pt idx="0">
                  <c:v>Without evidence test</c:v>
                </c:pt>
              </c:strCache>
            </c:strRef>
          </c:tx>
          <c:spPr>
            <a:solidFill>
              <a:srgbClr val="C62828"/>
            </a:solidFill>
          </c:spPr>
          <c:dLbls>
            <c:numFmt formatCode="0&quot;%&quot;" sourceLinked="0"/>
            <c:txPr>
              <a:bodyPr/>
              <a:lstStyle/>
              <a:p>
                <a:pPr>
                  <a:defRPr sz="1400" b="1"/>
                </a:pPr>
              </a:p>
            </c:txPr>
            <c:dLblPos val="outEnd"/>
            <c:showLegendKey val="0"/>
            <c:showVal val="1"/>
            <c:showCatName val="0"/>
            <c:showSerName val="0"/>
            <c:showPercent val="0"/>
            <c:showBubbleSize val="0"/>
            <c:showLeaderLines val="1"/>
          </c:dLbls>
          <c:cat>
            <c:strRef>
              <c:f>Sheet1!$A$2:$A$4</c:f>
              <c:strCache>
                <c:ptCount val="3"/>
                <c:pt idx="0">
                  <c:v>False alarms</c:v>
                </c:pt>
                <c:pt idx="1">
                  <c:v>Hidden dents
wrongly claimed</c:v>
                </c:pt>
                <c:pt idx="2">
                  <c:v>Visible dents
found</c:v>
                </c:pt>
              </c:strCache>
            </c:strRef>
          </c:cat>
          <c:val>
            <c:numRef>
              <c:f>Sheet1!$B$2:$B$4</c:f>
              <c:numCache>
                <c:formatCode>General</c:formatCode>
                <c:ptCount val="3"/>
                <c:pt idx="0">
                  <c:v>32</c:v>
                </c:pt>
                <c:pt idx="1">
                  <c:v>55</c:v>
                </c:pt>
                <c:pt idx="2">
                  <c:v>84</c:v>
                </c:pt>
              </c:numCache>
            </c:numRef>
          </c:val>
        </c:ser>
        <c:gapWidth val="60"/>
        <c:axId val="-2068027336"/>
        <c:axId val="-2113994440"/>
      </c:barChart>
      <c:catAx>
        <c:axId val="-2068027336"/>
        <c:scaling>
          <c:orientation val="minMax"/>
        </c:scaling>
        <c:delete val="0"/>
        <c:axPos val="b"/>
        <c:majorTickMark val="out"/>
        <c:minorTickMark val="none"/>
        <c:tickLblPos val="nextTo"/>
        <c:txPr>
          <a:bodyPr/>
          <a:lstStyle/>
          <a:p>
            <a:pPr>
              <a:defRPr sz="1400"/>
            </a:pPr>
          </a:p>
        </c:txPr>
        <c:crossAx val="-2113994440"/>
        <c:crosses val="autoZero"/>
        <c:auto val="1"/>
        <c:lblAlgn val="ctr"/>
        <c:lblOffset val="100"/>
        <c:noMultiLvlLbl val="0"/>
      </c:catAx>
      <c:valAx>
        <c:axId val="-2113994440"/>
        <c:scaling>
          <c:max val="100.0"/>
          <c:min val="0.0"/>
        </c:scaling>
        <c:delete/>
        <c:axPos val="l"/>
        <c:majorTickMark val="out"/>
        <c:minorTickMark val="none"/>
        <c:tickLblPos val="nextTo"/>
        <c:txPr>
          <a:bodyPr/>
          <a:lstStyle/>
          <a:p>
            <a:pPr>
              <a:defRPr sz="12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b="1"/>
              <a:t>With the evidence test</a:t>
            </a:r>
          </a:p>
        </c:rich>
      </c:tx>
      <c:layout/>
      <c:overlay val="0"/>
    </c:title>
    <c:autoTitleDeleted val="0"/>
    <c:plotArea>
      <c:barChart>
        <c:barDir val="col"/>
        <c:grouping val="clustered"/>
        <c:ser>
          <c:idx val="0"/>
          <c:order val="0"/>
          <c:tx>
            <c:strRef>
              <c:f>Sheet1!$B$1</c:f>
              <c:strCache>
                <c:ptCount val="1"/>
                <c:pt idx="0">
                  <c:v>With evidence test</c:v>
                </c:pt>
              </c:strCache>
            </c:strRef>
          </c:tx>
          <c:spPr>
            <a:solidFill>
              <a:srgbClr val="1A7F37"/>
            </a:solidFill>
          </c:spPr>
          <c:dLbls>
            <c:numFmt formatCode="0&quot;%&quot;" sourceLinked="0"/>
            <c:txPr>
              <a:bodyPr/>
              <a:lstStyle/>
              <a:p>
                <a:pPr>
                  <a:defRPr sz="1400" b="1"/>
                </a:pPr>
              </a:p>
            </c:txPr>
            <c:dLblPos val="outEnd"/>
            <c:showLegendKey val="0"/>
            <c:showVal val="1"/>
            <c:showCatName val="0"/>
            <c:showSerName val="0"/>
            <c:showPercent val="0"/>
            <c:showBubbleSize val="0"/>
            <c:showLeaderLines val="1"/>
          </c:dLbls>
          <c:cat>
            <c:strRef>
              <c:f>Sheet1!$A$2:$A$4</c:f>
              <c:strCache>
                <c:ptCount val="3"/>
                <c:pt idx="0">
                  <c:v>False alarms</c:v>
                </c:pt>
                <c:pt idx="1">
                  <c:v>Hidden dents
wrongly claimed</c:v>
                </c:pt>
                <c:pt idx="2">
                  <c:v>Visible dents
found</c:v>
                </c:pt>
              </c:strCache>
            </c:strRef>
          </c:cat>
          <c:val>
            <c:numRef>
              <c:f>Sheet1!$B$2:$B$4</c:f>
              <c:numCache>
                <c:formatCode>General</c:formatCode>
                <c:ptCount val="3"/>
                <c:pt idx="0">
                  <c:v>10</c:v>
                </c:pt>
                <c:pt idx="1">
                  <c:v>15</c:v>
                </c:pt>
                <c:pt idx="2">
                  <c:v>54</c:v>
                </c:pt>
              </c:numCache>
            </c:numRef>
          </c:val>
        </c:ser>
        <c:gapWidth val="60"/>
        <c:axId val="-2068027336"/>
        <c:axId val="-2113994440"/>
      </c:barChart>
      <c:catAx>
        <c:axId val="-2068027336"/>
        <c:scaling>
          <c:orientation val="minMax"/>
        </c:scaling>
        <c:delete val="0"/>
        <c:axPos val="b"/>
        <c:majorTickMark val="out"/>
        <c:minorTickMark val="none"/>
        <c:tickLblPos val="nextTo"/>
        <c:txPr>
          <a:bodyPr/>
          <a:lstStyle/>
          <a:p>
            <a:pPr>
              <a:defRPr sz="1400"/>
            </a:pPr>
          </a:p>
        </c:txPr>
        <c:crossAx val="-2113994440"/>
        <c:crosses val="autoZero"/>
        <c:auto val="1"/>
        <c:lblAlgn val="ctr"/>
        <c:lblOffset val="100"/>
        <c:noMultiLvlLbl val="0"/>
      </c:catAx>
      <c:valAx>
        <c:axId val="-2113994440"/>
        <c:scaling>
          <c:max val="100.0"/>
          <c:min val="0.0"/>
        </c:scaling>
        <c:delete/>
        <c:axPos val="l"/>
        <c:majorTickMark val="out"/>
        <c:minorTickMark val="none"/>
        <c:tickLblPos val="nextTo"/>
        <c:txPr>
          <a:bodyPr/>
          <a:lstStyle/>
          <a:p>
            <a:pPr>
              <a:defRPr sz="12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Visible dents found</c:v>
                </c:pt>
              </c:strCache>
            </c:strRef>
          </c:tx>
          <c:spPr>
            <a:solidFill>
              <a:srgbClr val="1A7F37"/>
            </a:solidFill>
          </c:spPr>
          <c:dPt>
            <c:idx val="0"/>
            <c:spPr>
              <a:solidFill>
                <a:srgbClr val="1A7F37"/>
              </a:solidFill>
            </c:spPr>
          </c:dPt>
          <c:dPt>
            <c:idx val="1"/>
            <c:spPr>
              <a:solidFill>
                <a:srgbClr val="E8B000"/>
              </a:solidFill>
            </c:spPr>
          </c:dPt>
          <c:dPt>
            <c:idx val="2"/>
            <c:spPr>
              <a:solidFill>
                <a:srgbClr val="E8833A"/>
              </a:solidFill>
            </c:spPr>
          </c:dPt>
          <c:dLbls>
            <c:numFmt formatCode="0&quot;%&quot;" sourceLinked="0"/>
            <c:txPr>
              <a:bodyPr/>
              <a:lstStyle/>
              <a:p>
                <a:pPr>
                  <a:defRPr sz="1400" b="1"/>
                </a:pPr>
              </a:p>
            </c:txPr>
            <c:dLblPos val="outEnd"/>
            <c:showLegendKey val="0"/>
            <c:showVal val="1"/>
            <c:showCatName val="0"/>
            <c:showSerName val="0"/>
            <c:showPercent val="0"/>
            <c:showBubbleSize val="0"/>
            <c:showLeaderLines val="1"/>
          </c:dLbls>
          <c:cat>
            <c:strRef>
              <c:f>Sheet1!$A$2:$A$4</c:f>
              <c:strCache>
                <c:ptCount val="3"/>
                <c:pt idx="0">
                  <c:v>&gt; 0.2 mm</c:v>
                </c:pt>
                <c:pt idx="1">
                  <c:v>0.1 – 0.2 mm</c:v>
                </c:pt>
                <c:pt idx="2">
                  <c:v>&lt; 0.1 mm</c:v>
                </c:pt>
              </c:strCache>
            </c:strRef>
          </c:cat>
          <c:val>
            <c:numRef>
              <c:f>Sheet1!$B$2:$B$4</c:f>
              <c:numCache>
                <c:formatCode>General</c:formatCode>
                <c:ptCount val="3"/>
                <c:pt idx="0">
                  <c:v>92</c:v>
                </c:pt>
                <c:pt idx="1">
                  <c:v>50</c:v>
                </c:pt>
                <c:pt idx="2">
                  <c:v>10</c:v>
                </c:pt>
              </c:numCache>
            </c:numRef>
          </c:val>
        </c:ser>
        <c:gapWidth val="60"/>
        <c:axId val="-2068027336"/>
        <c:axId val="-2113994440"/>
      </c:barChart>
      <c:catAx>
        <c:axId val="-2068027336"/>
        <c:scaling>
          <c:orientation val="minMax"/>
        </c:scaling>
        <c:delete val="0"/>
        <c:axPos val="b"/>
        <c:majorTickMark val="out"/>
        <c:minorTickMark val="none"/>
        <c:tickLblPos val="nextTo"/>
        <c:txPr>
          <a:bodyPr/>
          <a:lstStyle/>
          <a:p>
            <a:pPr>
              <a:defRPr sz="1400"/>
            </a:pPr>
          </a:p>
        </c:txPr>
        <c:crossAx val="-2113994440"/>
        <c:crosses val="autoZero"/>
        <c:auto val="1"/>
        <c:lblAlgn val="ctr"/>
        <c:lblOffset val="100"/>
        <c:noMultiLvlLbl val="0"/>
      </c:catAx>
      <c:valAx>
        <c:axId val="-2113994440"/>
        <c:scaling>
          <c:max val="105.0"/>
          <c:min val="0.0"/>
        </c:scaling>
        <c:delete/>
        <c:axPos val="l"/>
        <c:majorTickMark val="out"/>
        <c:minorTickMark val="none"/>
        <c:tickLblPos val="nextTo"/>
        <c:txPr>
          <a:bodyPr/>
          <a:lstStyle/>
          <a:p>
            <a:pPr>
              <a:defRPr sz="12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b="1"/>
              <a:t>Frozen v1</a:t>
            </a:r>
          </a:p>
        </c:rich>
      </c:tx>
      <c:layout/>
      <c:overlay val="0"/>
    </c:title>
    <c:autoTitleDeleted val="0"/>
    <c:plotArea>
      <c:barChart>
        <c:barDir val="col"/>
        <c:grouping val="clustered"/>
        <c:ser>
          <c:idx val="0"/>
          <c:order val="0"/>
          <c:tx>
            <c:strRef>
              <c:f>Sheet1!$B$1</c:f>
              <c:strCache>
                <c:ptCount val="1"/>
                <c:pt idx="0">
                  <c:v>Frozen v1</c:v>
                </c:pt>
              </c:strCache>
            </c:strRef>
          </c:tx>
          <c:spPr>
            <a:solidFill>
              <a:srgbClr val="C62828"/>
            </a:solidFill>
          </c:spPr>
          <c:dLbls>
            <c:numFmt formatCode="0" sourceLinked="0"/>
            <c:txPr>
              <a:bodyPr/>
              <a:lstStyle/>
              <a:p>
                <a:pPr>
                  <a:defRPr sz="1400" b="1"/>
                </a:pPr>
              </a:p>
            </c:txPr>
            <c:dLblPos val="outEnd"/>
            <c:showLegendKey val="0"/>
            <c:showVal val="1"/>
            <c:showCatName val="0"/>
            <c:showSerName val="0"/>
            <c:showPercent val="0"/>
            <c:showBubbleSize val="0"/>
            <c:showLeaderLines val="1"/>
          </c:dLbls>
          <c:cat>
            <c:strRef>
              <c:f>Sheet1!$A$2:$A$4</c:f>
              <c:strCache>
                <c:ptCount val="3"/>
                <c:pt idx="0">
                  <c:v>False alarms (%)</c:v>
                </c:pt>
                <c:pt idx="1">
                  <c:v>Separation (×100)</c:v>
                </c:pt>
                <c:pt idx="2">
                  <c:v>Dents in right place (%)</c:v>
                </c:pt>
              </c:strCache>
            </c:strRef>
          </c:cat>
          <c:val>
            <c:numRef>
              <c:f>Sheet1!$B$2:$B$4</c:f>
              <c:numCache>
                <c:formatCode>General</c:formatCode>
                <c:ptCount val="3"/>
                <c:pt idx="0">
                  <c:v>51</c:v>
                </c:pt>
                <c:pt idx="1">
                  <c:v>72</c:v>
                </c:pt>
                <c:pt idx="2">
                  <c:v>67</c:v>
                </c:pt>
              </c:numCache>
            </c:numRef>
          </c:val>
        </c:ser>
        <c:gapWidth val="60"/>
        <c:axId val="-2068027336"/>
        <c:axId val="-2113994440"/>
      </c:barChart>
      <c:catAx>
        <c:axId val="-2068027336"/>
        <c:scaling>
          <c:orientation val="minMax"/>
        </c:scaling>
        <c:delete val="0"/>
        <c:axPos val="b"/>
        <c:majorTickMark val="out"/>
        <c:minorTickMark val="none"/>
        <c:tickLblPos val="nextTo"/>
        <c:txPr>
          <a:bodyPr/>
          <a:lstStyle/>
          <a:p>
            <a:pPr>
              <a:defRPr sz="1400"/>
            </a:pPr>
          </a:p>
        </c:txPr>
        <c:crossAx val="-2113994440"/>
        <c:crosses val="autoZero"/>
        <c:auto val="1"/>
        <c:lblAlgn val="ctr"/>
        <c:lblOffset val="100"/>
        <c:noMultiLvlLbl val="0"/>
      </c:catAx>
      <c:valAx>
        <c:axId val="-2113994440"/>
        <c:scaling>
          <c:max val="100.0"/>
          <c:min val="0.0"/>
        </c:scaling>
        <c:delete/>
        <c:axPos val="l"/>
        <c:majorTickMark val="out"/>
        <c:minorTickMark val="none"/>
        <c:tickLblPos val="nextTo"/>
        <c:txPr>
          <a:bodyPr/>
          <a:lstStyle/>
          <a:p>
            <a:pPr>
              <a:defRPr sz="12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b="1"/>
              <a:t>v1.1 (fixed)</a:t>
            </a:r>
          </a:p>
        </c:rich>
      </c:tx>
      <c:layout/>
      <c:overlay val="0"/>
    </c:title>
    <c:autoTitleDeleted val="0"/>
    <c:plotArea>
      <c:barChart>
        <c:barDir val="col"/>
        <c:grouping val="clustered"/>
        <c:ser>
          <c:idx val="0"/>
          <c:order val="0"/>
          <c:tx>
            <c:strRef>
              <c:f>Sheet1!$B$1</c:f>
              <c:strCache>
                <c:ptCount val="1"/>
                <c:pt idx="0">
                  <c:v>v1.1 (fixed)</c:v>
                </c:pt>
              </c:strCache>
            </c:strRef>
          </c:tx>
          <c:spPr>
            <a:solidFill>
              <a:srgbClr val="1A7F37"/>
            </a:solidFill>
          </c:spPr>
          <c:dLbls>
            <c:numFmt formatCode="0" sourceLinked="0"/>
            <c:txPr>
              <a:bodyPr/>
              <a:lstStyle/>
              <a:p>
                <a:pPr>
                  <a:defRPr sz="1400" b="1"/>
                </a:pPr>
              </a:p>
            </c:txPr>
            <c:dLblPos val="outEnd"/>
            <c:showLegendKey val="0"/>
            <c:showVal val="1"/>
            <c:showCatName val="0"/>
            <c:showSerName val="0"/>
            <c:showPercent val="0"/>
            <c:showBubbleSize val="0"/>
            <c:showLeaderLines val="1"/>
          </c:dLbls>
          <c:cat>
            <c:strRef>
              <c:f>Sheet1!$A$2:$A$4</c:f>
              <c:strCache>
                <c:ptCount val="3"/>
                <c:pt idx="0">
                  <c:v>False alarms (%)</c:v>
                </c:pt>
                <c:pt idx="1">
                  <c:v>Separation (×100)</c:v>
                </c:pt>
                <c:pt idx="2">
                  <c:v>Dents in right place (%)</c:v>
                </c:pt>
              </c:strCache>
            </c:strRef>
          </c:cat>
          <c:val>
            <c:numRef>
              <c:f>Sheet1!$B$2:$B$4</c:f>
              <c:numCache>
                <c:formatCode>General</c:formatCode>
                <c:ptCount val="3"/>
                <c:pt idx="0">
                  <c:v>4</c:v>
                </c:pt>
                <c:pt idx="1">
                  <c:v>95</c:v>
                </c:pt>
                <c:pt idx="2">
                  <c:v>83</c:v>
                </c:pt>
              </c:numCache>
            </c:numRef>
          </c:val>
        </c:ser>
        <c:gapWidth val="60"/>
        <c:axId val="-2068027336"/>
        <c:axId val="-2113994440"/>
      </c:barChart>
      <c:catAx>
        <c:axId val="-2068027336"/>
        <c:scaling>
          <c:orientation val="minMax"/>
        </c:scaling>
        <c:delete val="0"/>
        <c:axPos val="b"/>
        <c:majorTickMark val="out"/>
        <c:minorTickMark val="none"/>
        <c:tickLblPos val="nextTo"/>
        <c:txPr>
          <a:bodyPr/>
          <a:lstStyle/>
          <a:p>
            <a:pPr>
              <a:defRPr sz="1400"/>
            </a:pPr>
          </a:p>
        </c:txPr>
        <c:crossAx val="-2113994440"/>
        <c:crosses val="autoZero"/>
        <c:auto val="1"/>
        <c:lblAlgn val="ctr"/>
        <c:lblOffset val="100"/>
        <c:noMultiLvlLbl val="0"/>
      </c:catAx>
      <c:valAx>
        <c:axId val="-2113994440"/>
        <c:scaling>
          <c:max val="100.0"/>
          <c:min val="0.0"/>
        </c:scaling>
        <c:delete/>
        <c:axPos val="l"/>
        <c:majorTickMark val="out"/>
        <c:minorTickMark val="none"/>
        <c:tickLblPos val="nextTo"/>
        <c:txPr>
          <a:bodyPr/>
          <a:lstStyle/>
          <a:p>
            <a:pPr>
              <a:defRPr sz="12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B66FD6-D2A9-4F00-B491-A99A8AA44ED0}" type="datetimeFigureOut">
              <a:rPr lang="en-US" smtClean="0"/>
              <a:t>10/13/2026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5F57D8-2956-440C-8FE5-2823967F9ED1}" type="slidenum">
              <a:rPr lang="en-US" smtClean="0"/>
              <a:t>‹#›</a:t>
            </a:fld>
            <a:endParaRPr lang="en-US"/>
          </a:p>
        </p:txBody>
      </p:sp>
    </p:spTree>
    <p:extLst>
      <p:ext uri="{BB962C8B-B14F-4D97-AF65-F5344CB8AC3E}">
        <p14:creationId xmlns:p14="http://schemas.microsoft.com/office/powerpoint/2010/main" val="38166299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The question: can a computer look at a few photos of a jet engine blade and tell, in 3D, whether it is damaged? And just as important: can it tell when the photos are not enough?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Blades are inspected regularly from photos. Here a blade has a faint darker patch, circled. Is it damage? That is the question for the whole talk.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dark spot has four possible causes. Only the first, a dent, is real damage. The other three are harmless. A computer must tell them apart.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the dent changes the shape. The others change colour, brightness or position. But the dents that matter are tiny: 0.1 millimetre changes the picture by a few grey levels, while a one-degree camera error changes thousands of pixels.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inputs are the healthy design file and two to seven photos. The method compares two explanations: nothing broke, versus the same plus a dent. Strong evidence: report the dent with its depth and location. Weak evidence: say so.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steps. Explain the photos without damage. Find where a dent would help most. Fit a smooth 3D dent there. Then test whether the dent explanation is clearly better than the no-damage 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Offline, once: render blades with known damage, train an appearance model that predicts how a blade looks under the lights, calibrate the decision threshold on healthy and stained blades, then freeze everything. Online, for each inspection: correct the camera and lighting, fit the best no-damage explanation, propose dents with a fast statistical test, fit the best dent by differentiable rendering, and compare the evidence with the threshold. The same fit also gives the detection-limit map.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we explain everything that is not damage: refine the camera pose from the blade outline, the light levels, and a possible stain. What is left over is what damage would have to explain.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Subtract the healthy rendering from the photo. The difference is brightest where something changed; here, the dent. A quick statistical check over the whole surface turns this into a short list of candidate spots.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Starting from a candidate spot, the method fits a smooth dent: where it is, how deep, how big and its shape, by rendering the blade with the dent and adjusting until it matches the photo. Right: the true dent and the measured dent, coloured by depth.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real test case. Without a dent, the best explanation still mismatches the photo by 89. With the dent, 20. The improvement, 69, is the evidence. It is compared with a threshold set on healthy and stained blades so that only about 5 percent of them exceed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no public data has real blade dents with measured depth, we built a benchmark with exactly known answers. Six kinds of cases. Each picture: the photo with the true dent in orange rings and the reported dent in blue, the healthy blade, and the difference.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the public Rotor37 blades, we imported your six industrial blade CAD models. Blue is the airfoil the method inspects; grey is the platform and root. We generated 456 cases with real-world dent sizes. Nothing was retrained on them: this tests whether the method transfers to new designs.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Sealed test, 30 unseen blades. Ours separates dents from healthy blades best and finds more than twice as many dents, all in the right place. MLP and free-form fields reimplement the idea of the recent CADSplat work. Compared fairly at the same false-alarm rate, 51 percent versus at most 19.</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fits, with and without the evidence test. Without it, a third of healthy blades get a false dent and half of the hidden dents are wrongly "found". With it, false alarms drop to 10 percent and wrong claims on hidden dents to 15, at the cost of finding fewer dents.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Almost every visible dent deeper than 0.2 millimetres is found, 12 of 13. Below 0.1 millimetre the photo barely changes, and the method declines rather than guesses.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six new industrial designs the frozen method raised false alarms on most healthy blades: 67 percent over all six. Two causes: the camera check nudged correct cameras, and the brightness correction did not move with the blade. Fixed on two blades, tested on the other four: false alarms from 51 to 4 percent.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held-out industrial blades. Top: a healthy blade; the old version reported a dent, the fixed one reports nothing. Bottom: a real dent; the old version put it 37 millimetres away, the fixed one finds it. Honest limitation: on these new designs the measured depth is still too small, about 60 percent of the truth on average, against 89 percent on the original blades.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this week. Before searching, we compute the smallest dent each point could reveal. Yellow: tiny dents visible. Dark: only deep dents. Grey: the root, which the method ignores. The per-dent prediction was checked on 300 test dents. The map values in millimetres are still optimistic and need checking against real misses.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we bridge synthetic and real. Every photo so far is rendered, which gives exact answers. Several design choices are there to survive real data: we always compare with a healthy reference so absolute appearance errors cancel; since v1.1 that correction moves with the camera; the threshold is calibrated on data, not assumed; and we tested on new industrial designs. One real dataset of scanned furniture does not work yet, mainly because its photos are misaligned. Next: a printed, dented and scanned copy of one of your blades.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gap: everything so far is on rendered images. The next step is a real blade: print one of the industrial designs at twice its size, put real dents in it, photograph it, and measure the dents with a scanner.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short: a method that measures dents in 3D from a few photos, says when it cannot tell, keeps false alarms low, predicts what it can and cannot see, and now works on new blade designs. Next: real blades.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live 3D demo. Here an industrial blade: left the actual dent, right what the model predicts, 0.29 versus 0.30 millimetres, same place. Dents are exaggerated twenty times so they are visible. You can rotate, zoom, and switch between healthy, actual, the new model and the old one.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interactive demo online: choose one of five test blades, see the method decision, the measured depth and the evidence against the threshold. These are real outputs of the method.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Questions welcome.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0047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ED11D-86B6-41D9-804F-B21E465E6E73}"/>
              </a:ext>
            </a:extLst>
          </p:cNvPr>
          <p:cNvSpPr>
            <a:spLocks noGrp="1"/>
          </p:cNvSpPr>
          <p:nvPr>
            <p:ph type="ctrTitle"/>
          </p:nvPr>
        </p:nvSpPr>
        <p:spPr>
          <a:xfrm>
            <a:off x="1524000" y="2676525"/>
            <a:ext cx="9144000" cy="1714500"/>
          </a:xfrm>
        </p:spPr>
        <p:txBody>
          <a:bodyPr anchor="b"/>
          <a:lstStyle>
            <a:lvl1pPr algn="ctr">
              <a:defRPr sz="6000" spc="0" baseline="0">
                <a:solidFill>
                  <a:srgbClr val="FFFFFF"/>
                </a:solidFill>
              </a:defRPr>
            </a:lvl1pPr>
          </a:lstStyle>
          <a:p>
            <a:r>
              <a:rPr lang="en-US"/>
              <a:t>Click to edit Master title style</a:t>
            </a:r>
          </a:p>
        </p:txBody>
      </p:sp>
      <p:sp>
        <p:nvSpPr>
          <p:cNvPr id="3" name="Subtitle 2">
            <a:extLst>
              <a:ext uri="{FF2B5EF4-FFF2-40B4-BE49-F238E27FC236}">
                <a16:creationId xmlns:a16="http://schemas.microsoft.com/office/drawing/2014/main" id="{FB4DCADE-2A34-4B9D-9987-0330895D737E}"/>
              </a:ext>
            </a:extLst>
          </p:cNvPr>
          <p:cNvSpPr>
            <a:spLocks noGrp="1"/>
          </p:cNvSpPr>
          <p:nvPr>
            <p:ph type="subTitle" idx="1"/>
          </p:nvPr>
        </p:nvSpPr>
        <p:spPr>
          <a:xfrm>
            <a:off x="1524000" y="4429125"/>
            <a:ext cx="9144000" cy="1247775"/>
          </a:xfrm>
        </p:spPr>
        <p:txBody>
          <a:bodyPr>
            <a:normAutofit/>
          </a:bodyPr>
          <a:lstStyle>
            <a:lvl1pPr marL="0" indent="0" algn="ctr">
              <a:lnSpc>
                <a:spcPct val="80000"/>
              </a:lnSpc>
              <a:spcBef>
                <a:spcPts val="0"/>
              </a:spcBef>
              <a:buNone/>
              <a:defRPr sz="3800">
                <a:solidFill>
                  <a:srgbClr val="FFFFF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0" name="Picture 9">
            <a:extLst>
              <a:ext uri="{FF2B5EF4-FFF2-40B4-BE49-F238E27FC236}">
                <a16:creationId xmlns:a16="http://schemas.microsoft.com/office/drawing/2014/main" id="{CEA79536-344B-4703-95C3-7F5AD0BFB38D}"/>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04823" y="654528"/>
            <a:ext cx="3540072" cy="774496"/>
          </a:xfrm>
          <a:prstGeom prst="rect">
            <a:avLst/>
          </a:prstGeom>
        </p:spPr>
      </p:pic>
      <p:sp>
        <p:nvSpPr>
          <p:cNvPr id="12" name="Text Placeholder 11">
            <a:extLst>
              <a:ext uri="{FF2B5EF4-FFF2-40B4-BE49-F238E27FC236}">
                <a16:creationId xmlns:a16="http://schemas.microsoft.com/office/drawing/2014/main" id="{45D87C84-1993-43C1-A570-C771C220FB5D}"/>
              </a:ext>
            </a:extLst>
          </p:cNvPr>
          <p:cNvSpPr>
            <a:spLocks noGrp="1"/>
          </p:cNvSpPr>
          <p:nvPr>
            <p:ph type="body" sz="quarter" idx="10"/>
          </p:nvPr>
        </p:nvSpPr>
        <p:spPr>
          <a:xfrm>
            <a:off x="3714750" y="6162674"/>
            <a:ext cx="4772025" cy="314325"/>
          </a:xfrm>
        </p:spPr>
        <p:txBody>
          <a:bodyPr>
            <a:normAutofit/>
          </a:bodyPr>
          <a:lstStyle>
            <a:lvl1pPr marL="0" indent="0" algn="ctr">
              <a:buNone/>
              <a:defRPr sz="1350" cap="all" baseline="0">
                <a:solidFill>
                  <a:srgbClr val="FFFFFF"/>
                </a:solidFill>
              </a:defRPr>
            </a:lvl1pPr>
            <a:lvl2pPr algn="ctr">
              <a:defRPr/>
            </a:lvl2pPr>
            <a:lvl3pPr algn="ctr">
              <a:defRPr/>
            </a:lvl3pPr>
            <a:lvl4pPr algn="ctr">
              <a:defRPr/>
            </a:lvl4pPr>
            <a:lvl5pPr algn="ctr">
              <a:defRPr/>
            </a:lvl5pPr>
          </a:lstStyle>
          <a:p>
            <a:pPr lvl="0"/>
            <a:r>
              <a:rPr lang="en-US"/>
              <a:t>Edit Master text styles</a:t>
            </a:r>
          </a:p>
        </p:txBody>
      </p:sp>
      <p:cxnSp>
        <p:nvCxnSpPr>
          <p:cNvPr id="14" name="Straight Connector 13">
            <a:extLst>
              <a:ext uri="{FF2B5EF4-FFF2-40B4-BE49-F238E27FC236}">
                <a16:creationId xmlns:a16="http://schemas.microsoft.com/office/drawing/2014/main" id="{BB5B0621-5201-4B3C-B3F3-03D9DDA06A71}"/>
              </a:ext>
            </a:extLst>
          </p:cNvPr>
          <p:cNvCxnSpPr/>
          <p:nvPr userDrawn="1"/>
        </p:nvCxnSpPr>
        <p:spPr>
          <a:xfrm>
            <a:off x="1769036" y="2752725"/>
            <a:ext cx="180975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0663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Nega">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ED11D-86B6-41D9-804F-B21E465E6E73}"/>
              </a:ext>
            </a:extLst>
          </p:cNvPr>
          <p:cNvSpPr>
            <a:spLocks noGrp="1"/>
          </p:cNvSpPr>
          <p:nvPr>
            <p:ph type="ctrTitle"/>
          </p:nvPr>
        </p:nvSpPr>
        <p:spPr>
          <a:xfrm>
            <a:off x="1524000" y="2676525"/>
            <a:ext cx="9144000" cy="1714500"/>
          </a:xfrm>
        </p:spPr>
        <p:txBody>
          <a:bodyPr anchor="b"/>
          <a:lstStyle>
            <a:lvl1pPr algn="ctr">
              <a:defRPr sz="6000" spc="0" baseline="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FB4DCADE-2A34-4B9D-9987-0330895D737E}"/>
              </a:ext>
            </a:extLst>
          </p:cNvPr>
          <p:cNvSpPr>
            <a:spLocks noGrp="1"/>
          </p:cNvSpPr>
          <p:nvPr>
            <p:ph type="subTitle" idx="1"/>
          </p:nvPr>
        </p:nvSpPr>
        <p:spPr>
          <a:xfrm>
            <a:off x="1524000" y="4429125"/>
            <a:ext cx="9144000" cy="1247775"/>
          </a:xfrm>
        </p:spPr>
        <p:txBody>
          <a:bodyPr>
            <a:normAutofit/>
          </a:bodyPr>
          <a:lstStyle>
            <a:lvl1pPr marL="0" indent="0" algn="ctr">
              <a:lnSpc>
                <a:spcPct val="80000"/>
              </a:lnSpc>
              <a:spcBef>
                <a:spcPts val="0"/>
              </a:spcBef>
              <a:buNone/>
              <a:defRPr sz="38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11">
            <a:extLst>
              <a:ext uri="{FF2B5EF4-FFF2-40B4-BE49-F238E27FC236}">
                <a16:creationId xmlns:a16="http://schemas.microsoft.com/office/drawing/2014/main" id="{45D87C84-1993-43C1-A570-C771C220FB5D}"/>
              </a:ext>
            </a:extLst>
          </p:cNvPr>
          <p:cNvSpPr>
            <a:spLocks noGrp="1"/>
          </p:cNvSpPr>
          <p:nvPr>
            <p:ph type="body" sz="quarter" idx="10"/>
          </p:nvPr>
        </p:nvSpPr>
        <p:spPr>
          <a:xfrm>
            <a:off x="3714750" y="6162674"/>
            <a:ext cx="4772025" cy="314325"/>
          </a:xfrm>
        </p:spPr>
        <p:txBody>
          <a:bodyPr>
            <a:normAutofit/>
          </a:bodyPr>
          <a:lstStyle>
            <a:lvl1pPr marL="0" indent="0" algn="ctr">
              <a:buNone/>
              <a:defRPr sz="1350" cap="all" baseline="0">
                <a:solidFill>
                  <a:schemeClr val="bg2"/>
                </a:solidFill>
              </a:defRPr>
            </a:lvl1pPr>
            <a:lvl2pPr algn="ctr">
              <a:defRPr/>
            </a:lvl2pPr>
            <a:lvl3pPr algn="ctr">
              <a:defRPr/>
            </a:lvl3pPr>
            <a:lvl4pPr algn="ctr">
              <a:defRPr/>
            </a:lvl4pPr>
            <a:lvl5pPr algn="ctr">
              <a:defRPr/>
            </a:lvl5pPr>
          </a:lstStyle>
          <a:p>
            <a:pPr lvl="0"/>
            <a:r>
              <a:rPr lang="en-US"/>
              <a:t>Edit Master text styles</a:t>
            </a:r>
          </a:p>
        </p:txBody>
      </p:sp>
      <p:cxnSp>
        <p:nvCxnSpPr>
          <p:cNvPr id="14" name="Straight Connector 13">
            <a:extLst>
              <a:ext uri="{FF2B5EF4-FFF2-40B4-BE49-F238E27FC236}">
                <a16:creationId xmlns:a16="http://schemas.microsoft.com/office/drawing/2014/main" id="{BB5B0621-5201-4B3C-B3F3-03D9DDA06A71}"/>
              </a:ext>
            </a:extLst>
          </p:cNvPr>
          <p:cNvCxnSpPr/>
          <p:nvPr userDrawn="1"/>
        </p:nvCxnSpPr>
        <p:spPr>
          <a:xfrm>
            <a:off x="5181600" y="2752725"/>
            <a:ext cx="180975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27211BEC-8A05-5048-8010-DA55CE467235}"/>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04824" y="654528"/>
            <a:ext cx="3540072" cy="774496"/>
          </a:xfrm>
          <a:prstGeom prst="rect">
            <a:avLst/>
          </a:prstGeom>
        </p:spPr>
      </p:pic>
    </p:spTree>
    <p:extLst>
      <p:ext uri="{BB962C8B-B14F-4D97-AF65-F5344CB8AC3E}">
        <p14:creationId xmlns:p14="http://schemas.microsoft.com/office/powerpoint/2010/main" val="36847877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hoto">
    <p:bg>
      <p:bgPr>
        <a:solidFill>
          <a:srgbClr val="0047BA"/>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EB21E90-80D8-4070-8157-51F5D9E9BA7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96ED11D-86B6-41D9-804F-B21E465E6E73}"/>
              </a:ext>
            </a:extLst>
          </p:cNvPr>
          <p:cNvSpPr>
            <a:spLocks noGrp="1"/>
          </p:cNvSpPr>
          <p:nvPr>
            <p:ph type="ctrTitle"/>
          </p:nvPr>
        </p:nvSpPr>
        <p:spPr>
          <a:xfrm>
            <a:off x="1524000" y="2676525"/>
            <a:ext cx="9144000" cy="1714500"/>
          </a:xfrm>
        </p:spPr>
        <p:txBody>
          <a:bodyPr anchor="b"/>
          <a:lstStyle>
            <a:lvl1pPr algn="ctr">
              <a:defRPr sz="6000" spc="0" baseline="0">
                <a:solidFill>
                  <a:srgbClr val="FFFFFF"/>
                </a:solidFill>
              </a:defRPr>
            </a:lvl1pPr>
          </a:lstStyle>
          <a:p>
            <a:r>
              <a:rPr lang="en-US"/>
              <a:t>Click to edit Master title style</a:t>
            </a:r>
          </a:p>
        </p:txBody>
      </p:sp>
      <p:sp>
        <p:nvSpPr>
          <p:cNvPr id="3" name="Subtitle 2">
            <a:extLst>
              <a:ext uri="{FF2B5EF4-FFF2-40B4-BE49-F238E27FC236}">
                <a16:creationId xmlns:a16="http://schemas.microsoft.com/office/drawing/2014/main" id="{FB4DCADE-2A34-4B9D-9987-0330895D737E}"/>
              </a:ext>
            </a:extLst>
          </p:cNvPr>
          <p:cNvSpPr>
            <a:spLocks noGrp="1"/>
          </p:cNvSpPr>
          <p:nvPr>
            <p:ph type="subTitle" idx="1"/>
          </p:nvPr>
        </p:nvSpPr>
        <p:spPr>
          <a:xfrm>
            <a:off x="1524000" y="4429125"/>
            <a:ext cx="9144000" cy="1247775"/>
          </a:xfrm>
        </p:spPr>
        <p:txBody>
          <a:bodyPr>
            <a:normAutofit/>
          </a:bodyPr>
          <a:lstStyle>
            <a:lvl1pPr marL="0" indent="0" algn="ctr">
              <a:lnSpc>
                <a:spcPct val="80000"/>
              </a:lnSpc>
              <a:spcBef>
                <a:spcPts val="0"/>
              </a:spcBef>
              <a:buNone/>
              <a:defRPr sz="3800">
                <a:solidFill>
                  <a:srgbClr val="FFFFF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11">
            <a:extLst>
              <a:ext uri="{FF2B5EF4-FFF2-40B4-BE49-F238E27FC236}">
                <a16:creationId xmlns:a16="http://schemas.microsoft.com/office/drawing/2014/main" id="{45D87C84-1993-43C1-A570-C771C220FB5D}"/>
              </a:ext>
            </a:extLst>
          </p:cNvPr>
          <p:cNvSpPr>
            <a:spLocks noGrp="1"/>
          </p:cNvSpPr>
          <p:nvPr>
            <p:ph type="body" sz="quarter" idx="10"/>
          </p:nvPr>
        </p:nvSpPr>
        <p:spPr>
          <a:xfrm>
            <a:off x="3714750" y="6162674"/>
            <a:ext cx="4772025" cy="314325"/>
          </a:xfrm>
        </p:spPr>
        <p:txBody>
          <a:bodyPr>
            <a:normAutofit/>
          </a:bodyPr>
          <a:lstStyle>
            <a:lvl1pPr marL="0" indent="0" algn="ctr">
              <a:buNone/>
              <a:defRPr sz="1350" cap="all" baseline="0">
                <a:solidFill>
                  <a:srgbClr val="FFFFFF"/>
                </a:solidFill>
              </a:defRPr>
            </a:lvl1pPr>
            <a:lvl2pPr algn="ctr">
              <a:defRPr/>
            </a:lvl2pPr>
            <a:lvl3pPr algn="ctr">
              <a:defRPr/>
            </a:lvl3pPr>
            <a:lvl4pPr algn="ctr">
              <a:defRPr/>
            </a:lvl4pPr>
            <a:lvl5pPr algn="ctr">
              <a:defRPr/>
            </a:lvl5pPr>
          </a:lstStyle>
          <a:p>
            <a:pPr lvl="0"/>
            <a:r>
              <a:rPr lang="en-US"/>
              <a:t>Edit Master text styles</a:t>
            </a:r>
          </a:p>
        </p:txBody>
      </p:sp>
      <p:pic>
        <p:nvPicPr>
          <p:cNvPr id="8" name="Picture 7">
            <a:extLst>
              <a:ext uri="{FF2B5EF4-FFF2-40B4-BE49-F238E27FC236}">
                <a16:creationId xmlns:a16="http://schemas.microsoft.com/office/drawing/2014/main" id="{E14C8DC6-096E-714D-AF28-586972589725}"/>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804823" y="654528"/>
            <a:ext cx="3540072" cy="774496"/>
          </a:xfrm>
          <a:prstGeom prst="rect">
            <a:avLst/>
          </a:prstGeom>
        </p:spPr>
      </p:pic>
      <p:cxnSp>
        <p:nvCxnSpPr>
          <p:cNvPr id="9" name="Straight Connector 8">
            <a:extLst>
              <a:ext uri="{FF2B5EF4-FFF2-40B4-BE49-F238E27FC236}">
                <a16:creationId xmlns:a16="http://schemas.microsoft.com/office/drawing/2014/main" id="{41EF1488-91C4-7449-841C-78AF4CE5EB83}"/>
              </a:ext>
            </a:extLst>
          </p:cNvPr>
          <p:cNvCxnSpPr/>
          <p:nvPr userDrawn="1"/>
        </p:nvCxnSpPr>
        <p:spPr>
          <a:xfrm>
            <a:off x="1769036" y="2752725"/>
            <a:ext cx="180975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58409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123478" y="836468"/>
            <a:ext cx="9991725" cy="1114425"/>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2CB3A0E-D963-4BA4-863C-413B32E51AE7}"/>
              </a:ext>
            </a:extLst>
          </p:cNvPr>
          <p:cNvSpPr>
            <a:spLocks noGrp="1"/>
          </p:cNvSpPr>
          <p:nvPr>
            <p:ph idx="1"/>
          </p:nvPr>
        </p:nvSpPr>
        <p:spPr>
          <a:xfrm>
            <a:off x="123478" y="2160443"/>
            <a:ext cx="9991725" cy="44481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a:xfrm>
            <a:off x="8086725" y="76201"/>
            <a:ext cx="1733550" cy="244475"/>
          </a:xfrm>
        </p:spPr>
        <p:txBody>
          <a:bodyPr/>
          <a:lstStyle/>
          <a:p>
            <a:fld id="{F50DD33E-EA77-4969-99D9-A522168339B7}" type="datetime2">
              <a:rPr lang="en-US" smtClean="0"/>
              <a:t>Tuesday, October 13, 2026</a:t>
            </a:fld>
            <a:endParaRPr lang="en-US" dirty="0"/>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a:xfrm>
            <a:off x="2867025" y="76201"/>
            <a:ext cx="4114800" cy="244475"/>
          </a:xfrm>
        </p:spPr>
        <p:txBody>
          <a:bodyPr/>
          <a:lstStyle/>
          <a:p>
            <a:r>
              <a:rPr lang="en-US" dirty="0"/>
              <a:t>Deep Learning Driven Automated Plant Disease Detection and Classification</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a:xfrm>
            <a:off x="11563350" y="0"/>
            <a:ext cx="523874" cy="396878"/>
          </a:xfrm>
        </p:spPr>
        <p:txBody>
          <a:bodyPr/>
          <a:lstStyle>
            <a:lvl1pPr>
              <a:defRPr sz="1400"/>
            </a:lvl1pPr>
          </a:lstStyle>
          <a:p>
            <a:fld id="{1E68DD1B-5CD8-424B-8173-19E182143E0A}" type="slidenum">
              <a:rPr lang="en-US" smtClean="0"/>
              <a:pPr/>
              <a:t>‹#›</a:t>
            </a:fld>
            <a:endParaRPr lang="en-US" dirty="0"/>
          </a:p>
        </p:txBody>
      </p:sp>
      <p:pic>
        <p:nvPicPr>
          <p:cNvPr id="7" name="Picture 6">
            <a:extLst>
              <a:ext uri="{FF2B5EF4-FFF2-40B4-BE49-F238E27FC236}">
                <a16:creationId xmlns:a16="http://schemas.microsoft.com/office/drawing/2014/main" id="{85F31A79-8F5C-4459-9F47-4F4A56020D63}"/>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83665" y="109125"/>
            <a:ext cx="1811848" cy="185303"/>
          </a:xfrm>
          <a:prstGeom prst="rect">
            <a:avLst/>
          </a:prstGeom>
        </p:spPr>
      </p:pic>
      <p:sp>
        <p:nvSpPr>
          <p:cNvPr id="24" name="Rectangle 23"/>
          <p:cNvSpPr/>
          <p:nvPr userDrawn="1"/>
        </p:nvSpPr>
        <p:spPr>
          <a:xfrm>
            <a:off x="-2" y="393873"/>
            <a:ext cx="2468880" cy="182880"/>
          </a:xfrm>
          <a:prstGeom prst="rect">
            <a:avLst/>
          </a:prstGeom>
          <a:solidFill>
            <a:srgbClr val="0047BA"/>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Introduction</a:t>
            </a:r>
          </a:p>
        </p:txBody>
      </p:sp>
      <p:sp>
        <p:nvSpPr>
          <p:cNvPr id="25" name="Rectangle 24"/>
          <p:cNvSpPr/>
          <p:nvPr userDrawn="1"/>
        </p:nvSpPr>
        <p:spPr>
          <a:xfrm>
            <a:off x="2430779" y="393873"/>
            <a:ext cx="2468880" cy="182880"/>
          </a:xfrm>
          <a:prstGeom prst="rect">
            <a:avLst/>
          </a:prstGeom>
          <a:solidFill>
            <a:srgbClr val="BCBBB8"/>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Contribution (I)</a:t>
            </a:r>
          </a:p>
        </p:txBody>
      </p:sp>
      <p:sp>
        <p:nvSpPr>
          <p:cNvPr id="26" name="Rectangle 25"/>
          <p:cNvSpPr/>
          <p:nvPr userDrawn="1"/>
        </p:nvSpPr>
        <p:spPr>
          <a:xfrm>
            <a:off x="4861560" y="393873"/>
            <a:ext cx="2468880" cy="182880"/>
          </a:xfrm>
          <a:prstGeom prst="rect">
            <a:avLst/>
          </a:prstGeom>
          <a:solidFill>
            <a:schemeClr val="accent6">
              <a:lumMod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Contribution (II)</a:t>
            </a:r>
          </a:p>
        </p:txBody>
      </p:sp>
      <p:sp>
        <p:nvSpPr>
          <p:cNvPr id="27" name="Rectangle 26"/>
          <p:cNvSpPr/>
          <p:nvPr userDrawn="1"/>
        </p:nvSpPr>
        <p:spPr>
          <a:xfrm>
            <a:off x="7292341" y="393873"/>
            <a:ext cx="2468880" cy="182880"/>
          </a:xfrm>
          <a:prstGeom prst="rect">
            <a:avLst/>
          </a:prstGeom>
          <a:solidFill>
            <a:schemeClr val="accent6">
              <a:lumMod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Contribution (III)</a:t>
            </a:r>
          </a:p>
        </p:txBody>
      </p:sp>
      <p:sp>
        <p:nvSpPr>
          <p:cNvPr id="28" name="Rectangle 27"/>
          <p:cNvSpPr/>
          <p:nvPr userDrawn="1"/>
        </p:nvSpPr>
        <p:spPr>
          <a:xfrm>
            <a:off x="9723120" y="393873"/>
            <a:ext cx="2468880" cy="182880"/>
          </a:xfrm>
          <a:prstGeom prst="rect">
            <a:avLst/>
          </a:prstGeom>
          <a:solidFill>
            <a:schemeClr val="accent6">
              <a:lumMod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Conclusion</a:t>
            </a:r>
          </a:p>
        </p:txBody>
      </p:sp>
      <p:cxnSp>
        <p:nvCxnSpPr>
          <p:cNvPr id="29" name="Straight Connector 28"/>
          <p:cNvCxnSpPr/>
          <p:nvPr userDrawn="1"/>
        </p:nvCxnSpPr>
        <p:spPr>
          <a:xfrm>
            <a:off x="0" y="598671"/>
            <a:ext cx="12192000" cy="0"/>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2791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123478" y="836468"/>
            <a:ext cx="9991725" cy="1114425"/>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2CB3A0E-D963-4BA4-863C-413B32E51AE7}"/>
              </a:ext>
            </a:extLst>
          </p:cNvPr>
          <p:cNvSpPr>
            <a:spLocks noGrp="1"/>
          </p:cNvSpPr>
          <p:nvPr>
            <p:ph idx="1"/>
          </p:nvPr>
        </p:nvSpPr>
        <p:spPr>
          <a:xfrm>
            <a:off x="123478" y="2160443"/>
            <a:ext cx="9991725" cy="44481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a:xfrm>
            <a:off x="8086725" y="76201"/>
            <a:ext cx="1733550" cy="244475"/>
          </a:xfrm>
        </p:spPr>
        <p:txBody>
          <a:bodyPr/>
          <a:lstStyle/>
          <a:p>
            <a:fld id="{F50DD33E-EA77-4969-99D9-A522168339B7}" type="datetime2">
              <a:rPr lang="en-US" smtClean="0"/>
              <a:t>Tuesday, October 13, 2026</a:t>
            </a:fld>
            <a:endParaRPr lang="en-US" dirty="0"/>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a:xfrm>
            <a:off x="2867025" y="76201"/>
            <a:ext cx="4114800" cy="244475"/>
          </a:xfrm>
        </p:spPr>
        <p:txBody>
          <a:bodyPr/>
          <a:lstStyle/>
          <a:p>
            <a:r>
              <a:rPr lang="en-US" dirty="0"/>
              <a:t>Deep Learning Driven Automated Plant Disease Detection and Classification</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a:xfrm>
            <a:off x="11563350" y="0"/>
            <a:ext cx="523874" cy="396878"/>
          </a:xfrm>
        </p:spPr>
        <p:txBody>
          <a:bodyPr/>
          <a:lstStyle>
            <a:lvl1pPr>
              <a:defRPr sz="1400"/>
            </a:lvl1pPr>
          </a:lstStyle>
          <a:p>
            <a:fld id="{1E68DD1B-5CD8-424B-8173-19E182143E0A}" type="slidenum">
              <a:rPr lang="en-US" smtClean="0"/>
              <a:pPr/>
              <a:t>‹#›</a:t>
            </a:fld>
            <a:endParaRPr lang="en-US" dirty="0"/>
          </a:p>
        </p:txBody>
      </p:sp>
      <p:pic>
        <p:nvPicPr>
          <p:cNvPr id="7" name="Picture 6">
            <a:extLst>
              <a:ext uri="{FF2B5EF4-FFF2-40B4-BE49-F238E27FC236}">
                <a16:creationId xmlns:a16="http://schemas.microsoft.com/office/drawing/2014/main" id="{85F31A79-8F5C-4459-9F47-4F4A56020D63}"/>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83665" y="109125"/>
            <a:ext cx="1811848" cy="185303"/>
          </a:xfrm>
          <a:prstGeom prst="rect">
            <a:avLst/>
          </a:prstGeom>
        </p:spPr>
      </p:pic>
      <p:sp>
        <p:nvSpPr>
          <p:cNvPr id="9" name="Rectangle 8"/>
          <p:cNvSpPr/>
          <p:nvPr userDrawn="1"/>
        </p:nvSpPr>
        <p:spPr>
          <a:xfrm>
            <a:off x="-2" y="393873"/>
            <a:ext cx="2468880" cy="182880"/>
          </a:xfrm>
          <a:prstGeom prst="rect">
            <a:avLst/>
          </a:prstGeom>
          <a:solidFill>
            <a:schemeClr val="accent6">
              <a:lumMod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Introduction</a:t>
            </a:r>
          </a:p>
        </p:txBody>
      </p:sp>
      <p:sp>
        <p:nvSpPr>
          <p:cNvPr id="12" name="Rectangle 11"/>
          <p:cNvSpPr/>
          <p:nvPr userDrawn="1"/>
        </p:nvSpPr>
        <p:spPr>
          <a:xfrm>
            <a:off x="2430779" y="393873"/>
            <a:ext cx="2468880" cy="182880"/>
          </a:xfrm>
          <a:prstGeom prst="rect">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Contribution (I)</a:t>
            </a:r>
          </a:p>
        </p:txBody>
      </p:sp>
      <p:sp>
        <p:nvSpPr>
          <p:cNvPr id="13" name="Rectangle 12"/>
          <p:cNvSpPr/>
          <p:nvPr userDrawn="1"/>
        </p:nvSpPr>
        <p:spPr>
          <a:xfrm>
            <a:off x="4861560" y="393873"/>
            <a:ext cx="2468880" cy="182880"/>
          </a:xfrm>
          <a:prstGeom prst="rect">
            <a:avLst/>
          </a:prstGeom>
          <a:solidFill>
            <a:schemeClr val="accent6">
              <a:lumMod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Contribution (II)</a:t>
            </a:r>
          </a:p>
        </p:txBody>
      </p:sp>
      <p:sp>
        <p:nvSpPr>
          <p:cNvPr id="14" name="Rectangle 13"/>
          <p:cNvSpPr/>
          <p:nvPr userDrawn="1"/>
        </p:nvSpPr>
        <p:spPr>
          <a:xfrm>
            <a:off x="7292341" y="393873"/>
            <a:ext cx="2468880" cy="182880"/>
          </a:xfrm>
          <a:prstGeom prst="rect">
            <a:avLst/>
          </a:prstGeom>
          <a:solidFill>
            <a:schemeClr val="accent6">
              <a:lumMod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Contribution (III)</a:t>
            </a:r>
          </a:p>
        </p:txBody>
      </p:sp>
      <p:sp>
        <p:nvSpPr>
          <p:cNvPr id="15" name="Rectangle 14"/>
          <p:cNvSpPr/>
          <p:nvPr userDrawn="1"/>
        </p:nvSpPr>
        <p:spPr>
          <a:xfrm>
            <a:off x="9723120" y="393873"/>
            <a:ext cx="2468880" cy="182880"/>
          </a:xfrm>
          <a:prstGeom prst="rect">
            <a:avLst/>
          </a:prstGeom>
          <a:solidFill>
            <a:schemeClr val="accent6">
              <a:lumMod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Conclusion</a:t>
            </a:r>
          </a:p>
        </p:txBody>
      </p:sp>
      <p:cxnSp>
        <p:nvCxnSpPr>
          <p:cNvPr id="19" name="Straight Connector 18"/>
          <p:cNvCxnSpPr/>
          <p:nvPr userDrawn="1"/>
        </p:nvCxnSpPr>
        <p:spPr>
          <a:xfrm>
            <a:off x="0" y="598671"/>
            <a:ext cx="12192000" cy="0"/>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83275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123478" y="836468"/>
            <a:ext cx="9991725" cy="1114425"/>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2CB3A0E-D963-4BA4-863C-413B32E51AE7}"/>
              </a:ext>
            </a:extLst>
          </p:cNvPr>
          <p:cNvSpPr>
            <a:spLocks noGrp="1"/>
          </p:cNvSpPr>
          <p:nvPr>
            <p:ph idx="1"/>
          </p:nvPr>
        </p:nvSpPr>
        <p:spPr>
          <a:xfrm>
            <a:off x="123478" y="2160443"/>
            <a:ext cx="9991725" cy="44481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a:xfrm>
            <a:off x="8086725" y="76201"/>
            <a:ext cx="1733550" cy="244475"/>
          </a:xfrm>
        </p:spPr>
        <p:txBody>
          <a:bodyPr/>
          <a:lstStyle/>
          <a:p>
            <a:fld id="{F50DD33E-EA77-4969-99D9-A522168339B7}" type="datetime2">
              <a:rPr lang="en-US" smtClean="0"/>
              <a:t>Tuesday, October 13, 2026</a:t>
            </a:fld>
            <a:endParaRPr lang="en-US" dirty="0"/>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a:xfrm>
            <a:off x="2867025" y="76201"/>
            <a:ext cx="4114800" cy="244475"/>
          </a:xfrm>
        </p:spPr>
        <p:txBody>
          <a:bodyPr/>
          <a:lstStyle/>
          <a:p>
            <a:r>
              <a:rPr lang="en-US" dirty="0"/>
              <a:t>Deep Learning Driven Automated Plant Disease Detection and Classification</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a:xfrm>
            <a:off x="11563350" y="0"/>
            <a:ext cx="523874" cy="396878"/>
          </a:xfrm>
        </p:spPr>
        <p:txBody>
          <a:bodyPr/>
          <a:lstStyle>
            <a:lvl1pPr>
              <a:defRPr sz="1400"/>
            </a:lvl1pPr>
          </a:lstStyle>
          <a:p>
            <a:fld id="{1E68DD1B-5CD8-424B-8173-19E182143E0A}" type="slidenum">
              <a:rPr lang="en-US" smtClean="0"/>
              <a:pPr/>
              <a:t>‹#›</a:t>
            </a:fld>
            <a:endParaRPr lang="en-US" dirty="0"/>
          </a:p>
        </p:txBody>
      </p:sp>
      <p:pic>
        <p:nvPicPr>
          <p:cNvPr id="7" name="Picture 6">
            <a:extLst>
              <a:ext uri="{FF2B5EF4-FFF2-40B4-BE49-F238E27FC236}">
                <a16:creationId xmlns:a16="http://schemas.microsoft.com/office/drawing/2014/main" id="{85F31A79-8F5C-4459-9F47-4F4A56020D63}"/>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83665" y="109125"/>
            <a:ext cx="1811848" cy="185303"/>
          </a:xfrm>
          <a:prstGeom prst="rect">
            <a:avLst/>
          </a:prstGeom>
        </p:spPr>
      </p:pic>
      <p:sp>
        <p:nvSpPr>
          <p:cNvPr id="17" name="Rectangle 16"/>
          <p:cNvSpPr/>
          <p:nvPr userDrawn="1"/>
        </p:nvSpPr>
        <p:spPr>
          <a:xfrm>
            <a:off x="-2" y="393873"/>
            <a:ext cx="2468880" cy="182880"/>
          </a:xfrm>
          <a:prstGeom prst="rect">
            <a:avLst/>
          </a:prstGeom>
          <a:solidFill>
            <a:schemeClr val="accent6">
              <a:lumMod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Introduction</a:t>
            </a:r>
          </a:p>
        </p:txBody>
      </p:sp>
      <p:sp>
        <p:nvSpPr>
          <p:cNvPr id="18" name="Rectangle 17"/>
          <p:cNvSpPr/>
          <p:nvPr userDrawn="1"/>
        </p:nvSpPr>
        <p:spPr>
          <a:xfrm>
            <a:off x="2430779" y="393873"/>
            <a:ext cx="2468880" cy="182880"/>
          </a:xfrm>
          <a:prstGeom prst="rect">
            <a:avLst/>
          </a:prstGeom>
          <a:solidFill>
            <a:srgbClr val="BCBBB8"/>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Contribution (I)</a:t>
            </a:r>
          </a:p>
        </p:txBody>
      </p:sp>
      <p:sp>
        <p:nvSpPr>
          <p:cNvPr id="20" name="Rectangle 19"/>
          <p:cNvSpPr/>
          <p:nvPr userDrawn="1"/>
        </p:nvSpPr>
        <p:spPr>
          <a:xfrm>
            <a:off x="4861560" y="393873"/>
            <a:ext cx="2468880" cy="182880"/>
          </a:xfrm>
          <a:prstGeom prst="rect">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Contribution (II)</a:t>
            </a:r>
          </a:p>
        </p:txBody>
      </p:sp>
      <p:sp>
        <p:nvSpPr>
          <p:cNvPr id="21" name="Rectangle 20"/>
          <p:cNvSpPr/>
          <p:nvPr userDrawn="1"/>
        </p:nvSpPr>
        <p:spPr>
          <a:xfrm>
            <a:off x="7292341" y="393873"/>
            <a:ext cx="2468880" cy="182880"/>
          </a:xfrm>
          <a:prstGeom prst="rect">
            <a:avLst/>
          </a:prstGeom>
          <a:solidFill>
            <a:schemeClr val="accent6">
              <a:lumMod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Contribution (III)</a:t>
            </a:r>
          </a:p>
        </p:txBody>
      </p:sp>
      <p:sp>
        <p:nvSpPr>
          <p:cNvPr id="22" name="Rectangle 21"/>
          <p:cNvSpPr/>
          <p:nvPr userDrawn="1"/>
        </p:nvSpPr>
        <p:spPr>
          <a:xfrm>
            <a:off x="9723120" y="393873"/>
            <a:ext cx="2468880" cy="182880"/>
          </a:xfrm>
          <a:prstGeom prst="rect">
            <a:avLst/>
          </a:prstGeom>
          <a:solidFill>
            <a:schemeClr val="accent6">
              <a:lumMod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Conclusion</a:t>
            </a:r>
          </a:p>
        </p:txBody>
      </p:sp>
      <p:cxnSp>
        <p:nvCxnSpPr>
          <p:cNvPr id="23" name="Straight Connector 22"/>
          <p:cNvCxnSpPr/>
          <p:nvPr userDrawn="1"/>
        </p:nvCxnSpPr>
        <p:spPr>
          <a:xfrm>
            <a:off x="0" y="598671"/>
            <a:ext cx="12192000" cy="0"/>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72125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123478" y="836468"/>
            <a:ext cx="9991725" cy="1114425"/>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2CB3A0E-D963-4BA4-863C-413B32E51AE7}"/>
              </a:ext>
            </a:extLst>
          </p:cNvPr>
          <p:cNvSpPr>
            <a:spLocks noGrp="1"/>
          </p:cNvSpPr>
          <p:nvPr>
            <p:ph idx="1"/>
          </p:nvPr>
        </p:nvSpPr>
        <p:spPr>
          <a:xfrm>
            <a:off x="123478" y="2160443"/>
            <a:ext cx="9991725" cy="44481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a:xfrm>
            <a:off x="8086725" y="76201"/>
            <a:ext cx="1733550" cy="244475"/>
          </a:xfrm>
        </p:spPr>
        <p:txBody>
          <a:bodyPr/>
          <a:lstStyle/>
          <a:p>
            <a:fld id="{F50DD33E-EA77-4969-99D9-A522168339B7}" type="datetime2">
              <a:rPr lang="en-US" smtClean="0"/>
              <a:t>Tuesday, October 13, 2026</a:t>
            </a:fld>
            <a:endParaRPr lang="en-US" dirty="0"/>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a:xfrm>
            <a:off x="2867025" y="76201"/>
            <a:ext cx="4114800" cy="244475"/>
          </a:xfrm>
        </p:spPr>
        <p:txBody>
          <a:bodyPr/>
          <a:lstStyle/>
          <a:p>
            <a:r>
              <a:rPr lang="en-US" dirty="0"/>
              <a:t>Deep Learning Driven Automated Plant Disease Detection and Classification</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a:xfrm>
            <a:off x="11563350" y="0"/>
            <a:ext cx="523874" cy="396878"/>
          </a:xfrm>
        </p:spPr>
        <p:txBody>
          <a:bodyPr/>
          <a:lstStyle>
            <a:lvl1pPr>
              <a:defRPr sz="1400"/>
            </a:lvl1pPr>
          </a:lstStyle>
          <a:p>
            <a:fld id="{1E68DD1B-5CD8-424B-8173-19E182143E0A}" type="slidenum">
              <a:rPr lang="en-US" smtClean="0"/>
              <a:pPr/>
              <a:t>‹#›</a:t>
            </a:fld>
            <a:endParaRPr lang="en-US" dirty="0"/>
          </a:p>
        </p:txBody>
      </p:sp>
      <p:pic>
        <p:nvPicPr>
          <p:cNvPr id="7" name="Picture 6">
            <a:extLst>
              <a:ext uri="{FF2B5EF4-FFF2-40B4-BE49-F238E27FC236}">
                <a16:creationId xmlns:a16="http://schemas.microsoft.com/office/drawing/2014/main" id="{85F31A79-8F5C-4459-9F47-4F4A56020D63}"/>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83665" y="109125"/>
            <a:ext cx="1811848" cy="185303"/>
          </a:xfrm>
          <a:prstGeom prst="rect">
            <a:avLst/>
          </a:prstGeom>
        </p:spPr>
      </p:pic>
      <p:cxnSp>
        <p:nvCxnSpPr>
          <p:cNvPr id="16" name="Straight Connector 15"/>
          <p:cNvCxnSpPr/>
          <p:nvPr userDrawn="1"/>
        </p:nvCxnSpPr>
        <p:spPr>
          <a:xfrm>
            <a:off x="-2" y="378863"/>
            <a:ext cx="12192002" cy="0"/>
          </a:xfrm>
          <a:prstGeom prst="line">
            <a:avLst/>
          </a:prstGeom>
          <a:ln w="6350">
            <a:solidFill>
              <a:schemeClr val="bg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7" name="Rectangle 16"/>
          <p:cNvSpPr/>
          <p:nvPr userDrawn="1"/>
        </p:nvSpPr>
        <p:spPr>
          <a:xfrm>
            <a:off x="-2" y="393873"/>
            <a:ext cx="2468880" cy="182880"/>
          </a:xfrm>
          <a:prstGeom prst="rect">
            <a:avLst/>
          </a:prstGeom>
          <a:solidFill>
            <a:schemeClr val="accent6">
              <a:lumMod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Introduction</a:t>
            </a:r>
          </a:p>
        </p:txBody>
      </p:sp>
      <p:sp>
        <p:nvSpPr>
          <p:cNvPr id="18" name="Rectangle 17"/>
          <p:cNvSpPr/>
          <p:nvPr userDrawn="1"/>
        </p:nvSpPr>
        <p:spPr>
          <a:xfrm>
            <a:off x="2430779" y="393873"/>
            <a:ext cx="2468880" cy="182880"/>
          </a:xfrm>
          <a:prstGeom prst="rect">
            <a:avLst/>
          </a:prstGeom>
          <a:solidFill>
            <a:srgbClr val="BCBBB8"/>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Contribution (I)</a:t>
            </a:r>
          </a:p>
        </p:txBody>
      </p:sp>
      <p:sp>
        <p:nvSpPr>
          <p:cNvPr id="20" name="Rectangle 19"/>
          <p:cNvSpPr/>
          <p:nvPr userDrawn="1"/>
        </p:nvSpPr>
        <p:spPr>
          <a:xfrm>
            <a:off x="4861560" y="393873"/>
            <a:ext cx="2468880" cy="182880"/>
          </a:xfrm>
          <a:prstGeom prst="rect">
            <a:avLst/>
          </a:prstGeom>
          <a:solidFill>
            <a:srgbClr val="BCBBB8"/>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Contribution (II)</a:t>
            </a:r>
          </a:p>
        </p:txBody>
      </p:sp>
      <p:sp>
        <p:nvSpPr>
          <p:cNvPr id="21" name="Rectangle 20"/>
          <p:cNvSpPr/>
          <p:nvPr userDrawn="1"/>
        </p:nvSpPr>
        <p:spPr>
          <a:xfrm>
            <a:off x="7292341" y="393873"/>
            <a:ext cx="2468880" cy="182880"/>
          </a:xfrm>
          <a:prstGeom prst="rect">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Contribution (III)</a:t>
            </a:r>
          </a:p>
        </p:txBody>
      </p:sp>
      <p:sp>
        <p:nvSpPr>
          <p:cNvPr id="22" name="Rectangle 21"/>
          <p:cNvSpPr/>
          <p:nvPr userDrawn="1"/>
        </p:nvSpPr>
        <p:spPr>
          <a:xfrm>
            <a:off x="9723120" y="393873"/>
            <a:ext cx="2468880" cy="182880"/>
          </a:xfrm>
          <a:prstGeom prst="rect">
            <a:avLst/>
          </a:prstGeom>
          <a:solidFill>
            <a:schemeClr val="accent6">
              <a:lumMod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Conclusion</a:t>
            </a:r>
          </a:p>
        </p:txBody>
      </p:sp>
      <p:cxnSp>
        <p:nvCxnSpPr>
          <p:cNvPr id="23" name="Straight Connector 22"/>
          <p:cNvCxnSpPr/>
          <p:nvPr userDrawn="1"/>
        </p:nvCxnSpPr>
        <p:spPr>
          <a:xfrm>
            <a:off x="0" y="598671"/>
            <a:ext cx="12192000" cy="0"/>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3109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123478" y="836468"/>
            <a:ext cx="9991725" cy="1114425"/>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2CB3A0E-D963-4BA4-863C-413B32E51AE7}"/>
              </a:ext>
            </a:extLst>
          </p:cNvPr>
          <p:cNvSpPr>
            <a:spLocks noGrp="1"/>
          </p:cNvSpPr>
          <p:nvPr>
            <p:ph idx="1"/>
          </p:nvPr>
        </p:nvSpPr>
        <p:spPr>
          <a:xfrm>
            <a:off x="123478" y="2160443"/>
            <a:ext cx="9991725" cy="44481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a:xfrm>
            <a:off x="8086725" y="76201"/>
            <a:ext cx="1733550" cy="244475"/>
          </a:xfrm>
        </p:spPr>
        <p:txBody>
          <a:bodyPr/>
          <a:lstStyle/>
          <a:p>
            <a:fld id="{F50DD33E-EA77-4969-99D9-A522168339B7}" type="datetime2">
              <a:rPr lang="en-US" smtClean="0"/>
              <a:t>Tuesday, October 13, 2026</a:t>
            </a:fld>
            <a:endParaRPr lang="en-US" dirty="0"/>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a:xfrm>
            <a:off x="2867025" y="76201"/>
            <a:ext cx="4114800" cy="244475"/>
          </a:xfrm>
        </p:spPr>
        <p:txBody>
          <a:bodyPr/>
          <a:lstStyle/>
          <a:p>
            <a:r>
              <a:rPr lang="en-US" dirty="0"/>
              <a:t>Deep Learning Driven Automated Plant Disease Detection and Classification</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a:xfrm>
            <a:off x="11563350" y="0"/>
            <a:ext cx="523874" cy="396878"/>
          </a:xfrm>
        </p:spPr>
        <p:txBody>
          <a:bodyPr/>
          <a:lstStyle>
            <a:lvl1pPr>
              <a:defRPr sz="1400"/>
            </a:lvl1pPr>
          </a:lstStyle>
          <a:p>
            <a:fld id="{1E68DD1B-5CD8-424B-8173-19E182143E0A}" type="slidenum">
              <a:rPr lang="en-US" smtClean="0"/>
              <a:pPr/>
              <a:t>‹#›</a:t>
            </a:fld>
            <a:endParaRPr lang="en-US" dirty="0"/>
          </a:p>
        </p:txBody>
      </p:sp>
      <p:pic>
        <p:nvPicPr>
          <p:cNvPr id="7" name="Picture 6">
            <a:extLst>
              <a:ext uri="{FF2B5EF4-FFF2-40B4-BE49-F238E27FC236}">
                <a16:creationId xmlns:a16="http://schemas.microsoft.com/office/drawing/2014/main" id="{85F31A79-8F5C-4459-9F47-4F4A56020D63}"/>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83665" y="109125"/>
            <a:ext cx="1811848" cy="185303"/>
          </a:xfrm>
          <a:prstGeom prst="rect">
            <a:avLst/>
          </a:prstGeom>
        </p:spPr>
      </p:pic>
      <p:sp>
        <p:nvSpPr>
          <p:cNvPr id="24" name="Rectangle 23"/>
          <p:cNvSpPr/>
          <p:nvPr userDrawn="1"/>
        </p:nvSpPr>
        <p:spPr>
          <a:xfrm>
            <a:off x="-2" y="393873"/>
            <a:ext cx="2468880" cy="182880"/>
          </a:xfrm>
          <a:prstGeom prst="rect">
            <a:avLst/>
          </a:prstGeom>
          <a:solidFill>
            <a:schemeClr val="accent6">
              <a:lumMod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Introduction</a:t>
            </a:r>
          </a:p>
        </p:txBody>
      </p:sp>
      <p:sp>
        <p:nvSpPr>
          <p:cNvPr id="25" name="Rectangle 24"/>
          <p:cNvSpPr/>
          <p:nvPr userDrawn="1"/>
        </p:nvSpPr>
        <p:spPr>
          <a:xfrm>
            <a:off x="2430779" y="393873"/>
            <a:ext cx="2468880" cy="182880"/>
          </a:xfrm>
          <a:prstGeom prst="rect">
            <a:avLst/>
          </a:prstGeom>
          <a:solidFill>
            <a:srgbClr val="BCBBB8"/>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Contribution (I)</a:t>
            </a:r>
          </a:p>
        </p:txBody>
      </p:sp>
      <p:sp>
        <p:nvSpPr>
          <p:cNvPr id="26" name="Rectangle 25"/>
          <p:cNvSpPr/>
          <p:nvPr userDrawn="1"/>
        </p:nvSpPr>
        <p:spPr>
          <a:xfrm>
            <a:off x="4861560" y="393873"/>
            <a:ext cx="2468880" cy="182880"/>
          </a:xfrm>
          <a:prstGeom prst="rect">
            <a:avLst/>
          </a:prstGeom>
          <a:solidFill>
            <a:schemeClr val="accent6">
              <a:lumMod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Contribution (II)</a:t>
            </a:r>
          </a:p>
        </p:txBody>
      </p:sp>
      <p:sp>
        <p:nvSpPr>
          <p:cNvPr id="27" name="Rectangle 26"/>
          <p:cNvSpPr/>
          <p:nvPr userDrawn="1"/>
        </p:nvSpPr>
        <p:spPr>
          <a:xfrm>
            <a:off x="7292341" y="393873"/>
            <a:ext cx="2468880" cy="182880"/>
          </a:xfrm>
          <a:prstGeom prst="rect">
            <a:avLst/>
          </a:prstGeom>
          <a:solidFill>
            <a:schemeClr val="accent6">
              <a:lumMod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Contribution (III)</a:t>
            </a:r>
          </a:p>
        </p:txBody>
      </p:sp>
      <p:sp>
        <p:nvSpPr>
          <p:cNvPr id="28" name="Rectangle 27"/>
          <p:cNvSpPr/>
          <p:nvPr userDrawn="1"/>
        </p:nvSpPr>
        <p:spPr>
          <a:xfrm>
            <a:off x="9723120" y="393873"/>
            <a:ext cx="2468880" cy="182880"/>
          </a:xfrm>
          <a:prstGeom prst="rect">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Conclusion</a:t>
            </a:r>
          </a:p>
        </p:txBody>
      </p:sp>
      <p:cxnSp>
        <p:nvCxnSpPr>
          <p:cNvPr id="29" name="Straight Connector 28"/>
          <p:cNvCxnSpPr/>
          <p:nvPr userDrawn="1"/>
        </p:nvCxnSpPr>
        <p:spPr>
          <a:xfrm>
            <a:off x="0" y="598671"/>
            <a:ext cx="12192000" cy="0"/>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8943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ortrai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CB3A0E-D963-4BA4-863C-413B32E51AE7}"/>
              </a:ext>
            </a:extLst>
          </p:cNvPr>
          <p:cNvSpPr>
            <a:spLocks noGrp="1"/>
          </p:cNvSpPr>
          <p:nvPr>
            <p:ph idx="1" hasCustomPrompt="1"/>
          </p:nvPr>
        </p:nvSpPr>
        <p:spPr>
          <a:xfrm>
            <a:off x="6162675" y="1152524"/>
            <a:ext cx="5191124" cy="5162121"/>
          </a:xfrm>
        </p:spPr>
        <p:txBody>
          <a:bodyPr/>
          <a:lstStyle>
            <a:lvl1pPr>
              <a:defRPr b="0"/>
            </a:lvl1pPr>
          </a:lstStyle>
          <a:p>
            <a:pPr lvl="0"/>
            <a:r>
              <a:rPr lang="en-US"/>
              <a:t>Heading 1</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1C1F0F3F-166A-422E-B49B-E35296BCC605}"/>
              </a:ext>
            </a:extLst>
          </p:cNvPr>
          <p:cNvSpPr>
            <a:spLocks noGrp="1"/>
          </p:cNvSpPr>
          <p:nvPr>
            <p:ph type="title"/>
          </p:nvPr>
        </p:nvSpPr>
        <p:spPr>
          <a:xfrm>
            <a:off x="1362075" y="1123950"/>
            <a:ext cx="4419600" cy="5190695"/>
          </a:xfrm>
        </p:spPr>
        <p:txBody>
          <a:bodyPr anchor="t" anchorCtr="0"/>
          <a:lstStyle/>
          <a:p>
            <a:r>
              <a:rPr lang="en-US"/>
              <a:t>Click to edit Master title style</a:t>
            </a:r>
          </a:p>
        </p:txBody>
      </p:sp>
      <p:sp>
        <p:nvSpPr>
          <p:cNvPr id="23" name="Date Placeholder 3">
            <a:extLst>
              <a:ext uri="{FF2B5EF4-FFF2-40B4-BE49-F238E27FC236}">
                <a16:creationId xmlns:a16="http://schemas.microsoft.com/office/drawing/2014/main" id="{CC8C6537-CD92-4621-BEAC-209C2F46767E}"/>
              </a:ext>
            </a:extLst>
          </p:cNvPr>
          <p:cNvSpPr>
            <a:spLocks noGrp="1"/>
          </p:cNvSpPr>
          <p:nvPr>
            <p:ph type="dt" sz="half" idx="10"/>
          </p:nvPr>
        </p:nvSpPr>
        <p:spPr>
          <a:xfrm>
            <a:off x="8086725" y="76201"/>
            <a:ext cx="1733550" cy="244475"/>
          </a:xfrm>
        </p:spPr>
        <p:txBody>
          <a:bodyPr/>
          <a:lstStyle/>
          <a:p>
            <a:fld id="{F50DD33E-EA77-4969-99D9-A522168339B7}" type="datetime2">
              <a:rPr lang="en-US" smtClean="0"/>
              <a:t>Tuesday, October 13, 2026</a:t>
            </a:fld>
            <a:endParaRPr lang="en-US" dirty="0"/>
          </a:p>
        </p:txBody>
      </p:sp>
      <p:sp>
        <p:nvSpPr>
          <p:cNvPr id="24"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a:xfrm>
            <a:off x="2867025" y="76201"/>
            <a:ext cx="4114800" cy="244475"/>
          </a:xfrm>
        </p:spPr>
        <p:txBody>
          <a:bodyPr/>
          <a:lstStyle/>
          <a:p>
            <a:r>
              <a:rPr lang="en-US" dirty="0"/>
              <a:t>Deep Learning Driven Automated Plant Disease Detection and Classification</a:t>
            </a:r>
          </a:p>
        </p:txBody>
      </p:sp>
      <p:sp>
        <p:nvSpPr>
          <p:cNvPr id="25"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a:xfrm>
            <a:off x="11563350" y="0"/>
            <a:ext cx="523874" cy="396878"/>
          </a:xfrm>
        </p:spPr>
        <p:txBody>
          <a:bodyPr/>
          <a:lstStyle>
            <a:lvl1pPr>
              <a:defRPr sz="1400"/>
            </a:lvl1pPr>
          </a:lstStyle>
          <a:p>
            <a:fld id="{1E68DD1B-5CD8-424B-8173-19E182143E0A}" type="slidenum">
              <a:rPr lang="en-US" smtClean="0"/>
              <a:pPr/>
              <a:t>‹#›</a:t>
            </a:fld>
            <a:endParaRPr lang="en-US" dirty="0"/>
          </a:p>
        </p:txBody>
      </p:sp>
      <p:pic>
        <p:nvPicPr>
          <p:cNvPr id="26" name="Picture 25">
            <a:extLst>
              <a:ext uri="{FF2B5EF4-FFF2-40B4-BE49-F238E27FC236}">
                <a16:creationId xmlns:a16="http://schemas.microsoft.com/office/drawing/2014/main" id="{85F31A79-8F5C-4459-9F47-4F4A56020D63}"/>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83665" y="109125"/>
            <a:ext cx="1811848" cy="185303"/>
          </a:xfrm>
          <a:prstGeom prst="rect">
            <a:avLst/>
          </a:prstGeom>
        </p:spPr>
      </p:pic>
      <p:sp>
        <p:nvSpPr>
          <p:cNvPr id="21" name="Rectangle 20"/>
          <p:cNvSpPr/>
          <p:nvPr userDrawn="1"/>
        </p:nvSpPr>
        <p:spPr>
          <a:xfrm>
            <a:off x="-2" y="393873"/>
            <a:ext cx="2468880" cy="182880"/>
          </a:xfrm>
          <a:prstGeom prst="rect">
            <a:avLst/>
          </a:prstGeom>
          <a:solidFill>
            <a:srgbClr val="0047BA"/>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Introduction</a:t>
            </a:r>
          </a:p>
        </p:txBody>
      </p:sp>
      <p:sp>
        <p:nvSpPr>
          <p:cNvPr id="22" name="Rectangle 21"/>
          <p:cNvSpPr/>
          <p:nvPr userDrawn="1"/>
        </p:nvSpPr>
        <p:spPr>
          <a:xfrm>
            <a:off x="2430779" y="393873"/>
            <a:ext cx="2468880" cy="182880"/>
          </a:xfrm>
          <a:prstGeom prst="rect">
            <a:avLst/>
          </a:prstGeom>
          <a:solidFill>
            <a:srgbClr val="BCBBB8"/>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Contribution (I)</a:t>
            </a:r>
          </a:p>
        </p:txBody>
      </p:sp>
      <p:sp>
        <p:nvSpPr>
          <p:cNvPr id="34" name="Rectangle 33"/>
          <p:cNvSpPr/>
          <p:nvPr userDrawn="1"/>
        </p:nvSpPr>
        <p:spPr>
          <a:xfrm>
            <a:off x="4861560" y="393873"/>
            <a:ext cx="2468880" cy="182880"/>
          </a:xfrm>
          <a:prstGeom prst="rect">
            <a:avLst/>
          </a:prstGeom>
          <a:solidFill>
            <a:schemeClr val="accent6">
              <a:lumMod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Contribution (II)</a:t>
            </a:r>
          </a:p>
        </p:txBody>
      </p:sp>
      <p:sp>
        <p:nvSpPr>
          <p:cNvPr id="35" name="Rectangle 34"/>
          <p:cNvSpPr/>
          <p:nvPr userDrawn="1"/>
        </p:nvSpPr>
        <p:spPr>
          <a:xfrm>
            <a:off x="7292341" y="393873"/>
            <a:ext cx="2468880" cy="182880"/>
          </a:xfrm>
          <a:prstGeom prst="rect">
            <a:avLst/>
          </a:prstGeom>
          <a:solidFill>
            <a:schemeClr val="accent6">
              <a:lumMod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Contribution (III)</a:t>
            </a:r>
          </a:p>
        </p:txBody>
      </p:sp>
      <p:sp>
        <p:nvSpPr>
          <p:cNvPr id="36" name="Rectangle 35"/>
          <p:cNvSpPr/>
          <p:nvPr userDrawn="1"/>
        </p:nvSpPr>
        <p:spPr>
          <a:xfrm>
            <a:off x="9723120" y="393873"/>
            <a:ext cx="2468880" cy="182880"/>
          </a:xfrm>
          <a:prstGeom prst="rect">
            <a:avLst/>
          </a:prstGeom>
          <a:solidFill>
            <a:schemeClr val="accent6">
              <a:lumMod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Conclusion</a:t>
            </a:r>
          </a:p>
        </p:txBody>
      </p:sp>
      <p:cxnSp>
        <p:nvCxnSpPr>
          <p:cNvPr id="37" name="Straight Connector 36"/>
          <p:cNvCxnSpPr/>
          <p:nvPr userDrawn="1"/>
        </p:nvCxnSpPr>
        <p:spPr>
          <a:xfrm>
            <a:off x="0" y="598671"/>
            <a:ext cx="12192000" cy="0"/>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90955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8BB98-3A1E-4BA6-A18A-C711FCA9CA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F5B3EF-8293-4FA5-B31C-91F5BA7D4E00}"/>
              </a:ext>
            </a:extLst>
          </p:cNvPr>
          <p:cNvSpPr>
            <a:spLocks noGrp="1"/>
          </p:cNvSpPr>
          <p:nvPr>
            <p:ph sz="half" idx="1"/>
          </p:nvPr>
        </p:nvSpPr>
        <p:spPr>
          <a:xfrm>
            <a:off x="1360800" y="1868400"/>
            <a:ext cx="4680000" cy="4449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F6ED27-71A5-4DAD-A199-5EA0A05E7D6B}"/>
              </a:ext>
            </a:extLst>
          </p:cNvPr>
          <p:cNvSpPr>
            <a:spLocks noGrp="1"/>
          </p:cNvSpPr>
          <p:nvPr>
            <p:ph sz="half" idx="2"/>
          </p:nvPr>
        </p:nvSpPr>
        <p:spPr>
          <a:xfrm>
            <a:off x="6667500" y="1868400"/>
            <a:ext cx="4680000" cy="4449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3">
            <a:extLst>
              <a:ext uri="{FF2B5EF4-FFF2-40B4-BE49-F238E27FC236}">
                <a16:creationId xmlns:a16="http://schemas.microsoft.com/office/drawing/2014/main" id="{CC8C6537-CD92-4621-BEAC-209C2F46767E}"/>
              </a:ext>
            </a:extLst>
          </p:cNvPr>
          <p:cNvSpPr>
            <a:spLocks noGrp="1"/>
          </p:cNvSpPr>
          <p:nvPr>
            <p:ph type="dt" sz="half" idx="10"/>
          </p:nvPr>
        </p:nvSpPr>
        <p:spPr>
          <a:xfrm>
            <a:off x="8086725" y="76201"/>
            <a:ext cx="1733550" cy="244475"/>
          </a:xfrm>
        </p:spPr>
        <p:txBody>
          <a:bodyPr/>
          <a:lstStyle/>
          <a:p>
            <a:fld id="{F50DD33E-EA77-4969-99D9-A522168339B7}" type="datetime2">
              <a:rPr lang="en-US" smtClean="0"/>
              <a:t>Tuesday, October 13, 2026</a:t>
            </a:fld>
            <a:endParaRPr lang="en-US" dirty="0"/>
          </a:p>
        </p:txBody>
      </p:sp>
      <p:sp>
        <p:nvSpPr>
          <p:cNvPr id="12"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a:xfrm>
            <a:off x="2867025" y="76201"/>
            <a:ext cx="4114800" cy="244475"/>
          </a:xfrm>
        </p:spPr>
        <p:txBody>
          <a:bodyPr/>
          <a:lstStyle/>
          <a:p>
            <a:r>
              <a:rPr lang="en-US" dirty="0"/>
              <a:t>Deep Learning Driven Automated Plant Disease Detection and Classification</a:t>
            </a:r>
          </a:p>
        </p:txBody>
      </p:sp>
      <p:sp>
        <p:nvSpPr>
          <p:cNvPr id="13"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a:xfrm>
            <a:off x="11563350" y="0"/>
            <a:ext cx="523874" cy="396878"/>
          </a:xfrm>
        </p:spPr>
        <p:txBody>
          <a:bodyPr/>
          <a:lstStyle>
            <a:lvl1pPr>
              <a:defRPr sz="1400"/>
            </a:lvl1pPr>
          </a:lstStyle>
          <a:p>
            <a:fld id="{1E68DD1B-5CD8-424B-8173-19E182143E0A}" type="slidenum">
              <a:rPr lang="en-US" smtClean="0"/>
              <a:pPr/>
              <a:t>‹#›</a:t>
            </a:fld>
            <a:endParaRPr lang="en-US" dirty="0"/>
          </a:p>
        </p:txBody>
      </p:sp>
      <p:pic>
        <p:nvPicPr>
          <p:cNvPr id="14" name="Picture 13">
            <a:extLst>
              <a:ext uri="{FF2B5EF4-FFF2-40B4-BE49-F238E27FC236}">
                <a16:creationId xmlns:a16="http://schemas.microsoft.com/office/drawing/2014/main" id="{85F31A79-8F5C-4459-9F47-4F4A56020D63}"/>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83665" y="109125"/>
            <a:ext cx="1811848" cy="185303"/>
          </a:xfrm>
          <a:prstGeom prst="rect">
            <a:avLst/>
          </a:prstGeom>
        </p:spPr>
      </p:pic>
      <p:sp>
        <p:nvSpPr>
          <p:cNvPr id="22" name="Rectangle 21"/>
          <p:cNvSpPr/>
          <p:nvPr userDrawn="1"/>
        </p:nvSpPr>
        <p:spPr>
          <a:xfrm>
            <a:off x="-2" y="393873"/>
            <a:ext cx="2468880" cy="182880"/>
          </a:xfrm>
          <a:prstGeom prst="rect">
            <a:avLst/>
          </a:prstGeom>
          <a:solidFill>
            <a:srgbClr val="0047BA"/>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Introduction</a:t>
            </a:r>
          </a:p>
        </p:txBody>
      </p:sp>
      <p:sp>
        <p:nvSpPr>
          <p:cNvPr id="23" name="Rectangle 22"/>
          <p:cNvSpPr/>
          <p:nvPr userDrawn="1"/>
        </p:nvSpPr>
        <p:spPr>
          <a:xfrm>
            <a:off x="2430779" y="393873"/>
            <a:ext cx="2468880" cy="182880"/>
          </a:xfrm>
          <a:prstGeom prst="rect">
            <a:avLst/>
          </a:prstGeom>
          <a:solidFill>
            <a:srgbClr val="BCBBB8"/>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Contribution (I)</a:t>
            </a:r>
          </a:p>
        </p:txBody>
      </p:sp>
      <p:sp>
        <p:nvSpPr>
          <p:cNvPr id="24" name="Rectangle 23"/>
          <p:cNvSpPr/>
          <p:nvPr userDrawn="1"/>
        </p:nvSpPr>
        <p:spPr>
          <a:xfrm>
            <a:off x="4861560" y="393873"/>
            <a:ext cx="2468880" cy="182880"/>
          </a:xfrm>
          <a:prstGeom prst="rect">
            <a:avLst/>
          </a:prstGeom>
          <a:solidFill>
            <a:schemeClr val="accent6">
              <a:lumMod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Contribution (II)</a:t>
            </a:r>
          </a:p>
        </p:txBody>
      </p:sp>
      <p:sp>
        <p:nvSpPr>
          <p:cNvPr id="25" name="Rectangle 24"/>
          <p:cNvSpPr/>
          <p:nvPr userDrawn="1"/>
        </p:nvSpPr>
        <p:spPr>
          <a:xfrm>
            <a:off x="7292341" y="393873"/>
            <a:ext cx="2468880" cy="182880"/>
          </a:xfrm>
          <a:prstGeom prst="rect">
            <a:avLst/>
          </a:prstGeom>
          <a:solidFill>
            <a:schemeClr val="accent6">
              <a:lumMod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Contribution (III)</a:t>
            </a:r>
          </a:p>
        </p:txBody>
      </p:sp>
      <p:sp>
        <p:nvSpPr>
          <p:cNvPr id="26" name="Rectangle 25"/>
          <p:cNvSpPr/>
          <p:nvPr userDrawn="1"/>
        </p:nvSpPr>
        <p:spPr>
          <a:xfrm>
            <a:off x="9723120" y="393873"/>
            <a:ext cx="2468880" cy="182880"/>
          </a:xfrm>
          <a:prstGeom prst="rect">
            <a:avLst/>
          </a:prstGeom>
          <a:solidFill>
            <a:schemeClr val="accent6">
              <a:lumMod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Conclusion</a:t>
            </a:r>
          </a:p>
        </p:txBody>
      </p:sp>
      <p:cxnSp>
        <p:nvCxnSpPr>
          <p:cNvPr id="27" name="Straight Connector 26"/>
          <p:cNvCxnSpPr/>
          <p:nvPr userDrawn="1"/>
        </p:nvCxnSpPr>
        <p:spPr>
          <a:xfrm>
            <a:off x="0" y="598671"/>
            <a:ext cx="12192000" cy="0"/>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645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8BB98-3A1E-4BA6-A18A-C711FCA9CA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F5B3EF-8293-4FA5-B31C-91F5BA7D4E00}"/>
              </a:ext>
            </a:extLst>
          </p:cNvPr>
          <p:cNvSpPr>
            <a:spLocks noGrp="1"/>
          </p:cNvSpPr>
          <p:nvPr>
            <p:ph sz="half" idx="1"/>
          </p:nvPr>
        </p:nvSpPr>
        <p:spPr>
          <a:xfrm>
            <a:off x="1360800" y="2352674"/>
            <a:ext cx="4680000" cy="39653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F6ED27-71A5-4DAD-A199-5EA0A05E7D6B}"/>
              </a:ext>
            </a:extLst>
          </p:cNvPr>
          <p:cNvSpPr>
            <a:spLocks noGrp="1"/>
          </p:cNvSpPr>
          <p:nvPr>
            <p:ph sz="half" idx="2"/>
          </p:nvPr>
        </p:nvSpPr>
        <p:spPr>
          <a:xfrm>
            <a:off x="6667500" y="2352674"/>
            <a:ext cx="4680000" cy="39653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2">
            <a:extLst>
              <a:ext uri="{FF2B5EF4-FFF2-40B4-BE49-F238E27FC236}">
                <a16:creationId xmlns:a16="http://schemas.microsoft.com/office/drawing/2014/main" id="{E4673FD0-9E13-4C1A-B859-688309735A0D}"/>
              </a:ext>
            </a:extLst>
          </p:cNvPr>
          <p:cNvSpPr>
            <a:spLocks noGrp="1"/>
          </p:cNvSpPr>
          <p:nvPr>
            <p:ph type="body" idx="13"/>
          </p:nvPr>
        </p:nvSpPr>
        <p:spPr>
          <a:xfrm>
            <a:off x="1360800" y="1868399"/>
            <a:ext cx="4680000" cy="379501"/>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9" name="Text Placeholder 4">
            <a:extLst>
              <a:ext uri="{FF2B5EF4-FFF2-40B4-BE49-F238E27FC236}">
                <a16:creationId xmlns:a16="http://schemas.microsoft.com/office/drawing/2014/main" id="{E81F1501-AF73-4AAC-9FF0-0767311D3E75}"/>
              </a:ext>
            </a:extLst>
          </p:cNvPr>
          <p:cNvSpPr>
            <a:spLocks noGrp="1"/>
          </p:cNvSpPr>
          <p:nvPr>
            <p:ph type="body" sz="quarter" idx="3"/>
          </p:nvPr>
        </p:nvSpPr>
        <p:spPr>
          <a:xfrm>
            <a:off x="6667500" y="1868399"/>
            <a:ext cx="4687888" cy="379501"/>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3" name="Date Placeholder 3">
            <a:extLst>
              <a:ext uri="{FF2B5EF4-FFF2-40B4-BE49-F238E27FC236}">
                <a16:creationId xmlns:a16="http://schemas.microsoft.com/office/drawing/2014/main" id="{CC8C6537-CD92-4621-BEAC-209C2F46767E}"/>
              </a:ext>
            </a:extLst>
          </p:cNvPr>
          <p:cNvSpPr>
            <a:spLocks noGrp="1"/>
          </p:cNvSpPr>
          <p:nvPr>
            <p:ph type="dt" sz="half" idx="10"/>
          </p:nvPr>
        </p:nvSpPr>
        <p:spPr>
          <a:xfrm>
            <a:off x="8086725" y="76201"/>
            <a:ext cx="1733550" cy="244475"/>
          </a:xfrm>
        </p:spPr>
        <p:txBody>
          <a:bodyPr/>
          <a:lstStyle/>
          <a:p>
            <a:fld id="{F50DD33E-EA77-4969-99D9-A522168339B7}" type="datetime2">
              <a:rPr lang="en-US" smtClean="0"/>
              <a:t>Tuesday, October 13, 2026</a:t>
            </a:fld>
            <a:endParaRPr lang="en-US" dirty="0"/>
          </a:p>
        </p:txBody>
      </p:sp>
      <p:sp>
        <p:nvSpPr>
          <p:cNvPr id="14"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a:xfrm>
            <a:off x="2867025" y="76201"/>
            <a:ext cx="4114800" cy="244475"/>
          </a:xfrm>
        </p:spPr>
        <p:txBody>
          <a:bodyPr/>
          <a:lstStyle/>
          <a:p>
            <a:r>
              <a:rPr lang="en-US" dirty="0"/>
              <a:t>Deep Learning Driven Automated Plant Disease Detection and Classification</a:t>
            </a:r>
          </a:p>
        </p:txBody>
      </p:sp>
      <p:sp>
        <p:nvSpPr>
          <p:cNvPr id="15"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a:xfrm>
            <a:off x="11563350" y="0"/>
            <a:ext cx="523874" cy="396878"/>
          </a:xfrm>
        </p:spPr>
        <p:txBody>
          <a:bodyPr/>
          <a:lstStyle>
            <a:lvl1pPr>
              <a:defRPr sz="1400"/>
            </a:lvl1pPr>
          </a:lstStyle>
          <a:p>
            <a:fld id="{1E68DD1B-5CD8-424B-8173-19E182143E0A}" type="slidenum">
              <a:rPr lang="en-US" smtClean="0"/>
              <a:pPr/>
              <a:t>‹#›</a:t>
            </a:fld>
            <a:endParaRPr lang="en-US" dirty="0"/>
          </a:p>
        </p:txBody>
      </p:sp>
      <p:pic>
        <p:nvPicPr>
          <p:cNvPr id="16" name="Picture 15">
            <a:extLst>
              <a:ext uri="{FF2B5EF4-FFF2-40B4-BE49-F238E27FC236}">
                <a16:creationId xmlns:a16="http://schemas.microsoft.com/office/drawing/2014/main" id="{85F31A79-8F5C-4459-9F47-4F4A56020D63}"/>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83665" y="109125"/>
            <a:ext cx="1811848" cy="185303"/>
          </a:xfrm>
          <a:prstGeom prst="rect">
            <a:avLst/>
          </a:prstGeom>
        </p:spPr>
      </p:pic>
      <p:sp>
        <p:nvSpPr>
          <p:cNvPr id="36" name="Rectangle 35"/>
          <p:cNvSpPr/>
          <p:nvPr userDrawn="1"/>
        </p:nvSpPr>
        <p:spPr>
          <a:xfrm>
            <a:off x="-2" y="393873"/>
            <a:ext cx="2468880" cy="182880"/>
          </a:xfrm>
          <a:prstGeom prst="rect">
            <a:avLst/>
          </a:prstGeom>
          <a:solidFill>
            <a:srgbClr val="0047BA"/>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Introduction</a:t>
            </a:r>
          </a:p>
        </p:txBody>
      </p:sp>
      <p:sp>
        <p:nvSpPr>
          <p:cNvPr id="37" name="Rectangle 36"/>
          <p:cNvSpPr/>
          <p:nvPr userDrawn="1"/>
        </p:nvSpPr>
        <p:spPr>
          <a:xfrm>
            <a:off x="2430779" y="393873"/>
            <a:ext cx="2468880" cy="182880"/>
          </a:xfrm>
          <a:prstGeom prst="rect">
            <a:avLst/>
          </a:prstGeom>
          <a:solidFill>
            <a:srgbClr val="BCBBB8"/>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Contribution (I)</a:t>
            </a:r>
          </a:p>
        </p:txBody>
      </p:sp>
      <p:sp>
        <p:nvSpPr>
          <p:cNvPr id="38" name="Rectangle 37"/>
          <p:cNvSpPr/>
          <p:nvPr userDrawn="1"/>
        </p:nvSpPr>
        <p:spPr>
          <a:xfrm>
            <a:off x="4861560" y="393873"/>
            <a:ext cx="2468880" cy="182880"/>
          </a:xfrm>
          <a:prstGeom prst="rect">
            <a:avLst/>
          </a:prstGeom>
          <a:solidFill>
            <a:schemeClr val="accent6">
              <a:lumMod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Contribution (II)</a:t>
            </a:r>
          </a:p>
        </p:txBody>
      </p:sp>
      <p:sp>
        <p:nvSpPr>
          <p:cNvPr id="39" name="Rectangle 38"/>
          <p:cNvSpPr/>
          <p:nvPr userDrawn="1"/>
        </p:nvSpPr>
        <p:spPr>
          <a:xfrm>
            <a:off x="7292341" y="393873"/>
            <a:ext cx="2468880" cy="182880"/>
          </a:xfrm>
          <a:prstGeom prst="rect">
            <a:avLst/>
          </a:prstGeom>
          <a:solidFill>
            <a:schemeClr val="accent6">
              <a:lumMod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Contribution (III)</a:t>
            </a:r>
          </a:p>
        </p:txBody>
      </p:sp>
      <p:sp>
        <p:nvSpPr>
          <p:cNvPr id="40" name="Rectangle 39"/>
          <p:cNvSpPr/>
          <p:nvPr userDrawn="1"/>
        </p:nvSpPr>
        <p:spPr>
          <a:xfrm>
            <a:off x="9723120" y="393873"/>
            <a:ext cx="2468880" cy="182880"/>
          </a:xfrm>
          <a:prstGeom prst="rect">
            <a:avLst/>
          </a:prstGeom>
          <a:solidFill>
            <a:schemeClr val="accent6">
              <a:lumMod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Conclusion</a:t>
            </a:r>
          </a:p>
        </p:txBody>
      </p:sp>
      <p:cxnSp>
        <p:nvCxnSpPr>
          <p:cNvPr id="41" name="Straight Connector 40"/>
          <p:cNvCxnSpPr/>
          <p:nvPr userDrawn="1"/>
        </p:nvCxnSpPr>
        <p:spPr>
          <a:xfrm>
            <a:off x="0" y="598671"/>
            <a:ext cx="12192000" cy="0"/>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27141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rt with Caption">
    <p:spTree>
      <p:nvGrpSpPr>
        <p:cNvPr id="1" name=""/>
        <p:cNvGrpSpPr/>
        <p:nvPr/>
      </p:nvGrpSpPr>
      <p:grpSpPr>
        <a:xfrm>
          <a:off x="0" y="0"/>
          <a:ext cx="0" cy="0"/>
          <a:chOff x="0" y="0"/>
          <a:chExt cx="0" cy="0"/>
        </a:xfrm>
      </p:grpSpPr>
      <p:sp>
        <p:nvSpPr>
          <p:cNvPr id="8" name="Chart Placeholder 7">
            <a:extLst>
              <a:ext uri="{FF2B5EF4-FFF2-40B4-BE49-F238E27FC236}">
                <a16:creationId xmlns:a16="http://schemas.microsoft.com/office/drawing/2014/main" id="{F29153F9-78D4-4D70-B44A-4B9B91D91CB2}"/>
              </a:ext>
            </a:extLst>
          </p:cNvPr>
          <p:cNvSpPr>
            <a:spLocks noGrp="1"/>
          </p:cNvSpPr>
          <p:nvPr>
            <p:ph type="chart" sz="quarter" idx="14"/>
          </p:nvPr>
        </p:nvSpPr>
        <p:spPr>
          <a:xfrm>
            <a:off x="6162675" y="771525"/>
            <a:ext cx="5638800" cy="5534025"/>
          </a:xfrm>
        </p:spPr>
        <p:txBody>
          <a:bodyPr/>
          <a:lstStyle>
            <a:lvl1pPr marL="0" indent="0">
              <a:buNone/>
              <a:defRPr/>
            </a:lvl1pPr>
          </a:lstStyle>
          <a:p>
            <a:r>
              <a:rPr lang="en-US"/>
              <a:t>Click icon to add chart</a:t>
            </a:r>
          </a:p>
        </p:txBody>
      </p:sp>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1362075" y="542925"/>
            <a:ext cx="4181476" cy="1114425"/>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2CB3A0E-D963-4BA4-863C-413B32E51AE7}"/>
              </a:ext>
            </a:extLst>
          </p:cNvPr>
          <p:cNvSpPr>
            <a:spLocks noGrp="1"/>
          </p:cNvSpPr>
          <p:nvPr>
            <p:ph idx="1"/>
          </p:nvPr>
        </p:nvSpPr>
        <p:spPr>
          <a:xfrm>
            <a:off x="1362075" y="1866900"/>
            <a:ext cx="4181476" cy="4448175"/>
          </a:xfrm>
        </p:spPr>
        <p:txBody>
          <a:bodyPr/>
          <a:lstStyle>
            <a:lvl1pPr marL="0" indent="0">
              <a:buNone/>
              <a:defRPr b="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p>
            <a:fld id="{035F2A6E-69EA-48C4-9878-9F94057E6DBE}" type="datetime2">
              <a:rPr lang="en-US" smtClean="0"/>
              <a:t>Tuesday, October 13, 2026</a:t>
            </a:fld>
            <a:endParaRPr lang="en-US"/>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p>
            <a:r>
              <a:rPr lang="en-US" dirty="0"/>
              <a:t>Synthesis and Evaluation of Iron Pyrite for Photovoltaic Applications</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11" name="TextBox 10">
            <a:extLst>
              <a:ext uri="{FF2B5EF4-FFF2-40B4-BE49-F238E27FC236}">
                <a16:creationId xmlns:a16="http://schemas.microsoft.com/office/drawing/2014/main" id="{27C296D0-EF25-4659-9A29-DE874EE0BD57}"/>
              </a:ext>
            </a:extLst>
          </p:cNvPr>
          <p:cNvSpPr txBox="1"/>
          <p:nvPr userDrawn="1"/>
        </p:nvSpPr>
        <p:spPr>
          <a:xfrm>
            <a:off x="10410824" y="203200"/>
            <a:ext cx="962025" cy="244475"/>
          </a:xfrm>
          <a:prstGeom prst="rect">
            <a:avLst/>
          </a:prstGeom>
          <a:noFill/>
        </p:spPr>
        <p:txBody>
          <a:bodyPr wrap="square" lIns="0" tIns="0" rIns="0" bIns="0" rtlCol="0" anchor="ctr" anchorCtr="0">
            <a:noAutofit/>
          </a:bodyPr>
          <a:lstStyle/>
          <a:p>
            <a:pPr algn="r"/>
            <a:r>
              <a:rPr lang="fi-FI" sz="850">
                <a:solidFill>
                  <a:schemeClr val="bg2"/>
                </a:solidFill>
              </a:rPr>
              <a:t>ku.ac.ae</a:t>
            </a:r>
            <a:endParaRPr lang="en-US" sz="850">
              <a:solidFill>
                <a:schemeClr val="bg2"/>
              </a:solidFill>
            </a:endParaRPr>
          </a:p>
        </p:txBody>
      </p:sp>
      <p:pic>
        <p:nvPicPr>
          <p:cNvPr id="12" name="Picture 11">
            <a:extLst>
              <a:ext uri="{FF2B5EF4-FFF2-40B4-BE49-F238E27FC236}">
                <a16:creationId xmlns:a16="http://schemas.microsoft.com/office/drawing/2014/main" id="{872D0369-8EEE-446D-A24C-9E71B185674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83665" y="236124"/>
            <a:ext cx="1811848" cy="185303"/>
          </a:xfrm>
          <a:prstGeom prst="rect">
            <a:avLst/>
          </a:prstGeom>
        </p:spPr>
      </p:pic>
      <p:cxnSp>
        <p:nvCxnSpPr>
          <p:cNvPr id="13" name="Straight Connector 12">
            <a:extLst>
              <a:ext uri="{FF2B5EF4-FFF2-40B4-BE49-F238E27FC236}">
                <a16:creationId xmlns:a16="http://schemas.microsoft.com/office/drawing/2014/main" id="{BDF66C09-963E-47DD-8166-11F0934BF635}"/>
              </a:ext>
            </a:extLst>
          </p:cNvPr>
          <p:cNvCxnSpPr/>
          <p:nvPr userDrawn="1"/>
        </p:nvCxnSpPr>
        <p:spPr>
          <a:xfrm>
            <a:off x="383665" y="533400"/>
            <a:ext cx="11465435"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14360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1362075" y="542925"/>
            <a:ext cx="4181476" cy="1114425"/>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2CB3A0E-D963-4BA4-863C-413B32E51AE7}"/>
              </a:ext>
            </a:extLst>
          </p:cNvPr>
          <p:cNvSpPr>
            <a:spLocks noGrp="1"/>
          </p:cNvSpPr>
          <p:nvPr>
            <p:ph idx="1"/>
          </p:nvPr>
        </p:nvSpPr>
        <p:spPr>
          <a:xfrm>
            <a:off x="1362075" y="1866900"/>
            <a:ext cx="4181476" cy="44481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p>
            <a:fld id="{95D80CBD-01E1-4F40-95BB-4CDCB31285D5}" type="datetime2">
              <a:rPr lang="en-US" smtClean="0"/>
              <a:t>Tuesday, October 13, 2026</a:t>
            </a:fld>
            <a:endParaRPr lang="en-US"/>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p>
            <a:r>
              <a:rPr lang="en-US" dirty="0"/>
              <a:t>Synthesis and Evaluation of Iron Pyrite for Photovoltaic Applications</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9" name="Picture Placeholder 8">
            <a:extLst>
              <a:ext uri="{FF2B5EF4-FFF2-40B4-BE49-F238E27FC236}">
                <a16:creationId xmlns:a16="http://schemas.microsoft.com/office/drawing/2014/main" id="{A46E416A-BFDB-410E-9AC9-671259E5DAFB}"/>
              </a:ext>
            </a:extLst>
          </p:cNvPr>
          <p:cNvSpPr>
            <a:spLocks noGrp="1"/>
          </p:cNvSpPr>
          <p:nvPr>
            <p:ph type="pic" sz="quarter" idx="13"/>
          </p:nvPr>
        </p:nvSpPr>
        <p:spPr>
          <a:xfrm>
            <a:off x="6162675" y="771525"/>
            <a:ext cx="5638800" cy="5534025"/>
          </a:xfrm>
          <a:solidFill>
            <a:schemeClr val="bg1">
              <a:lumMod val="85000"/>
            </a:schemeClr>
          </a:solidFill>
        </p:spPr>
        <p:txBody>
          <a:bodyPr/>
          <a:lstStyle>
            <a:lvl1pPr marL="0" indent="0">
              <a:buNone/>
              <a:defRPr/>
            </a:lvl1pPr>
          </a:lstStyle>
          <a:p>
            <a:r>
              <a:rPr lang="en-US"/>
              <a:t>Click icon to add picture</a:t>
            </a:r>
          </a:p>
        </p:txBody>
      </p:sp>
      <p:sp>
        <p:nvSpPr>
          <p:cNvPr id="11" name="TextBox 10">
            <a:extLst>
              <a:ext uri="{FF2B5EF4-FFF2-40B4-BE49-F238E27FC236}">
                <a16:creationId xmlns:a16="http://schemas.microsoft.com/office/drawing/2014/main" id="{27C296D0-EF25-4659-9A29-DE874EE0BD57}"/>
              </a:ext>
            </a:extLst>
          </p:cNvPr>
          <p:cNvSpPr txBox="1"/>
          <p:nvPr userDrawn="1"/>
        </p:nvSpPr>
        <p:spPr>
          <a:xfrm>
            <a:off x="10410824" y="203200"/>
            <a:ext cx="962025" cy="244475"/>
          </a:xfrm>
          <a:prstGeom prst="rect">
            <a:avLst/>
          </a:prstGeom>
          <a:noFill/>
        </p:spPr>
        <p:txBody>
          <a:bodyPr wrap="square" lIns="0" tIns="0" rIns="0" bIns="0" rtlCol="0" anchor="ctr" anchorCtr="0">
            <a:noAutofit/>
          </a:bodyPr>
          <a:lstStyle/>
          <a:p>
            <a:pPr algn="r"/>
            <a:r>
              <a:rPr lang="fi-FI" sz="850">
                <a:solidFill>
                  <a:schemeClr val="bg2"/>
                </a:solidFill>
              </a:rPr>
              <a:t>ku.ac.ae</a:t>
            </a:r>
            <a:endParaRPr lang="en-US" sz="850">
              <a:solidFill>
                <a:schemeClr val="bg2"/>
              </a:solidFill>
            </a:endParaRPr>
          </a:p>
        </p:txBody>
      </p:sp>
      <p:pic>
        <p:nvPicPr>
          <p:cNvPr id="12" name="Picture 11">
            <a:extLst>
              <a:ext uri="{FF2B5EF4-FFF2-40B4-BE49-F238E27FC236}">
                <a16:creationId xmlns:a16="http://schemas.microsoft.com/office/drawing/2014/main" id="{872D0369-8EEE-446D-A24C-9E71B185674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83665" y="236124"/>
            <a:ext cx="1811848" cy="185303"/>
          </a:xfrm>
          <a:prstGeom prst="rect">
            <a:avLst/>
          </a:prstGeom>
        </p:spPr>
      </p:pic>
      <p:cxnSp>
        <p:nvCxnSpPr>
          <p:cNvPr id="13" name="Straight Connector 12">
            <a:extLst>
              <a:ext uri="{FF2B5EF4-FFF2-40B4-BE49-F238E27FC236}">
                <a16:creationId xmlns:a16="http://schemas.microsoft.com/office/drawing/2014/main" id="{BDF66C09-963E-47DD-8166-11F0934BF635}"/>
              </a:ext>
            </a:extLst>
          </p:cNvPr>
          <p:cNvCxnSpPr/>
          <p:nvPr userDrawn="1"/>
        </p:nvCxnSpPr>
        <p:spPr>
          <a:xfrm>
            <a:off x="383665" y="533400"/>
            <a:ext cx="11465435"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05989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828676" y="542925"/>
            <a:ext cx="10544174" cy="1114425"/>
          </a:xfrm>
        </p:spPr>
        <p:txBody>
          <a:bodyPr/>
          <a:lstStyle>
            <a:lvl1pPr algn="ctr">
              <a:defRPr/>
            </a:lvl1pPr>
          </a:lstStyle>
          <a:p>
            <a:r>
              <a:rPr lang="en-US"/>
              <a:t>Click to edit Master title style</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p>
            <a:fld id="{E11F5515-C8D0-401B-9D01-89182670CBCD}" type="datetime2">
              <a:rPr lang="en-US" smtClean="0"/>
              <a:t>Tuesday, October 13, 2026</a:t>
            </a:fld>
            <a:endParaRPr lang="en-US"/>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p>
            <a:r>
              <a:rPr lang="en-US" dirty="0"/>
              <a:t>Synthesis and Evaluation of Iron Pyrite for Photovoltaic Applications</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p>
            <a:fld id="{1E68DD1B-5CD8-424B-8173-19E182143E0A}" type="slidenum">
              <a:rPr lang="en-US" smtClean="0"/>
              <a:t>‹#›</a:t>
            </a:fld>
            <a:endParaRPr lang="en-US"/>
          </a:p>
        </p:txBody>
      </p:sp>
      <p:pic>
        <p:nvPicPr>
          <p:cNvPr id="7" name="Picture 6">
            <a:extLst>
              <a:ext uri="{FF2B5EF4-FFF2-40B4-BE49-F238E27FC236}">
                <a16:creationId xmlns:a16="http://schemas.microsoft.com/office/drawing/2014/main" id="{85F31A79-8F5C-4459-9F47-4F4A56020D63}"/>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83665" y="236124"/>
            <a:ext cx="1811848" cy="185303"/>
          </a:xfrm>
          <a:prstGeom prst="rect">
            <a:avLst/>
          </a:prstGeom>
        </p:spPr>
      </p:pic>
      <p:sp>
        <p:nvSpPr>
          <p:cNvPr id="8" name="TextBox 7">
            <a:extLst>
              <a:ext uri="{FF2B5EF4-FFF2-40B4-BE49-F238E27FC236}">
                <a16:creationId xmlns:a16="http://schemas.microsoft.com/office/drawing/2014/main" id="{4E74C6A6-466D-458F-9462-128882D6EF6C}"/>
              </a:ext>
            </a:extLst>
          </p:cNvPr>
          <p:cNvSpPr txBox="1"/>
          <p:nvPr userDrawn="1"/>
        </p:nvSpPr>
        <p:spPr>
          <a:xfrm>
            <a:off x="10410824" y="203200"/>
            <a:ext cx="962025" cy="244475"/>
          </a:xfrm>
          <a:prstGeom prst="rect">
            <a:avLst/>
          </a:prstGeom>
          <a:noFill/>
        </p:spPr>
        <p:txBody>
          <a:bodyPr wrap="square" lIns="0" tIns="0" rIns="0" bIns="0" rtlCol="0" anchor="ctr" anchorCtr="0">
            <a:noAutofit/>
          </a:bodyPr>
          <a:lstStyle/>
          <a:p>
            <a:pPr algn="r"/>
            <a:r>
              <a:rPr lang="fi-FI" sz="850">
                <a:solidFill>
                  <a:schemeClr val="bg2"/>
                </a:solidFill>
              </a:rPr>
              <a:t>ku.ac.ae</a:t>
            </a:r>
            <a:endParaRPr lang="en-US" sz="850">
              <a:solidFill>
                <a:schemeClr val="bg2"/>
              </a:solidFill>
            </a:endParaRPr>
          </a:p>
        </p:txBody>
      </p:sp>
      <p:cxnSp>
        <p:nvCxnSpPr>
          <p:cNvPr id="11" name="Straight Connector 10">
            <a:extLst>
              <a:ext uri="{FF2B5EF4-FFF2-40B4-BE49-F238E27FC236}">
                <a16:creationId xmlns:a16="http://schemas.microsoft.com/office/drawing/2014/main" id="{8690FDB3-7706-4B32-BD35-532B4AC7ECDA}"/>
              </a:ext>
            </a:extLst>
          </p:cNvPr>
          <p:cNvCxnSpPr/>
          <p:nvPr userDrawn="1"/>
        </p:nvCxnSpPr>
        <p:spPr>
          <a:xfrm>
            <a:off x="383665" y="533400"/>
            <a:ext cx="11465435"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3930B2A2-81DA-4F3D-9D9E-46E4F7B93857}"/>
              </a:ext>
            </a:extLst>
          </p:cNvPr>
          <p:cNvSpPr>
            <a:spLocks noGrp="1"/>
          </p:cNvSpPr>
          <p:nvPr>
            <p:ph type="pic" sz="quarter" idx="13"/>
          </p:nvPr>
        </p:nvSpPr>
        <p:spPr>
          <a:xfrm>
            <a:off x="4238625" y="2752725"/>
            <a:ext cx="3714750" cy="3562350"/>
          </a:xfrm>
          <a:solidFill>
            <a:schemeClr val="bg1">
              <a:lumMod val="85000"/>
            </a:schemeClr>
          </a:solidFill>
        </p:spPr>
        <p:txBody>
          <a:bodyPr/>
          <a:lstStyle>
            <a:lvl1pPr marL="0" indent="0">
              <a:buNone/>
              <a:defRPr/>
            </a:lvl1pPr>
          </a:lstStyle>
          <a:p>
            <a:r>
              <a:rPr lang="en-US"/>
              <a:t>Click icon to add picture</a:t>
            </a:r>
          </a:p>
        </p:txBody>
      </p:sp>
      <p:sp>
        <p:nvSpPr>
          <p:cNvPr id="14" name="Picture Placeholder 12">
            <a:extLst>
              <a:ext uri="{FF2B5EF4-FFF2-40B4-BE49-F238E27FC236}">
                <a16:creationId xmlns:a16="http://schemas.microsoft.com/office/drawing/2014/main" id="{F16E22AE-DDB9-4C04-8CBA-FF04F1AFB382}"/>
              </a:ext>
            </a:extLst>
          </p:cNvPr>
          <p:cNvSpPr>
            <a:spLocks noGrp="1"/>
          </p:cNvSpPr>
          <p:nvPr>
            <p:ph type="pic" sz="quarter" idx="14"/>
          </p:nvPr>
        </p:nvSpPr>
        <p:spPr>
          <a:xfrm>
            <a:off x="400050" y="2752725"/>
            <a:ext cx="3714750" cy="3562350"/>
          </a:xfrm>
          <a:solidFill>
            <a:schemeClr val="bg1">
              <a:lumMod val="85000"/>
            </a:schemeClr>
          </a:solidFill>
        </p:spPr>
        <p:txBody>
          <a:bodyPr/>
          <a:lstStyle>
            <a:lvl1pPr marL="0" indent="0">
              <a:buNone/>
              <a:defRPr/>
            </a:lvl1pPr>
          </a:lstStyle>
          <a:p>
            <a:r>
              <a:rPr lang="en-US"/>
              <a:t>Click icon to add picture</a:t>
            </a:r>
          </a:p>
        </p:txBody>
      </p:sp>
      <p:sp>
        <p:nvSpPr>
          <p:cNvPr id="15" name="Picture Placeholder 12">
            <a:extLst>
              <a:ext uri="{FF2B5EF4-FFF2-40B4-BE49-F238E27FC236}">
                <a16:creationId xmlns:a16="http://schemas.microsoft.com/office/drawing/2014/main" id="{55F3CFBF-C13C-4A9F-BDDF-0E18286F15C6}"/>
              </a:ext>
            </a:extLst>
          </p:cNvPr>
          <p:cNvSpPr>
            <a:spLocks noGrp="1"/>
          </p:cNvSpPr>
          <p:nvPr>
            <p:ph type="pic" sz="quarter" idx="15"/>
          </p:nvPr>
        </p:nvSpPr>
        <p:spPr>
          <a:xfrm>
            <a:off x="8077200" y="2752725"/>
            <a:ext cx="3714750" cy="3562350"/>
          </a:xfrm>
          <a:solidFill>
            <a:schemeClr val="bg1">
              <a:lumMod val="85000"/>
            </a:schemeClr>
          </a:solidFill>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41884930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ictures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1362074" y="1114424"/>
            <a:ext cx="6343651" cy="1438275"/>
          </a:xfrm>
        </p:spPr>
        <p:txBody>
          <a:bodyPr anchor="t" anchorCtr="0"/>
          <a:lstStyle>
            <a:lvl1pPr algn="l">
              <a:lnSpc>
                <a:spcPct val="100000"/>
              </a:lnSpc>
              <a:defRPr/>
            </a:lvl1pPr>
          </a:lstStyle>
          <a:p>
            <a:r>
              <a:rPr lang="en-US"/>
              <a:t>Click to edit Master title style</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p>
            <a:fld id="{27BE144D-A52D-4A39-B7E7-83B2E7E1D029}" type="datetime2">
              <a:rPr lang="en-US" smtClean="0"/>
              <a:t>Tuesday, October 13, 2026</a:t>
            </a:fld>
            <a:endParaRPr lang="en-US"/>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p>
            <a:r>
              <a:rPr lang="en-US" dirty="0"/>
              <a:t>Synthesis and Evaluation of Iron Pyrite for Photovoltaic Applications</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p>
            <a:fld id="{1E68DD1B-5CD8-424B-8173-19E182143E0A}" type="slidenum">
              <a:rPr lang="en-US" smtClean="0"/>
              <a:t>‹#›</a:t>
            </a:fld>
            <a:endParaRPr lang="en-US"/>
          </a:p>
        </p:txBody>
      </p:sp>
      <p:pic>
        <p:nvPicPr>
          <p:cNvPr id="7" name="Picture 6">
            <a:extLst>
              <a:ext uri="{FF2B5EF4-FFF2-40B4-BE49-F238E27FC236}">
                <a16:creationId xmlns:a16="http://schemas.microsoft.com/office/drawing/2014/main" id="{85F31A79-8F5C-4459-9F47-4F4A56020D63}"/>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83665" y="236124"/>
            <a:ext cx="1811848" cy="185303"/>
          </a:xfrm>
          <a:prstGeom prst="rect">
            <a:avLst/>
          </a:prstGeom>
        </p:spPr>
      </p:pic>
      <p:sp>
        <p:nvSpPr>
          <p:cNvPr id="8" name="TextBox 7">
            <a:extLst>
              <a:ext uri="{FF2B5EF4-FFF2-40B4-BE49-F238E27FC236}">
                <a16:creationId xmlns:a16="http://schemas.microsoft.com/office/drawing/2014/main" id="{4E74C6A6-466D-458F-9462-128882D6EF6C}"/>
              </a:ext>
            </a:extLst>
          </p:cNvPr>
          <p:cNvSpPr txBox="1"/>
          <p:nvPr userDrawn="1"/>
        </p:nvSpPr>
        <p:spPr>
          <a:xfrm>
            <a:off x="10410824" y="203200"/>
            <a:ext cx="962025" cy="244475"/>
          </a:xfrm>
          <a:prstGeom prst="rect">
            <a:avLst/>
          </a:prstGeom>
          <a:noFill/>
        </p:spPr>
        <p:txBody>
          <a:bodyPr wrap="square" lIns="0" tIns="0" rIns="0" bIns="0" rtlCol="0" anchor="ctr" anchorCtr="0">
            <a:noAutofit/>
          </a:bodyPr>
          <a:lstStyle/>
          <a:p>
            <a:pPr algn="r"/>
            <a:r>
              <a:rPr lang="fi-FI" sz="850">
                <a:solidFill>
                  <a:schemeClr val="bg2"/>
                </a:solidFill>
              </a:rPr>
              <a:t>ku.ac.ae</a:t>
            </a:r>
            <a:endParaRPr lang="en-US" sz="850">
              <a:solidFill>
                <a:schemeClr val="bg2"/>
              </a:solidFill>
            </a:endParaRPr>
          </a:p>
        </p:txBody>
      </p:sp>
      <p:cxnSp>
        <p:nvCxnSpPr>
          <p:cNvPr id="11" name="Straight Connector 10">
            <a:extLst>
              <a:ext uri="{FF2B5EF4-FFF2-40B4-BE49-F238E27FC236}">
                <a16:creationId xmlns:a16="http://schemas.microsoft.com/office/drawing/2014/main" id="{8690FDB3-7706-4B32-BD35-532B4AC7ECDA}"/>
              </a:ext>
            </a:extLst>
          </p:cNvPr>
          <p:cNvCxnSpPr/>
          <p:nvPr userDrawn="1"/>
        </p:nvCxnSpPr>
        <p:spPr>
          <a:xfrm>
            <a:off x="383665" y="533400"/>
            <a:ext cx="11465435"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3930B2A2-81DA-4F3D-9D9E-46E4F7B93857}"/>
              </a:ext>
            </a:extLst>
          </p:cNvPr>
          <p:cNvSpPr>
            <a:spLocks noGrp="1"/>
          </p:cNvSpPr>
          <p:nvPr>
            <p:ph type="pic" sz="quarter" idx="13"/>
          </p:nvPr>
        </p:nvSpPr>
        <p:spPr>
          <a:xfrm>
            <a:off x="4238625" y="2752725"/>
            <a:ext cx="3714750" cy="3562350"/>
          </a:xfrm>
          <a:solidFill>
            <a:schemeClr val="bg1">
              <a:lumMod val="85000"/>
            </a:schemeClr>
          </a:solidFill>
        </p:spPr>
        <p:txBody>
          <a:bodyPr/>
          <a:lstStyle>
            <a:lvl1pPr marL="0" indent="0">
              <a:buNone/>
              <a:defRPr/>
            </a:lvl1pPr>
          </a:lstStyle>
          <a:p>
            <a:r>
              <a:rPr lang="en-US"/>
              <a:t>Click icon to add picture</a:t>
            </a:r>
          </a:p>
        </p:txBody>
      </p:sp>
      <p:sp>
        <p:nvSpPr>
          <p:cNvPr id="14" name="Picture Placeholder 12">
            <a:extLst>
              <a:ext uri="{FF2B5EF4-FFF2-40B4-BE49-F238E27FC236}">
                <a16:creationId xmlns:a16="http://schemas.microsoft.com/office/drawing/2014/main" id="{F16E22AE-DDB9-4C04-8CBA-FF04F1AFB382}"/>
              </a:ext>
            </a:extLst>
          </p:cNvPr>
          <p:cNvSpPr>
            <a:spLocks noGrp="1"/>
          </p:cNvSpPr>
          <p:nvPr>
            <p:ph type="pic" sz="quarter" idx="14"/>
          </p:nvPr>
        </p:nvSpPr>
        <p:spPr>
          <a:xfrm>
            <a:off x="400050" y="2752725"/>
            <a:ext cx="3714750" cy="3562350"/>
          </a:xfrm>
          <a:solidFill>
            <a:schemeClr val="bg1">
              <a:lumMod val="85000"/>
            </a:schemeClr>
          </a:solidFill>
        </p:spPr>
        <p:txBody>
          <a:bodyPr/>
          <a:lstStyle>
            <a:lvl1pPr marL="0" indent="0">
              <a:buNone/>
              <a:defRPr/>
            </a:lvl1pPr>
          </a:lstStyle>
          <a:p>
            <a:r>
              <a:rPr lang="en-US"/>
              <a:t>Click icon to add picture</a:t>
            </a:r>
          </a:p>
        </p:txBody>
      </p:sp>
      <p:sp>
        <p:nvSpPr>
          <p:cNvPr id="15" name="Picture Placeholder 12">
            <a:extLst>
              <a:ext uri="{FF2B5EF4-FFF2-40B4-BE49-F238E27FC236}">
                <a16:creationId xmlns:a16="http://schemas.microsoft.com/office/drawing/2014/main" id="{55F3CFBF-C13C-4A9F-BDDF-0E18286F15C6}"/>
              </a:ext>
            </a:extLst>
          </p:cNvPr>
          <p:cNvSpPr>
            <a:spLocks noGrp="1"/>
          </p:cNvSpPr>
          <p:nvPr>
            <p:ph type="pic" sz="quarter" idx="15"/>
          </p:nvPr>
        </p:nvSpPr>
        <p:spPr>
          <a:xfrm>
            <a:off x="8077200" y="762000"/>
            <a:ext cx="3714750" cy="5553075"/>
          </a:xfrm>
          <a:solidFill>
            <a:schemeClr val="bg1">
              <a:lumMod val="85000"/>
            </a:schemeClr>
          </a:solidFill>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6066545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25EDB-8165-4C09-A93D-01F9B0F72B0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49EA8E-5754-4FAF-B3D4-63EA441FBC46}"/>
              </a:ext>
            </a:extLst>
          </p:cNvPr>
          <p:cNvSpPr>
            <a:spLocks noGrp="1"/>
          </p:cNvSpPr>
          <p:nvPr>
            <p:ph type="dt" sz="half" idx="10"/>
          </p:nvPr>
        </p:nvSpPr>
        <p:spPr/>
        <p:txBody>
          <a:bodyPr/>
          <a:lstStyle/>
          <a:p>
            <a:fld id="{BAA8F194-9077-4E80-915D-8EF8A5C3402A}" type="datetime2">
              <a:rPr lang="en-US" smtClean="0"/>
              <a:t>Tuesday, October 13, 2026</a:t>
            </a:fld>
            <a:endParaRPr lang="en-US"/>
          </a:p>
        </p:txBody>
      </p:sp>
      <p:sp>
        <p:nvSpPr>
          <p:cNvPr id="4" name="Footer Placeholder 3">
            <a:extLst>
              <a:ext uri="{FF2B5EF4-FFF2-40B4-BE49-F238E27FC236}">
                <a16:creationId xmlns:a16="http://schemas.microsoft.com/office/drawing/2014/main" id="{CFF6CD72-BAC2-4994-B821-40432481E830}"/>
              </a:ext>
            </a:extLst>
          </p:cNvPr>
          <p:cNvSpPr>
            <a:spLocks noGrp="1"/>
          </p:cNvSpPr>
          <p:nvPr>
            <p:ph type="ftr" sz="quarter" idx="11"/>
          </p:nvPr>
        </p:nvSpPr>
        <p:spPr/>
        <p:txBody>
          <a:bodyPr/>
          <a:lstStyle/>
          <a:p>
            <a:r>
              <a:rPr lang="en-US" dirty="0"/>
              <a:t>Synthesis and Evaluation of Iron Pyrite for Photovoltaic Applications</a:t>
            </a:r>
          </a:p>
        </p:txBody>
      </p:sp>
      <p:sp>
        <p:nvSpPr>
          <p:cNvPr id="5" name="Slide Number Placeholder 4">
            <a:extLst>
              <a:ext uri="{FF2B5EF4-FFF2-40B4-BE49-F238E27FC236}">
                <a16:creationId xmlns:a16="http://schemas.microsoft.com/office/drawing/2014/main" id="{D593CFAF-562D-445B-846A-E8F71A026870}"/>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6" name="TextBox 5">
            <a:extLst>
              <a:ext uri="{FF2B5EF4-FFF2-40B4-BE49-F238E27FC236}">
                <a16:creationId xmlns:a16="http://schemas.microsoft.com/office/drawing/2014/main" id="{7C98C825-F06D-4987-81B8-02D493880414}"/>
              </a:ext>
            </a:extLst>
          </p:cNvPr>
          <p:cNvSpPr txBox="1"/>
          <p:nvPr userDrawn="1"/>
        </p:nvSpPr>
        <p:spPr>
          <a:xfrm>
            <a:off x="10410824" y="203200"/>
            <a:ext cx="962025" cy="244475"/>
          </a:xfrm>
          <a:prstGeom prst="rect">
            <a:avLst/>
          </a:prstGeom>
          <a:noFill/>
        </p:spPr>
        <p:txBody>
          <a:bodyPr wrap="square" lIns="0" tIns="0" rIns="0" bIns="0" rtlCol="0" anchor="ctr" anchorCtr="0">
            <a:noAutofit/>
          </a:bodyPr>
          <a:lstStyle/>
          <a:p>
            <a:pPr algn="r"/>
            <a:r>
              <a:rPr lang="fi-FI" sz="850">
                <a:solidFill>
                  <a:schemeClr val="bg2"/>
                </a:solidFill>
              </a:rPr>
              <a:t>ku.ac.ae</a:t>
            </a:r>
            <a:endParaRPr lang="en-US" sz="850">
              <a:solidFill>
                <a:schemeClr val="bg2"/>
              </a:solidFill>
            </a:endParaRPr>
          </a:p>
        </p:txBody>
      </p:sp>
      <p:pic>
        <p:nvPicPr>
          <p:cNvPr id="7" name="Picture 6">
            <a:extLst>
              <a:ext uri="{FF2B5EF4-FFF2-40B4-BE49-F238E27FC236}">
                <a16:creationId xmlns:a16="http://schemas.microsoft.com/office/drawing/2014/main" id="{53464E6B-FB97-4EC4-BBD3-24FE3C8D13D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83665" y="236124"/>
            <a:ext cx="1811848" cy="185303"/>
          </a:xfrm>
          <a:prstGeom prst="rect">
            <a:avLst/>
          </a:prstGeom>
        </p:spPr>
      </p:pic>
      <p:cxnSp>
        <p:nvCxnSpPr>
          <p:cNvPr id="8" name="Straight Connector 7">
            <a:extLst>
              <a:ext uri="{FF2B5EF4-FFF2-40B4-BE49-F238E27FC236}">
                <a16:creationId xmlns:a16="http://schemas.microsoft.com/office/drawing/2014/main" id="{7A8822A8-864B-49B0-9C0B-A862217EF3B8}"/>
              </a:ext>
            </a:extLst>
          </p:cNvPr>
          <p:cNvCxnSpPr/>
          <p:nvPr userDrawn="1"/>
        </p:nvCxnSpPr>
        <p:spPr>
          <a:xfrm>
            <a:off x="383665" y="533400"/>
            <a:ext cx="11465435"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58844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25EDB-8165-4C09-A93D-01F9B0F72B0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49EA8E-5754-4FAF-B3D4-63EA441FBC46}"/>
              </a:ext>
            </a:extLst>
          </p:cNvPr>
          <p:cNvSpPr>
            <a:spLocks noGrp="1"/>
          </p:cNvSpPr>
          <p:nvPr>
            <p:ph type="dt" sz="half" idx="10"/>
          </p:nvPr>
        </p:nvSpPr>
        <p:spPr/>
        <p:txBody>
          <a:bodyPr/>
          <a:lstStyle>
            <a:lvl1pPr>
              <a:defRPr>
                <a:solidFill>
                  <a:schemeClr val="tx2"/>
                </a:solidFill>
              </a:defRPr>
            </a:lvl1pPr>
          </a:lstStyle>
          <a:p>
            <a:fld id="{ED18892A-385F-4913-84E0-6673BA4EFF00}" type="datetime2">
              <a:rPr lang="en-US" smtClean="0"/>
              <a:t>Tuesday, October 13, 2026</a:t>
            </a:fld>
            <a:endParaRPr lang="en-US"/>
          </a:p>
        </p:txBody>
      </p:sp>
      <p:sp>
        <p:nvSpPr>
          <p:cNvPr id="4" name="Footer Placeholder 3">
            <a:extLst>
              <a:ext uri="{FF2B5EF4-FFF2-40B4-BE49-F238E27FC236}">
                <a16:creationId xmlns:a16="http://schemas.microsoft.com/office/drawing/2014/main" id="{CFF6CD72-BAC2-4994-B821-40432481E830}"/>
              </a:ext>
            </a:extLst>
          </p:cNvPr>
          <p:cNvSpPr>
            <a:spLocks noGrp="1"/>
          </p:cNvSpPr>
          <p:nvPr>
            <p:ph type="ftr" sz="quarter" idx="11"/>
          </p:nvPr>
        </p:nvSpPr>
        <p:spPr/>
        <p:txBody>
          <a:bodyPr/>
          <a:lstStyle>
            <a:lvl1pPr>
              <a:defRPr>
                <a:solidFill>
                  <a:schemeClr val="tx2"/>
                </a:solidFill>
              </a:defRPr>
            </a:lvl1pPr>
          </a:lstStyle>
          <a:p>
            <a:r>
              <a:rPr lang="en-US" dirty="0"/>
              <a:t>Synthesis and Evaluation of Iron Pyrite for Photovoltaic Applications</a:t>
            </a:r>
          </a:p>
        </p:txBody>
      </p:sp>
      <p:sp>
        <p:nvSpPr>
          <p:cNvPr id="5" name="Slide Number Placeholder 4">
            <a:extLst>
              <a:ext uri="{FF2B5EF4-FFF2-40B4-BE49-F238E27FC236}">
                <a16:creationId xmlns:a16="http://schemas.microsoft.com/office/drawing/2014/main" id="{D593CFAF-562D-445B-846A-E8F71A026870}"/>
              </a:ext>
            </a:extLst>
          </p:cNvPr>
          <p:cNvSpPr>
            <a:spLocks noGrp="1"/>
          </p:cNvSpPr>
          <p:nvPr>
            <p:ph type="sldNum" sz="quarter" idx="12"/>
          </p:nvPr>
        </p:nvSpPr>
        <p:spPr/>
        <p:txBody>
          <a:bodyPr/>
          <a:lstStyle>
            <a:lvl1pPr>
              <a:defRPr>
                <a:solidFill>
                  <a:schemeClr val="tx2"/>
                </a:solidFill>
              </a:defRPr>
            </a:lvl1pPr>
          </a:lstStyle>
          <a:p>
            <a:fld id="{1E68DD1B-5CD8-424B-8173-19E182143E0A}" type="slidenum">
              <a:rPr lang="en-US" smtClean="0"/>
              <a:pPr/>
              <a:t>‹#›</a:t>
            </a:fld>
            <a:endParaRPr lang="en-US"/>
          </a:p>
        </p:txBody>
      </p:sp>
      <p:sp>
        <p:nvSpPr>
          <p:cNvPr id="6" name="TextBox 5">
            <a:extLst>
              <a:ext uri="{FF2B5EF4-FFF2-40B4-BE49-F238E27FC236}">
                <a16:creationId xmlns:a16="http://schemas.microsoft.com/office/drawing/2014/main" id="{7C98C825-F06D-4987-81B8-02D493880414}"/>
              </a:ext>
            </a:extLst>
          </p:cNvPr>
          <p:cNvSpPr txBox="1"/>
          <p:nvPr userDrawn="1"/>
        </p:nvSpPr>
        <p:spPr>
          <a:xfrm>
            <a:off x="10410824" y="203200"/>
            <a:ext cx="962025" cy="244475"/>
          </a:xfrm>
          <a:prstGeom prst="rect">
            <a:avLst/>
          </a:prstGeom>
          <a:noFill/>
        </p:spPr>
        <p:txBody>
          <a:bodyPr wrap="square" lIns="0" tIns="0" rIns="0" bIns="0" rtlCol="0" anchor="ctr" anchorCtr="0">
            <a:noAutofit/>
          </a:bodyPr>
          <a:lstStyle/>
          <a:p>
            <a:pPr algn="r"/>
            <a:r>
              <a:rPr lang="fi-FI" sz="850">
                <a:solidFill>
                  <a:schemeClr val="tx2"/>
                </a:solidFill>
              </a:rPr>
              <a:t>ku.ac.ae</a:t>
            </a:r>
            <a:endParaRPr lang="en-US" sz="850">
              <a:solidFill>
                <a:schemeClr val="tx2"/>
              </a:solidFill>
            </a:endParaRPr>
          </a:p>
        </p:txBody>
      </p:sp>
      <p:pic>
        <p:nvPicPr>
          <p:cNvPr id="7" name="Picture 6">
            <a:extLst>
              <a:ext uri="{FF2B5EF4-FFF2-40B4-BE49-F238E27FC236}">
                <a16:creationId xmlns:a16="http://schemas.microsoft.com/office/drawing/2014/main" id="{53464E6B-FB97-4EC4-BBD3-24FE3C8D13D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83665" y="236124"/>
            <a:ext cx="1811847" cy="185303"/>
          </a:xfrm>
          <a:prstGeom prst="rect">
            <a:avLst/>
          </a:prstGeom>
        </p:spPr>
      </p:pic>
      <p:cxnSp>
        <p:nvCxnSpPr>
          <p:cNvPr id="8" name="Straight Connector 7">
            <a:extLst>
              <a:ext uri="{FF2B5EF4-FFF2-40B4-BE49-F238E27FC236}">
                <a16:creationId xmlns:a16="http://schemas.microsoft.com/office/drawing/2014/main" id="{7A8822A8-864B-49B0-9C0B-A862217EF3B8}"/>
              </a:ext>
            </a:extLst>
          </p:cNvPr>
          <p:cNvCxnSpPr/>
          <p:nvPr userDrawn="1"/>
        </p:nvCxnSpPr>
        <p:spPr>
          <a:xfrm>
            <a:off x="383665" y="533400"/>
            <a:ext cx="11465435"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8852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D94EFBB-C8CA-4201-A903-805856BEB310}"/>
              </a:ext>
            </a:extLst>
          </p:cNvPr>
          <p:cNvSpPr>
            <a:spLocks noGrp="1"/>
          </p:cNvSpPr>
          <p:nvPr>
            <p:ph type="dt" sz="half" idx="10"/>
          </p:nvPr>
        </p:nvSpPr>
        <p:spPr/>
        <p:txBody>
          <a:bodyPr/>
          <a:lstStyle/>
          <a:p>
            <a:fld id="{39C56024-30B0-4B46-92B2-A72D2ECADBC7}" type="datetime2">
              <a:rPr lang="en-US" smtClean="0"/>
              <a:t>Tuesday, October 13, 2026</a:t>
            </a:fld>
            <a:endParaRPr lang="en-US"/>
          </a:p>
        </p:txBody>
      </p:sp>
      <p:sp>
        <p:nvSpPr>
          <p:cNvPr id="3" name="Footer Placeholder 2">
            <a:extLst>
              <a:ext uri="{FF2B5EF4-FFF2-40B4-BE49-F238E27FC236}">
                <a16:creationId xmlns:a16="http://schemas.microsoft.com/office/drawing/2014/main" id="{8551DCEB-2462-4151-B7CC-F3EC0D3A59D6}"/>
              </a:ext>
            </a:extLst>
          </p:cNvPr>
          <p:cNvSpPr>
            <a:spLocks noGrp="1"/>
          </p:cNvSpPr>
          <p:nvPr>
            <p:ph type="ftr" sz="quarter" idx="11"/>
          </p:nvPr>
        </p:nvSpPr>
        <p:spPr/>
        <p:txBody>
          <a:bodyPr/>
          <a:lstStyle/>
          <a:p>
            <a:r>
              <a:rPr lang="en-US" dirty="0"/>
              <a:t>Synthesis and Evaluation of Iron Pyrite for Photovoltaic Applications</a:t>
            </a:r>
          </a:p>
        </p:txBody>
      </p:sp>
      <p:sp>
        <p:nvSpPr>
          <p:cNvPr id="4" name="Slide Number Placeholder 3">
            <a:extLst>
              <a:ext uri="{FF2B5EF4-FFF2-40B4-BE49-F238E27FC236}">
                <a16:creationId xmlns:a16="http://schemas.microsoft.com/office/drawing/2014/main" id="{B5A57B99-432B-45A8-9216-9BC01B297D0C}"/>
              </a:ext>
            </a:extLst>
          </p:cNvPr>
          <p:cNvSpPr>
            <a:spLocks noGrp="1"/>
          </p:cNvSpPr>
          <p:nvPr>
            <p:ph type="sldNum" sz="quarter" idx="12"/>
          </p:nvPr>
        </p:nvSpPr>
        <p:spPr/>
        <p:txBody>
          <a:bodyPr/>
          <a:lstStyle/>
          <a:p>
            <a:fld id="{1E68DD1B-5CD8-424B-8173-19E182143E0A}" type="slidenum">
              <a:rPr lang="en-US" smtClean="0"/>
              <a:t>‹#›</a:t>
            </a:fld>
            <a:endParaRPr lang="en-US"/>
          </a:p>
        </p:txBody>
      </p:sp>
    </p:spTree>
    <p:extLst>
      <p:ext uri="{BB962C8B-B14F-4D97-AF65-F5344CB8AC3E}">
        <p14:creationId xmlns:p14="http://schemas.microsoft.com/office/powerpoint/2010/main" val="425915438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D0CFC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49F49-C197-4276-BA18-25EE446879E5}"/>
              </a:ext>
            </a:extLst>
          </p:cNvPr>
          <p:cNvSpPr>
            <a:spLocks noGrp="1"/>
          </p:cNvSpPr>
          <p:nvPr>
            <p:ph type="title"/>
          </p:nvPr>
        </p:nvSpPr>
        <p:spPr>
          <a:xfrm>
            <a:off x="831850" y="1204913"/>
            <a:ext cx="10515600" cy="2852737"/>
          </a:xfrm>
        </p:spPr>
        <p:txBody>
          <a:bodyPr anchor="b"/>
          <a:lstStyle>
            <a:lvl1pPr algn="ctr">
              <a:lnSpc>
                <a:spcPct val="100000"/>
              </a:lnSpc>
              <a:defRPr sz="6000"/>
            </a:lvl1pPr>
          </a:lstStyle>
          <a:p>
            <a:r>
              <a:rPr lang="en-US"/>
              <a:t>Click to edit Master title style</a:t>
            </a:r>
          </a:p>
        </p:txBody>
      </p:sp>
      <p:sp>
        <p:nvSpPr>
          <p:cNvPr id="3" name="Text Placeholder 2">
            <a:extLst>
              <a:ext uri="{FF2B5EF4-FFF2-40B4-BE49-F238E27FC236}">
                <a16:creationId xmlns:a16="http://schemas.microsoft.com/office/drawing/2014/main" id="{1104C747-8640-4D13-A1FA-90CDB4EBBF1D}"/>
              </a:ext>
            </a:extLst>
          </p:cNvPr>
          <p:cNvSpPr>
            <a:spLocks noGrp="1"/>
          </p:cNvSpPr>
          <p:nvPr>
            <p:ph type="body" idx="1"/>
          </p:nvPr>
        </p:nvSpPr>
        <p:spPr>
          <a:xfrm>
            <a:off x="831850" y="4000500"/>
            <a:ext cx="10515600" cy="1584326"/>
          </a:xfrm>
        </p:spPr>
        <p:txBody>
          <a:bodyPr>
            <a:normAutofit/>
          </a:bodyPr>
          <a:lstStyle>
            <a:lvl1pPr marL="0" indent="0" algn="ctr">
              <a:buNone/>
              <a:defRPr sz="3800">
                <a:solidFill>
                  <a:srgbClr val="00000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8D46D51-CC51-458D-B7F8-BB8DC09CBA9B}"/>
              </a:ext>
            </a:extLst>
          </p:cNvPr>
          <p:cNvSpPr>
            <a:spLocks noGrp="1"/>
          </p:cNvSpPr>
          <p:nvPr>
            <p:ph type="dt" sz="half" idx="10"/>
          </p:nvPr>
        </p:nvSpPr>
        <p:spPr/>
        <p:txBody>
          <a:bodyPr/>
          <a:lstStyle/>
          <a:p>
            <a:fld id="{BE2FE558-A44A-4071-89ED-CC9811DD0BF9}" type="datetime2">
              <a:rPr lang="en-US" smtClean="0"/>
              <a:t>Tuesday, October 13, 2026</a:t>
            </a:fld>
            <a:endParaRPr lang="en-US"/>
          </a:p>
        </p:txBody>
      </p:sp>
      <p:sp>
        <p:nvSpPr>
          <p:cNvPr id="5" name="Footer Placeholder 4">
            <a:extLst>
              <a:ext uri="{FF2B5EF4-FFF2-40B4-BE49-F238E27FC236}">
                <a16:creationId xmlns:a16="http://schemas.microsoft.com/office/drawing/2014/main" id="{BD7397C4-D37A-45E1-B1B8-7100D475BDA3}"/>
              </a:ext>
            </a:extLst>
          </p:cNvPr>
          <p:cNvSpPr>
            <a:spLocks noGrp="1"/>
          </p:cNvSpPr>
          <p:nvPr>
            <p:ph type="ftr" sz="quarter" idx="11"/>
          </p:nvPr>
        </p:nvSpPr>
        <p:spPr/>
        <p:txBody>
          <a:bodyPr/>
          <a:lstStyle/>
          <a:p>
            <a:r>
              <a:rPr lang="en-US" dirty="0"/>
              <a:t>Synthesis and Evaluation of Iron Pyrite for Photovoltaic Applications</a:t>
            </a:r>
          </a:p>
        </p:txBody>
      </p:sp>
      <p:sp>
        <p:nvSpPr>
          <p:cNvPr id="6" name="Slide Number Placeholder 5">
            <a:extLst>
              <a:ext uri="{FF2B5EF4-FFF2-40B4-BE49-F238E27FC236}">
                <a16:creationId xmlns:a16="http://schemas.microsoft.com/office/drawing/2014/main" id="{3393DD6E-BA6A-445E-B542-43DE3AEB0032}"/>
              </a:ext>
            </a:extLst>
          </p:cNvPr>
          <p:cNvSpPr>
            <a:spLocks noGrp="1"/>
          </p:cNvSpPr>
          <p:nvPr>
            <p:ph type="sldNum" sz="quarter" idx="12"/>
          </p:nvPr>
        </p:nvSpPr>
        <p:spPr/>
        <p:txBody>
          <a:bodyPr/>
          <a:lstStyle/>
          <a:p>
            <a:fld id="{1E68DD1B-5CD8-424B-8173-19E182143E0A}" type="slidenum">
              <a:rPr lang="en-US" smtClean="0"/>
              <a:t>‹#›</a:t>
            </a:fld>
            <a:endParaRPr lang="en-US"/>
          </a:p>
        </p:txBody>
      </p:sp>
      <p:pic>
        <p:nvPicPr>
          <p:cNvPr id="9" name="Picture 8">
            <a:extLst>
              <a:ext uri="{FF2B5EF4-FFF2-40B4-BE49-F238E27FC236}">
                <a16:creationId xmlns:a16="http://schemas.microsoft.com/office/drawing/2014/main" id="{965424D6-2475-46D6-A699-3A7CA5F8B127}"/>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83665" y="236124"/>
            <a:ext cx="1811848" cy="185303"/>
          </a:xfrm>
          <a:prstGeom prst="rect">
            <a:avLst/>
          </a:prstGeom>
        </p:spPr>
      </p:pic>
      <p:sp>
        <p:nvSpPr>
          <p:cNvPr id="10" name="TextBox 9">
            <a:extLst>
              <a:ext uri="{FF2B5EF4-FFF2-40B4-BE49-F238E27FC236}">
                <a16:creationId xmlns:a16="http://schemas.microsoft.com/office/drawing/2014/main" id="{7265327D-BC3D-4548-B6FC-FF18B53D2785}"/>
              </a:ext>
            </a:extLst>
          </p:cNvPr>
          <p:cNvSpPr txBox="1"/>
          <p:nvPr userDrawn="1"/>
        </p:nvSpPr>
        <p:spPr>
          <a:xfrm>
            <a:off x="10410824" y="203200"/>
            <a:ext cx="962025" cy="244475"/>
          </a:xfrm>
          <a:prstGeom prst="rect">
            <a:avLst/>
          </a:prstGeom>
          <a:noFill/>
        </p:spPr>
        <p:txBody>
          <a:bodyPr wrap="square" lIns="0" tIns="0" rIns="0" bIns="0" rtlCol="0" anchor="ctr" anchorCtr="0">
            <a:noAutofit/>
          </a:bodyPr>
          <a:lstStyle/>
          <a:p>
            <a:pPr algn="r"/>
            <a:r>
              <a:rPr lang="fi-FI" sz="850">
                <a:solidFill>
                  <a:schemeClr val="bg2"/>
                </a:solidFill>
              </a:rPr>
              <a:t>ku.ac.ae</a:t>
            </a:r>
            <a:endParaRPr lang="en-US" sz="850">
              <a:solidFill>
                <a:schemeClr val="bg2"/>
              </a:solidFill>
            </a:endParaRPr>
          </a:p>
        </p:txBody>
      </p:sp>
    </p:spTree>
    <p:extLst>
      <p:ext uri="{BB962C8B-B14F-4D97-AF65-F5344CB8AC3E}">
        <p14:creationId xmlns:p14="http://schemas.microsoft.com/office/powerpoint/2010/main" val="25453610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Heading Picture Backgroun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49F49-C197-4276-BA18-25EE446879E5}"/>
              </a:ext>
            </a:extLst>
          </p:cNvPr>
          <p:cNvSpPr>
            <a:spLocks noGrp="1"/>
          </p:cNvSpPr>
          <p:nvPr>
            <p:ph type="title"/>
          </p:nvPr>
        </p:nvSpPr>
        <p:spPr>
          <a:xfrm>
            <a:off x="831850" y="2106613"/>
            <a:ext cx="10515600" cy="2852737"/>
          </a:xfrm>
        </p:spPr>
        <p:txBody>
          <a:bodyPr anchor="b"/>
          <a:lstStyle>
            <a:lvl1pPr algn="ctr">
              <a:lnSpc>
                <a:spcPct val="100000"/>
              </a:lnSpc>
              <a:defRPr sz="6000">
                <a:solidFill>
                  <a:srgbClr val="FFFFFF"/>
                </a:solidFill>
              </a:defRPr>
            </a:lvl1pPr>
          </a:lstStyle>
          <a:p>
            <a:r>
              <a:rPr lang="en-US" dirty="0"/>
              <a:t>Click to edit Master title style</a:t>
            </a:r>
          </a:p>
        </p:txBody>
      </p:sp>
    </p:spTree>
    <p:extLst>
      <p:ext uri="{BB962C8B-B14F-4D97-AF65-F5344CB8AC3E}">
        <p14:creationId xmlns:p14="http://schemas.microsoft.com/office/powerpoint/2010/main" val="36582986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rgbClr val="0047BA"/>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EA79536-344B-4703-95C3-7F5AD0BFB38D}"/>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4622667" y="891158"/>
            <a:ext cx="2368684" cy="518220"/>
          </a:xfrm>
          <a:prstGeom prst="rect">
            <a:avLst/>
          </a:prstGeom>
        </p:spPr>
      </p:pic>
      <p:sp>
        <p:nvSpPr>
          <p:cNvPr id="4" name="TextBox 3">
            <a:extLst>
              <a:ext uri="{FF2B5EF4-FFF2-40B4-BE49-F238E27FC236}">
                <a16:creationId xmlns:a16="http://schemas.microsoft.com/office/drawing/2014/main" id="{AFAD5768-C7B0-4ABF-BE83-522BCD1F6FE5}"/>
              </a:ext>
            </a:extLst>
          </p:cNvPr>
          <p:cNvSpPr txBox="1"/>
          <p:nvPr userDrawn="1"/>
        </p:nvSpPr>
        <p:spPr>
          <a:xfrm>
            <a:off x="752475" y="2545809"/>
            <a:ext cx="10648950" cy="1769715"/>
          </a:xfrm>
          <a:prstGeom prst="rect">
            <a:avLst/>
          </a:prstGeom>
          <a:noFill/>
        </p:spPr>
        <p:txBody>
          <a:bodyPr wrap="square" lIns="0" tIns="0" rIns="0" bIns="0" rtlCol="0" anchor="ctr" anchorCtr="0">
            <a:spAutoFit/>
          </a:bodyPr>
          <a:lstStyle/>
          <a:p>
            <a:pPr algn="ctr"/>
            <a:r>
              <a:rPr lang="fi-FI" sz="11500" b="1" spc="-100" baseline="0" dirty="0" err="1">
                <a:solidFill>
                  <a:srgbClr val="FFFFFF"/>
                </a:solidFill>
                <a:latin typeface="+mj-lt"/>
              </a:rPr>
              <a:t>Thank</a:t>
            </a:r>
            <a:r>
              <a:rPr lang="fi-FI" sz="11500" b="1" spc="-100" baseline="0" dirty="0">
                <a:solidFill>
                  <a:srgbClr val="FFFFFF"/>
                </a:solidFill>
                <a:latin typeface="+mj-lt"/>
              </a:rPr>
              <a:t> </a:t>
            </a:r>
            <a:r>
              <a:rPr lang="fi-FI" sz="11500" b="1" spc="-100" baseline="0" dirty="0" err="1">
                <a:solidFill>
                  <a:srgbClr val="FFFFFF"/>
                </a:solidFill>
                <a:latin typeface="+mj-lt"/>
              </a:rPr>
              <a:t>You</a:t>
            </a:r>
            <a:endParaRPr lang="en-US" sz="11500" b="1" spc="-100" baseline="0" dirty="0">
              <a:solidFill>
                <a:srgbClr val="FFFFFF"/>
              </a:solidFill>
              <a:latin typeface="+mj-lt"/>
            </a:endParaRPr>
          </a:p>
        </p:txBody>
      </p:sp>
      <p:sp>
        <p:nvSpPr>
          <p:cNvPr id="13" name="TextBox 12">
            <a:extLst>
              <a:ext uri="{FF2B5EF4-FFF2-40B4-BE49-F238E27FC236}">
                <a16:creationId xmlns:a16="http://schemas.microsoft.com/office/drawing/2014/main" id="{A94333D0-73BA-48D2-AA6E-3F2C63C9CA8F}"/>
              </a:ext>
            </a:extLst>
          </p:cNvPr>
          <p:cNvSpPr txBox="1"/>
          <p:nvPr userDrawn="1"/>
        </p:nvSpPr>
        <p:spPr>
          <a:xfrm>
            <a:off x="5181601" y="6146800"/>
            <a:ext cx="1838324" cy="244475"/>
          </a:xfrm>
          <a:prstGeom prst="rect">
            <a:avLst/>
          </a:prstGeom>
          <a:noFill/>
        </p:spPr>
        <p:txBody>
          <a:bodyPr wrap="square" lIns="0" tIns="0" rIns="0" bIns="0" rtlCol="0" anchor="ctr" anchorCtr="0">
            <a:noAutofit/>
          </a:bodyPr>
          <a:lstStyle/>
          <a:p>
            <a:pPr algn="ctr"/>
            <a:r>
              <a:rPr lang="fi-FI" sz="1250" b="1">
                <a:solidFill>
                  <a:srgbClr val="FFFFFF"/>
                </a:solidFill>
              </a:rPr>
              <a:t>ku.ac.ae</a:t>
            </a:r>
            <a:endParaRPr lang="en-US" sz="1250" b="1">
              <a:solidFill>
                <a:srgbClr val="FFFFFF"/>
              </a:solidFill>
            </a:endParaRPr>
          </a:p>
        </p:txBody>
      </p:sp>
    </p:spTree>
    <p:extLst>
      <p:ext uri="{BB962C8B-B14F-4D97-AF65-F5344CB8AC3E}">
        <p14:creationId xmlns:p14="http://schemas.microsoft.com/office/powerpoint/2010/main" val="241956998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7564FE-F745-443F-8321-B0EFD169FAC6}"/>
              </a:ext>
            </a:extLst>
          </p:cNvPr>
          <p:cNvSpPr>
            <a:spLocks noGrp="1"/>
          </p:cNvSpPr>
          <p:nvPr>
            <p:ph type="title"/>
          </p:nvPr>
        </p:nvSpPr>
        <p:spPr>
          <a:xfrm>
            <a:off x="1362074" y="542925"/>
            <a:ext cx="9991725" cy="1114425"/>
          </a:xfrm>
          <a:prstGeom prst="rect">
            <a:avLst/>
          </a:prstGeom>
        </p:spPr>
        <p:txBody>
          <a:bodyPr vert="horz" lIns="0" tIns="0" rIns="0" bIns="0" rtlCol="0" anchor="b" anchorCtr="0">
            <a:normAutofit/>
          </a:bodyPr>
          <a:lstStyle/>
          <a:p>
            <a:r>
              <a:rPr lang="en-US"/>
              <a:t>Click to edit Master title style</a:t>
            </a:r>
          </a:p>
        </p:txBody>
      </p:sp>
      <p:sp>
        <p:nvSpPr>
          <p:cNvPr id="3" name="Text Placeholder 2">
            <a:extLst>
              <a:ext uri="{FF2B5EF4-FFF2-40B4-BE49-F238E27FC236}">
                <a16:creationId xmlns:a16="http://schemas.microsoft.com/office/drawing/2014/main" id="{06911581-2B37-40B3-825A-043921DFB80C}"/>
              </a:ext>
            </a:extLst>
          </p:cNvPr>
          <p:cNvSpPr>
            <a:spLocks noGrp="1"/>
          </p:cNvSpPr>
          <p:nvPr>
            <p:ph type="body" idx="1"/>
          </p:nvPr>
        </p:nvSpPr>
        <p:spPr>
          <a:xfrm>
            <a:off x="1362074" y="1866900"/>
            <a:ext cx="9991725" cy="4448175"/>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A172D0-FD25-45C4-A82E-F4094DCDE0CC}"/>
              </a:ext>
            </a:extLst>
          </p:cNvPr>
          <p:cNvSpPr>
            <a:spLocks noGrp="1"/>
          </p:cNvSpPr>
          <p:nvPr>
            <p:ph type="dt" sz="half" idx="2"/>
          </p:nvPr>
        </p:nvSpPr>
        <p:spPr>
          <a:xfrm>
            <a:off x="8086725" y="203200"/>
            <a:ext cx="1733550" cy="244475"/>
          </a:xfrm>
          <a:prstGeom prst="rect">
            <a:avLst/>
          </a:prstGeom>
        </p:spPr>
        <p:txBody>
          <a:bodyPr vert="horz" lIns="0" tIns="0" rIns="0" bIns="0" rtlCol="0" anchor="ctr"/>
          <a:lstStyle>
            <a:lvl1pPr algn="r">
              <a:defRPr sz="850">
                <a:solidFill>
                  <a:schemeClr val="bg2"/>
                </a:solidFill>
              </a:defRPr>
            </a:lvl1pPr>
          </a:lstStyle>
          <a:p>
            <a:fld id="{5E3B0699-7100-486A-9638-650B3590B671}" type="datetime2">
              <a:rPr lang="en-US" smtClean="0"/>
              <a:t>Tuesday, October 13, 2026</a:t>
            </a:fld>
            <a:endParaRPr lang="en-US" dirty="0"/>
          </a:p>
        </p:txBody>
      </p:sp>
      <p:sp>
        <p:nvSpPr>
          <p:cNvPr id="5" name="Footer Placeholder 4">
            <a:extLst>
              <a:ext uri="{FF2B5EF4-FFF2-40B4-BE49-F238E27FC236}">
                <a16:creationId xmlns:a16="http://schemas.microsoft.com/office/drawing/2014/main" id="{F5B18871-7BC3-4A13-9CC9-B9A1DB22F262}"/>
              </a:ext>
            </a:extLst>
          </p:cNvPr>
          <p:cNvSpPr>
            <a:spLocks noGrp="1"/>
          </p:cNvSpPr>
          <p:nvPr>
            <p:ph type="ftr" sz="quarter" idx="3"/>
          </p:nvPr>
        </p:nvSpPr>
        <p:spPr>
          <a:xfrm>
            <a:off x="2867025" y="203200"/>
            <a:ext cx="4114800" cy="244475"/>
          </a:xfrm>
          <a:prstGeom prst="rect">
            <a:avLst/>
          </a:prstGeom>
        </p:spPr>
        <p:txBody>
          <a:bodyPr vert="horz" lIns="0" tIns="0" rIns="0" bIns="0" rtlCol="0" anchor="ctr"/>
          <a:lstStyle>
            <a:lvl1pPr algn="ctr">
              <a:defRPr sz="850">
                <a:solidFill>
                  <a:schemeClr val="bg2"/>
                </a:solidFill>
              </a:defRPr>
            </a:lvl1pPr>
          </a:lstStyle>
          <a:p>
            <a:r>
              <a:rPr lang="en-US" dirty="0"/>
              <a:t>Synthesis and Evaluation of Iron Pyrite for Photovoltaic Applications</a:t>
            </a:r>
          </a:p>
        </p:txBody>
      </p:sp>
      <p:sp>
        <p:nvSpPr>
          <p:cNvPr id="6" name="Slide Number Placeholder 5">
            <a:extLst>
              <a:ext uri="{FF2B5EF4-FFF2-40B4-BE49-F238E27FC236}">
                <a16:creationId xmlns:a16="http://schemas.microsoft.com/office/drawing/2014/main" id="{A7EA17DA-0D3F-410F-A9AA-3171ED151327}"/>
              </a:ext>
            </a:extLst>
          </p:cNvPr>
          <p:cNvSpPr>
            <a:spLocks noGrp="1"/>
          </p:cNvSpPr>
          <p:nvPr>
            <p:ph type="sldNum" sz="quarter" idx="4"/>
          </p:nvPr>
        </p:nvSpPr>
        <p:spPr>
          <a:xfrm>
            <a:off x="11563349" y="203200"/>
            <a:ext cx="523875" cy="244475"/>
          </a:xfrm>
          <a:prstGeom prst="rect">
            <a:avLst/>
          </a:prstGeom>
        </p:spPr>
        <p:txBody>
          <a:bodyPr vert="horz" lIns="0" tIns="0" rIns="0" bIns="0" rtlCol="0" anchor="ctr"/>
          <a:lstStyle>
            <a:lvl1pPr algn="ctr">
              <a:defRPr sz="850">
                <a:solidFill>
                  <a:schemeClr val="bg2"/>
                </a:solidFill>
              </a:defRPr>
            </a:lvl1pPr>
          </a:lstStyle>
          <a:p>
            <a:fld id="{E4594ECE-BF10-44A5-B643-757A8D096D80}" type="slidenum">
              <a:rPr lang="en-US" smtClean="0"/>
              <a:pPr/>
              <a:t>‹#›</a:t>
            </a:fld>
            <a:endParaRPr lang="en-US" dirty="0"/>
          </a:p>
        </p:txBody>
      </p:sp>
      <p:sp>
        <p:nvSpPr>
          <p:cNvPr id="13" name="TextBox 12">
            <a:extLst>
              <a:ext uri="{FF2B5EF4-FFF2-40B4-BE49-F238E27FC236}">
                <a16:creationId xmlns:a16="http://schemas.microsoft.com/office/drawing/2014/main" id="{AC18493A-1FC9-483C-BC41-405831F9D965}"/>
              </a:ext>
            </a:extLst>
          </p:cNvPr>
          <p:cNvSpPr txBox="1"/>
          <p:nvPr userDrawn="1"/>
        </p:nvSpPr>
        <p:spPr>
          <a:xfrm>
            <a:off x="10410824" y="203200"/>
            <a:ext cx="962025" cy="244475"/>
          </a:xfrm>
          <a:prstGeom prst="rect">
            <a:avLst/>
          </a:prstGeom>
          <a:noFill/>
        </p:spPr>
        <p:txBody>
          <a:bodyPr wrap="square" lIns="0" tIns="0" rIns="0" bIns="0" rtlCol="0" anchor="ctr" anchorCtr="0">
            <a:noAutofit/>
          </a:bodyPr>
          <a:lstStyle/>
          <a:p>
            <a:pPr algn="r"/>
            <a:r>
              <a:rPr lang="fi-FI" sz="850">
                <a:solidFill>
                  <a:schemeClr val="bg2"/>
                </a:solidFill>
              </a:rPr>
              <a:t>ku.ac.ae</a:t>
            </a:r>
            <a:endParaRPr lang="en-US" sz="850">
              <a:solidFill>
                <a:schemeClr val="bg2"/>
              </a:solidFill>
            </a:endParaRPr>
          </a:p>
        </p:txBody>
      </p:sp>
    </p:spTree>
    <p:extLst>
      <p:ext uri="{BB962C8B-B14F-4D97-AF65-F5344CB8AC3E}">
        <p14:creationId xmlns:p14="http://schemas.microsoft.com/office/powerpoint/2010/main" val="1107456480"/>
      </p:ext>
    </p:extLst>
  </p:cSld>
  <p:clrMap bg1="lt1" tx1="dk1" bg2="lt2" tx2="dk2" accent1="accent1" accent2="accent2" accent3="accent3" accent4="accent4" accent5="accent5" accent6="accent6" hlink="hlink" folHlink="folHlink"/>
  <p:sldLayoutIdLst>
    <p:sldLayoutId id="2147483649" r:id="rId1"/>
    <p:sldLayoutId id="2147483669" r:id="rId2"/>
    <p:sldLayoutId id="2147483668" r:id="rId3"/>
    <p:sldLayoutId id="2147483650" r:id="rId4"/>
    <p:sldLayoutId id="2147483672" r:id="rId5"/>
    <p:sldLayoutId id="2147483673" r:id="rId6"/>
    <p:sldLayoutId id="2147483674" r:id="rId7"/>
    <p:sldLayoutId id="2147483675" r:id="rId8"/>
    <p:sldLayoutId id="2147483662" r:id="rId9"/>
    <p:sldLayoutId id="2147483652" r:id="rId10"/>
    <p:sldLayoutId id="2147483661" r:id="rId11"/>
    <p:sldLayoutId id="2147483663" r:id="rId12"/>
    <p:sldLayoutId id="2147483660" r:id="rId13"/>
    <p:sldLayoutId id="2147483664" r:id="rId14"/>
    <p:sldLayoutId id="2147483665" r:id="rId15"/>
    <p:sldLayoutId id="2147483654" r:id="rId16"/>
    <p:sldLayoutId id="2147483671" r:id="rId17"/>
    <p:sldLayoutId id="2147483655" r:id="rId18"/>
    <p:sldLayoutId id="2147483651" r:id="rId19"/>
    <p:sldLayoutId id="2147483666" r:id="rId20"/>
    <p:sldLayoutId id="2147483667" r:id="rId21"/>
  </p:sldLayoutIdLst>
  <p:hf hdr="0"/>
  <p:txStyles>
    <p:titleStyle>
      <a:lvl1pPr algn="l" defTabSz="914400" rtl="0" eaLnBrk="1" latinLnBrk="0" hangingPunct="1">
        <a:lnSpc>
          <a:spcPct val="100000"/>
        </a:lnSpc>
        <a:spcBef>
          <a:spcPct val="0"/>
        </a:spcBef>
        <a:buNone/>
        <a:defRPr sz="3600" b="1" kern="1200" spc="50" baseline="0">
          <a:solidFill>
            <a:schemeClr val="tx2"/>
          </a:solidFill>
          <a:latin typeface="+mj-lt"/>
          <a:ea typeface="+mj-ea"/>
          <a:cs typeface="+mj-cs"/>
        </a:defRPr>
      </a:lvl1pPr>
    </p:titleStyle>
    <p:bodyStyle>
      <a:lvl1pPr marL="180975" indent="-180975" algn="l" defTabSz="914400" rtl="0" eaLnBrk="1" latinLnBrk="0" hangingPunct="1">
        <a:lnSpc>
          <a:spcPct val="100000"/>
        </a:lnSpc>
        <a:spcBef>
          <a:spcPts val="400"/>
        </a:spcBef>
        <a:buFont typeface="Arial" panose="020B0604020202020204" pitchFamily="34" charset="0"/>
        <a:buChar char="•"/>
        <a:defRPr sz="1850" b="1" kern="1200">
          <a:solidFill>
            <a:schemeClr val="tx1"/>
          </a:solidFill>
          <a:latin typeface="+mn-lt"/>
          <a:ea typeface="+mn-ea"/>
          <a:cs typeface="+mn-cs"/>
        </a:defRPr>
      </a:lvl1pPr>
      <a:lvl2pPr marL="542925" indent="-180975" algn="l" defTabSz="914400" rtl="0" eaLnBrk="1" latinLnBrk="0" hangingPunct="1">
        <a:lnSpc>
          <a:spcPct val="100000"/>
        </a:lnSpc>
        <a:spcBef>
          <a:spcPts val="400"/>
        </a:spcBef>
        <a:buFont typeface="Arial" panose="020B0604020202020204" pitchFamily="34" charset="0"/>
        <a:buChar char="•"/>
        <a:defRPr sz="1850" kern="1200">
          <a:solidFill>
            <a:schemeClr val="tx1"/>
          </a:solidFill>
          <a:latin typeface="+mn-lt"/>
          <a:ea typeface="+mn-ea"/>
          <a:cs typeface="+mn-cs"/>
        </a:defRPr>
      </a:lvl2pPr>
      <a:lvl3pPr marL="714375" indent="-171450"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895350" indent="-180975"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4pPr>
      <a:lvl5pPr marL="1076325" indent="-180975"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3.png"/><Relationship Id="rId3"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4.png"/><Relationship Id="rId3"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5.png"/><Relationship Id="rId3"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7.png"/><Relationship Id="rId3" Type="http://schemas.openxmlformats.org/officeDocument/2006/relationships/image" Target="../media/image16.png"/><Relationship Id="rId4" Type="http://schemas.openxmlformats.org/officeDocument/2006/relationships/image" Target="../media/image21.png"/><Relationship Id="rId5"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22.png"/><Relationship Id="rId3"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chart" Target="../charts/chart1.xml"/><Relationship Id="rId3"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23.jpg"/><Relationship Id="rId3" Type="http://schemas.openxmlformats.org/officeDocument/2006/relationships/image" Target="../media/image24.jpg"/><Relationship Id="rId4" Type="http://schemas.openxmlformats.org/officeDocument/2006/relationships/image" Target="../media/image25.jpg"/><Relationship Id="rId5" Type="http://schemas.openxmlformats.org/officeDocument/2006/relationships/image" Target="../media/image26.jpg"/><Relationship Id="rId6" Type="http://schemas.openxmlformats.org/officeDocument/2006/relationships/image" Target="../media/image27.jpg"/><Relationship Id="rId7" Type="http://schemas.openxmlformats.org/officeDocument/2006/relationships/image" Target="../media/image28.jpg"/><Relationship Id="rId8"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29.png"/><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chart" Target="../charts/chart2.xml"/><Relationship Id="rId3"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chart" Target="../charts/chart3.xml"/><Relationship Id="rId3" Type="http://schemas.openxmlformats.org/officeDocument/2006/relationships/chart" Target="../charts/chart4.xml"/><Relationship Id="rId4"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chart" Target="../charts/chart5.xml"/><Relationship Id="rId3"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chart" Target="../charts/chart6.xml"/><Relationship Id="rId3" Type="http://schemas.openxmlformats.org/officeDocument/2006/relationships/chart" Target="../charts/chart7.xml"/><Relationship Id="rId4"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30.jpg"/><Relationship Id="rId3" Type="http://schemas.openxmlformats.org/officeDocument/2006/relationships/image" Target="../media/image31.jpg"/><Relationship Id="rId4" Type="http://schemas.openxmlformats.org/officeDocument/2006/relationships/image" Target="../media/image32.jpg"/><Relationship Id="rId5" Type="http://schemas.openxmlformats.org/officeDocument/2006/relationships/image" Target="../media/image33.jpg"/><Relationship Id="rId6"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34.png"/><Relationship Id="rId3"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7.png"/><Relationship Id="rId3"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7.png"/><Relationship Id="rId3"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35.png"/><Relationship Id="rId3"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36.png"/><Relationship Id="rId3"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37.png"/><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t>Can Photos Tell Us What's Wrong With a Jet Engine Blade?</a:t>
            </a:r>
          </a:p>
        </p:txBody>
      </p:sp>
      <p:sp>
        <p:nvSpPr>
          <p:cNvPr id="3" name="Subtitle 2"/>
          <p:cNvSpPr>
            <a:spLocks noGrp="1"/>
          </p:cNvSpPr>
          <p:nvPr>
            <p:ph type="subTitle" idx="1"/>
          </p:nvPr>
        </p:nvSpPr>
        <p:spPr/>
        <p:txBody>
          <a:bodyPr/>
          <a:lstStyle/>
          <a:p>
            <a:r>
              <a:t>Finding 3D Damage from Just a Few Pictures</a:t>
            </a:r>
          </a:p>
        </p:txBody>
      </p:sp>
      <p:sp>
        <p:nvSpPr>
          <p:cNvPr id="4" name="Text Placeholder 3"/>
          <p:cNvSpPr>
            <a:spLocks noGrp="1"/>
          </p:cNvSpPr>
          <p:nvPr>
            <p:ph type="body" sz="quarter" idx="10"/>
          </p:nvPr>
        </p:nvSpPr>
        <p:spPr/>
        <p:txBody>
          <a:bodyPr/>
          <a:lstStyle/>
          <a:p>
            <a:r>
              <a:t>[Your Name]  ·  October 2026</a:t>
            </a:r>
          </a:p>
        </p:txBody>
      </p:sp>
      <p:pic>
        <p:nvPicPr>
          <p:cNvPr id="6" name="Picture 5"/>
          <p:cNvPicPr>
            <a:picLocks noChangeAspect="1"/>
          </p:cNvPicPr>
          <p:nvPr/>
        </p:nvPicPr>
        <p:blipFill>
          <a:blip r:embed="rId2"/>
          <a:stretch>
            <a:fillRect/>
          </a:stretch>
        </p:blipFill>
        <p:spPr>
          <a:xfrm>
            <a:off x="9591675" y="300769"/>
            <a:ext cx="2152650" cy="2124075"/>
          </a:xfrm>
          <a:prstGeom prst="rect">
            <a:avLst/>
          </a:prstGeom>
        </p:spPr>
      </p:pic>
    </p:spTree>
    <p:extLst>
      <p:ext uri="{BB962C8B-B14F-4D97-AF65-F5344CB8AC3E}">
        <p14:creationId xmlns:p14="http://schemas.microsoft.com/office/powerpoint/2010/main" val="4213250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71600" y="4992624"/>
            <a:ext cx="9418320" cy="1316736"/>
          </a:xfrm>
          <a:prstGeom prst="rect">
            <a:avLst/>
          </a:prstGeom>
          <a:noFill/>
        </p:spPr>
        <p:txBody>
          <a:bodyPr wrap="square" anchor="t">
            <a:spAutoFit/>
          </a:bodyPr>
          <a:lstStyle/>
          <a:p>
            <a:pPr algn="ctr">
              <a:spcAft>
                <a:spcPts val="200"/>
              </a:spcAft>
            </a:pPr>
            <a:r>
              <a:rPr sz="1400" b="0">
                <a:solidFill>
                  <a:srgbClr val="FFFFFF"/>
                </a:solidFill>
              </a:rPr>
              <a:t>Paper: afeefaaazam03.github.io/3D-Jetblade/paper/BladeDelta_draft.pdf</a:t>
            </a:r>
          </a:p>
          <a:p>
            <a:pPr algn="ctr">
              <a:spcAft>
                <a:spcPts val="200"/>
              </a:spcAft>
            </a:pPr>
            <a:r>
              <a:rPr sz="1400" b="0">
                <a:solidFill>
                  <a:srgbClr val="FFFFFF"/>
                </a:solidFill>
              </a:rPr>
              <a:t>Code: github.com/afeefaaazam03/3D-Jetblade    ·    Demo: afeefaaazam03.github.io/3D-Jetblade/try.html</a:t>
            </a:r>
          </a:p>
          <a:p>
            <a:pPr algn="ctr">
              <a:spcAft>
                <a:spcPts val="200"/>
              </a:spcAft>
            </a:pPr>
            <a:r>
              <a:rPr sz="1400" b="0">
                <a:solidFill>
                  <a:srgbClr val="FFFFFF"/>
                </a:solidFill>
              </a:rPr>
              <a:t>Contact: [Your Email]</a:t>
            </a:r>
          </a:p>
        </p:txBody>
      </p:sp>
    </p:spTree>
    <p:extLst>
      <p:ext uri="{BB962C8B-B14F-4D97-AF65-F5344CB8AC3E}">
        <p14:creationId xmlns:p14="http://schemas.microsoft.com/office/powerpoint/2010/main" val="3493193385"/>
      </p:ext>
    </p:extLst>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The Problem</a:t>
            </a:r>
          </a:p>
        </p:txBody>
      </p:sp>
      <p:sp>
        <p:nvSpPr>
          <p:cNvPr id="3" name="TextBox 2"/>
          <p:cNvSpPr txBox="1"/>
          <p:nvPr/>
        </p:nvSpPr>
        <p:spPr>
          <a:xfrm>
            <a:off x="548640" y="2029968"/>
            <a:ext cx="5760720" cy="2880360"/>
          </a:xfrm>
          <a:prstGeom prst="rect">
            <a:avLst/>
          </a:prstGeom>
          <a:noFill/>
        </p:spPr>
        <p:txBody>
          <a:bodyPr wrap="square" anchor="t">
            <a:spAutoFit/>
          </a:bodyPr>
          <a:lstStyle/>
          <a:p>
            <a:pPr algn="l">
              <a:spcAft>
                <a:spcPts val="800"/>
              </a:spcAft>
            </a:pPr>
            <a:r>
              <a:rPr sz="2400" b="0">
                <a:solidFill>
                  <a:srgbClr val="1F2937"/>
                </a:solidFill>
              </a:rPr>
              <a:t>•  Jet engine blades need regular inspection</a:t>
            </a:r>
          </a:p>
          <a:p>
            <a:pPr algn="l">
              <a:spcAft>
                <a:spcPts val="800"/>
              </a:spcAft>
            </a:pPr>
            <a:r>
              <a:rPr sz="2400" b="0">
                <a:solidFill>
                  <a:srgbClr val="1F2937"/>
                </a:solidFill>
              </a:rPr>
              <a:t>•  Inspectors look at photos and write reports</a:t>
            </a:r>
          </a:p>
          <a:p>
            <a:pPr algn="l">
              <a:spcAft>
                <a:spcPts val="800"/>
              </a:spcAft>
            </a:pPr>
            <a:r>
              <a:rPr sz="2400" b="0">
                <a:solidFill>
                  <a:srgbClr val="1F2937"/>
                </a:solidFill>
              </a:rPr>
              <a:t>•  But a dark spot in a photo could be many things</a:t>
            </a:r>
          </a:p>
        </p:txBody>
      </p:sp>
      <p:pic>
        <p:nvPicPr>
          <p:cNvPr id="4" name="Picture 3" descr="s2_whatisthis.png"/>
          <p:cNvPicPr>
            <a:picLocks noChangeAspect="1"/>
          </p:cNvPicPr>
          <p:nvPr/>
        </p:nvPicPr>
        <p:blipFill>
          <a:blip r:embed="rId2"/>
          <a:stretch>
            <a:fillRect/>
          </a:stretch>
        </p:blipFill>
        <p:spPr>
          <a:xfrm>
            <a:off x="7500322" y="1783080"/>
            <a:ext cx="3378794" cy="4608576"/>
          </a:xfrm>
          <a:prstGeom prst="rect">
            <a:avLst/>
          </a:prstGeom>
        </p:spPr>
      </p:pic>
      <p:sp>
        <p:nvSpPr>
          <p:cNvPr id="5" name="Rounded Rectangle 4"/>
          <p:cNvSpPr/>
          <p:nvPr/>
        </p:nvSpPr>
        <p:spPr>
          <a:xfrm>
            <a:off x="9052560" y="1906524"/>
            <a:ext cx="2377440" cy="534924"/>
          </a:xfrm>
          <a:prstGeom prst="round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E8B000"/>
                </a:solidFill>
              </a:rPr>
              <a:t>What is this?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What Could a Dark Spot Be?</a:t>
            </a:r>
          </a:p>
        </p:txBody>
      </p:sp>
      <p:pic>
        <p:nvPicPr>
          <p:cNvPr id="3" name="Picture 2" descr="s3_spot.png"/>
          <p:cNvPicPr>
            <a:picLocks noChangeAspect="1"/>
          </p:cNvPicPr>
          <p:nvPr/>
        </p:nvPicPr>
        <p:blipFill>
          <a:blip r:embed="rId2"/>
          <a:stretch>
            <a:fillRect/>
          </a:stretch>
        </p:blipFill>
        <p:spPr>
          <a:xfrm>
            <a:off x="676655" y="1947672"/>
            <a:ext cx="2304288" cy="2304288"/>
          </a:xfrm>
          <a:prstGeom prst="rect">
            <a:avLst/>
          </a:prstGeom>
        </p:spPr>
      </p:pic>
      <p:sp>
        <p:nvSpPr>
          <p:cNvPr id="4" name="Rounded Rectangle 3"/>
          <p:cNvSpPr/>
          <p:nvPr/>
        </p:nvSpPr>
        <p:spPr>
          <a:xfrm>
            <a:off x="548640" y="4375404"/>
            <a:ext cx="2560320" cy="576072"/>
          </a:xfrm>
          <a:prstGeom prst="round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rPr>
              <a:t>DENT</a:t>
            </a:r>
          </a:p>
        </p:txBody>
      </p:sp>
      <p:sp>
        <p:nvSpPr>
          <p:cNvPr id="5" name="TextBox 4"/>
          <p:cNvSpPr txBox="1"/>
          <p:nvPr/>
        </p:nvSpPr>
        <p:spPr>
          <a:xfrm>
            <a:off x="548640" y="5033772"/>
            <a:ext cx="2560320" cy="658368"/>
          </a:xfrm>
          <a:prstGeom prst="rect">
            <a:avLst/>
          </a:prstGeom>
          <a:noFill/>
        </p:spPr>
        <p:txBody>
          <a:bodyPr wrap="square" anchor="t">
            <a:spAutoFit/>
          </a:bodyPr>
          <a:lstStyle/>
          <a:p>
            <a:pPr algn="ctr">
              <a:spcAft>
                <a:spcPts val="200"/>
              </a:spcAft>
            </a:pPr>
            <a:r>
              <a:rPr sz="1600" b="0">
                <a:solidFill>
                  <a:srgbClr val="5A6577"/>
                </a:solidFill>
              </a:rPr>
              <a:t>pushed-in metal: real damage</a:t>
            </a:r>
          </a:p>
        </p:txBody>
      </p:sp>
      <p:pic>
        <p:nvPicPr>
          <p:cNvPr id="6" name="Picture 5" descr="s3_spot.png"/>
          <p:cNvPicPr>
            <a:picLocks noChangeAspect="1"/>
          </p:cNvPicPr>
          <p:nvPr/>
        </p:nvPicPr>
        <p:blipFill>
          <a:blip r:embed="rId2"/>
          <a:stretch>
            <a:fillRect/>
          </a:stretch>
        </p:blipFill>
        <p:spPr>
          <a:xfrm>
            <a:off x="3511296" y="1947672"/>
            <a:ext cx="2304288" cy="2304288"/>
          </a:xfrm>
          <a:prstGeom prst="rect">
            <a:avLst/>
          </a:prstGeom>
        </p:spPr>
      </p:pic>
      <p:sp>
        <p:nvSpPr>
          <p:cNvPr id="7" name="Rounded Rectangle 6"/>
          <p:cNvSpPr/>
          <p:nvPr/>
        </p:nvSpPr>
        <p:spPr>
          <a:xfrm>
            <a:off x="3383280" y="4375404"/>
            <a:ext cx="2560320" cy="576072"/>
          </a:xfrm>
          <a:prstGeom prst="round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rPr>
              <a:t>STAIN</a:t>
            </a:r>
          </a:p>
        </p:txBody>
      </p:sp>
      <p:sp>
        <p:nvSpPr>
          <p:cNvPr id="8" name="TextBox 7"/>
          <p:cNvSpPr txBox="1"/>
          <p:nvPr/>
        </p:nvSpPr>
        <p:spPr>
          <a:xfrm>
            <a:off x="3383280" y="5033772"/>
            <a:ext cx="2560320" cy="658368"/>
          </a:xfrm>
          <a:prstGeom prst="rect">
            <a:avLst/>
          </a:prstGeom>
          <a:noFill/>
        </p:spPr>
        <p:txBody>
          <a:bodyPr wrap="square" anchor="t">
            <a:spAutoFit/>
          </a:bodyPr>
          <a:lstStyle/>
          <a:p>
            <a:pPr algn="ctr">
              <a:spcAft>
                <a:spcPts val="200"/>
              </a:spcAft>
            </a:pPr>
            <a:r>
              <a:rPr sz="1600" b="0">
                <a:solidFill>
                  <a:srgbClr val="5A6577"/>
                </a:solidFill>
              </a:rPr>
              <a:t>only the colour changed</a:t>
            </a:r>
          </a:p>
        </p:txBody>
      </p:sp>
      <p:pic>
        <p:nvPicPr>
          <p:cNvPr id="9" name="Picture 8" descr="s3_spot.png"/>
          <p:cNvPicPr>
            <a:picLocks noChangeAspect="1"/>
          </p:cNvPicPr>
          <p:nvPr/>
        </p:nvPicPr>
        <p:blipFill>
          <a:blip r:embed="rId2"/>
          <a:stretch>
            <a:fillRect/>
          </a:stretch>
        </p:blipFill>
        <p:spPr>
          <a:xfrm>
            <a:off x="6345936" y="1947672"/>
            <a:ext cx="2304288" cy="2304288"/>
          </a:xfrm>
          <a:prstGeom prst="rect">
            <a:avLst/>
          </a:prstGeom>
        </p:spPr>
      </p:pic>
      <p:sp>
        <p:nvSpPr>
          <p:cNvPr id="10" name="Rounded Rectangle 9"/>
          <p:cNvSpPr/>
          <p:nvPr/>
        </p:nvSpPr>
        <p:spPr>
          <a:xfrm>
            <a:off x="6217920" y="4375404"/>
            <a:ext cx="2560320" cy="576072"/>
          </a:xfrm>
          <a:prstGeom prst="roundRect">
            <a:avLst/>
          </a:prstGeom>
          <a:solidFill>
            <a:srgbClr val="E8B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rPr>
              <a:t>LIGHTING</a:t>
            </a:r>
          </a:p>
        </p:txBody>
      </p:sp>
      <p:sp>
        <p:nvSpPr>
          <p:cNvPr id="11" name="TextBox 10"/>
          <p:cNvSpPr txBox="1"/>
          <p:nvPr/>
        </p:nvSpPr>
        <p:spPr>
          <a:xfrm>
            <a:off x="6217920" y="5033772"/>
            <a:ext cx="2560320" cy="658368"/>
          </a:xfrm>
          <a:prstGeom prst="rect">
            <a:avLst/>
          </a:prstGeom>
          <a:noFill/>
        </p:spPr>
        <p:txBody>
          <a:bodyPr wrap="square" anchor="t">
            <a:spAutoFit/>
          </a:bodyPr>
          <a:lstStyle/>
          <a:p>
            <a:pPr algn="ctr">
              <a:spcAft>
                <a:spcPts val="200"/>
              </a:spcAft>
            </a:pPr>
            <a:r>
              <a:rPr sz="1600" b="0">
                <a:solidFill>
                  <a:srgbClr val="5A6577"/>
                </a:solidFill>
              </a:rPr>
              <a:t>a lamp brighter or dimmer</a:t>
            </a:r>
          </a:p>
        </p:txBody>
      </p:sp>
      <p:pic>
        <p:nvPicPr>
          <p:cNvPr id="12" name="Picture 11" descr="s3_spot.png"/>
          <p:cNvPicPr>
            <a:picLocks noChangeAspect="1"/>
          </p:cNvPicPr>
          <p:nvPr/>
        </p:nvPicPr>
        <p:blipFill>
          <a:blip r:embed="rId2"/>
          <a:stretch>
            <a:fillRect/>
          </a:stretch>
        </p:blipFill>
        <p:spPr>
          <a:xfrm>
            <a:off x="9180576" y="1947672"/>
            <a:ext cx="2304288" cy="2304288"/>
          </a:xfrm>
          <a:prstGeom prst="rect">
            <a:avLst/>
          </a:prstGeom>
        </p:spPr>
      </p:pic>
      <p:sp>
        <p:nvSpPr>
          <p:cNvPr id="13" name="Rounded Rectangle 12"/>
          <p:cNvSpPr/>
          <p:nvPr/>
        </p:nvSpPr>
        <p:spPr>
          <a:xfrm>
            <a:off x="9052560" y="4375404"/>
            <a:ext cx="2560320" cy="576072"/>
          </a:xfrm>
          <a:prstGeom prst="roundRect">
            <a:avLst/>
          </a:prstGeom>
          <a:solidFill>
            <a:srgbClr val="0047B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rPr>
              <a:t>CAMERA ERROR</a:t>
            </a:r>
          </a:p>
        </p:txBody>
      </p:sp>
      <p:sp>
        <p:nvSpPr>
          <p:cNvPr id="14" name="TextBox 13"/>
          <p:cNvSpPr txBox="1"/>
          <p:nvPr/>
        </p:nvSpPr>
        <p:spPr>
          <a:xfrm>
            <a:off x="9052560" y="5033772"/>
            <a:ext cx="2560320" cy="658368"/>
          </a:xfrm>
          <a:prstGeom prst="rect">
            <a:avLst/>
          </a:prstGeom>
          <a:noFill/>
        </p:spPr>
        <p:txBody>
          <a:bodyPr wrap="square" anchor="t">
            <a:spAutoFit/>
          </a:bodyPr>
          <a:lstStyle/>
          <a:p>
            <a:pPr algn="ctr">
              <a:spcAft>
                <a:spcPts val="200"/>
              </a:spcAft>
            </a:pPr>
            <a:r>
              <a:rPr sz="1600" b="0">
                <a:solidFill>
                  <a:srgbClr val="5A6577"/>
                </a:solidFill>
              </a:rPr>
              <a:t>the camera moved 1°</a:t>
            </a:r>
          </a:p>
        </p:txBody>
      </p:sp>
      <p:sp>
        <p:nvSpPr>
          <p:cNvPr id="15" name="TextBox 14"/>
          <p:cNvSpPr txBox="1"/>
          <p:nvPr/>
        </p:nvSpPr>
        <p:spPr>
          <a:xfrm>
            <a:off x="548640" y="5856731"/>
            <a:ext cx="11064240" cy="493776"/>
          </a:xfrm>
          <a:prstGeom prst="rect">
            <a:avLst/>
          </a:prstGeom>
          <a:noFill/>
        </p:spPr>
        <p:txBody>
          <a:bodyPr wrap="square" anchor="t">
            <a:spAutoFit/>
          </a:bodyPr>
          <a:lstStyle/>
          <a:p>
            <a:pPr algn="ctr">
              <a:spcAft>
                <a:spcPts val="200"/>
              </a:spcAft>
            </a:pPr>
            <a:r>
              <a:rPr sz="2400" b="1">
                <a:solidFill>
                  <a:srgbClr val="0047BB"/>
                </a:solidFill>
              </a:rPr>
              <a:t>In a photo, all four can look almost exactly the same.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Why This Is Hard</a:t>
            </a:r>
          </a:p>
        </p:txBody>
      </p:sp>
      <p:sp>
        <p:nvSpPr>
          <p:cNvPr id="3" name="TextBox 2"/>
          <p:cNvSpPr txBox="1"/>
          <p:nvPr/>
        </p:nvSpPr>
        <p:spPr>
          <a:xfrm>
            <a:off x="548640" y="2029968"/>
            <a:ext cx="4937760" cy="3703320"/>
          </a:xfrm>
          <a:prstGeom prst="rect">
            <a:avLst/>
          </a:prstGeom>
          <a:noFill/>
        </p:spPr>
        <p:txBody>
          <a:bodyPr wrap="square" anchor="t">
            <a:spAutoFit/>
          </a:bodyPr>
          <a:lstStyle/>
          <a:p>
            <a:pPr algn="l">
              <a:spcAft>
                <a:spcPts val="800"/>
              </a:spcAft>
            </a:pPr>
            <a:r>
              <a:rPr sz="2200" b="0">
                <a:solidFill>
                  <a:srgbClr val="1F2937"/>
                </a:solidFill>
              </a:rPr>
              <a:t>•  A dent is a 3D shape change</a:t>
            </a:r>
          </a:p>
          <a:p>
            <a:pPr algn="l">
              <a:spcAft>
                <a:spcPts val="800"/>
              </a:spcAft>
            </a:pPr>
            <a:r>
              <a:rPr sz="2200" b="0">
                <a:solidFill>
                  <a:srgbClr val="1F2937"/>
                </a:solidFill>
              </a:rPr>
              <a:t>•  A stain is just a colour change</a:t>
            </a:r>
          </a:p>
          <a:p>
            <a:pPr algn="l">
              <a:spcAft>
                <a:spcPts val="800"/>
              </a:spcAft>
            </a:pPr>
            <a:r>
              <a:rPr sz="2200" b="0">
                <a:solidFill>
                  <a:srgbClr val="1F2937"/>
                </a:solidFill>
              </a:rPr>
              <a:t>•  A lighting artifact is a shadow or glare</a:t>
            </a:r>
          </a:p>
          <a:p>
            <a:pPr algn="l">
              <a:spcAft>
                <a:spcPts val="800"/>
              </a:spcAft>
            </a:pPr>
            <a:r>
              <a:rPr sz="2200" b="0">
                <a:solidFill>
                  <a:srgbClr val="1F2937"/>
                </a:solidFill>
              </a:rPr>
              <a:t>•  A camera error is a small shift</a:t>
            </a:r>
          </a:p>
          <a:p>
            <a:pPr algn="l">
              <a:spcAft>
                <a:spcPts val="800"/>
              </a:spcAft>
            </a:pPr>
            <a:r>
              <a:rPr sz="2200" b="0">
                <a:solidFill>
                  <a:srgbClr val="1F2937"/>
                </a:solidFill>
              </a:rPr>
              <a:t>•  A 0.1 mm dent changes the photo by only a few grey levels</a:t>
            </a:r>
          </a:p>
        </p:txBody>
      </p:sp>
      <p:pic>
        <p:nvPicPr>
          <p:cNvPr id="4" name="Picture 3" descr="s4_causes.png"/>
          <p:cNvPicPr>
            <a:picLocks noChangeAspect="1"/>
          </p:cNvPicPr>
          <p:nvPr/>
        </p:nvPicPr>
        <p:blipFill>
          <a:blip r:embed="rId2"/>
          <a:stretch>
            <a:fillRect/>
          </a:stretch>
        </p:blipFill>
        <p:spPr>
          <a:xfrm>
            <a:off x="5669280" y="2208276"/>
            <a:ext cx="6035040" cy="3922775"/>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Our Idea: Evidence-Bounded 3D Damage Estimation</a:t>
            </a:r>
          </a:p>
        </p:txBody>
      </p:sp>
      <p:sp>
        <p:nvSpPr>
          <p:cNvPr id="3" name="TextBox 2"/>
          <p:cNvSpPr txBox="1"/>
          <p:nvPr/>
        </p:nvSpPr>
        <p:spPr>
          <a:xfrm>
            <a:off x="548640" y="1906524"/>
            <a:ext cx="10972800" cy="987552"/>
          </a:xfrm>
          <a:prstGeom prst="rect">
            <a:avLst/>
          </a:prstGeom>
          <a:noFill/>
        </p:spPr>
        <p:txBody>
          <a:bodyPr wrap="square" anchor="t">
            <a:spAutoFit/>
          </a:bodyPr>
          <a:lstStyle/>
          <a:p>
            <a:pPr algn="l">
              <a:spcAft>
                <a:spcPts val="200"/>
              </a:spcAft>
            </a:pPr>
            <a:r>
              <a:rPr sz="2000" b="0">
                <a:solidFill>
                  <a:srgbClr val="5A6577"/>
                </a:solidFill>
              </a:rPr>
              <a:t>Given a healthy CAD model + a few photos, find physical damage in 3D,</a:t>
            </a:r>
          </a:p>
          <a:p>
            <a:pPr algn="l">
              <a:spcAft>
                <a:spcPts val="200"/>
              </a:spcAft>
            </a:pPr>
            <a:r>
              <a:rPr sz="2000" b="0">
                <a:solidFill>
                  <a:srgbClr val="5A6577"/>
                </a:solidFill>
              </a:rPr>
              <a:t>but only when the photos actually prove it. If not sure, say "not enough evidence".</a:t>
            </a:r>
          </a:p>
        </p:txBody>
      </p:sp>
      <p:pic>
        <p:nvPicPr>
          <p:cNvPr id="4" name="Picture 3" descr="s8_healthy.png"/>
          <p:cNvPicPr>
            <a:picLocks noChangeAspect="1"/>
          </p:cNvPicPr>
          <p:nvPr/>
        </p:nvPicPr>
        <p:blipFill>
          <a:blip r:embed="rId2"/>
          <a:stretch>
            <a:fillRect/>
          </a:stretch>
        </p:blipFill>
        <p:spPr>
          <a:xfrm>
            <a:off x="632957" y="3099816"/>
            <a:ext cx="1568725" cy="2139696"/>
          </a:xfrm>
          <a:prstGeom prst="rect">
            <a:avLst/>
          </a:prstGeom>
        </p:spPr>
      </p:pic>
      <p:pic>
        <p:nvPicPr>
          <p:cNvPr id="5" name="Picture 4" descr="s8_photo.png"/>
          <p:cNvPicPr>
            <a:picLocks noChangeAspect="1"/>
          </p:cNvPicPr>
          <p:nvPr/>
        </p:nvPicPr>
        <p:blipFill>
          <a:blip r:embed="rId3"/>
          <a:stretch>
            <a:fillRect/>
          </a:stretch>
        </p:blipFill>
        <p:spPr>
          <a:xfrm>
            <a:off x="2461757" y="3099816"/>
            <a:ext cx="1568725" cy="2139696"/>
          </a:xfrm>
          <a:prstGeom prst="rect">
            <a:avLst/>
          </a:prstGeom>
        </p:spPr>
      </p:pic>
      <p:sp>
        <p:nvSpPr>
          <p:cNvPr id="6" name="TextBox 5"/>
          <p:cNvSpPr txBox="1"/>
          <p:nvPr/>
        </p:nvSpPr>
        <p:spPr>
          <a:xfrm>
            <a:off x="548640" y="5280660"/>
            <a:ext cx="3566160" cy="411480"/>
          </a:xfrm>
          <a:prstGeom prst="rect">
            <a:avLst/>
          </a:prstGeom>
          <a:noFill/>
        </p:spPr>
        <p:txBody>
          <a:bodyPr wrap="square" anchor="t">
            <a:spAutoFit/>
          </a:bodyPr>
          <a:lstStyle/>
          <a:p>
            <a:pPr algn="ctr">
              <a:spcAft>
                <a:spcPts val="200"/>
              </a:spcAft>
            </a:pPr>
            <a:r>
              <a:rPr sz="1600" b="0">
                <a:solidFill>
                  <a:srgbClr val="5A6577"/>
                </a:solidFill>
              </a:rPr>
              <a:t>healthy CAD   +   photos</a:t>
            </a:r>
          </a:p>
        </p:txBody>
      </p:sp>
      <p:sp>
        <p:nvSpPr>
          <p:cNvPr id="7" name="Right Arrow 6"/>
          <p:cNvSpPr/>
          <p:nvPr/>
        </p:nvSpPr>
        <p:spPr>
          <a:xfrm>
            <a:off x="4297680" y="4005072"/>
            <a:ext cx="548640" cy="329184"/>
          </a:xfrm>
          <a:prstGeom prst="rightArrow">
            <a:avLst/>
          </a:prstGeom>
          <a:solidFill>
            <a:srgbClr val="5A65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0" y="3346704"/>
            <a:ext cx="2651760" cy="1645920"/>
          </a:xfrm>
          <a:prstGeom prst="roundRect">
            <a:avLst/>
          </a:prstGeom>
          <a:solidFill>
            <a:srgbClr val="0047B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rPr>
              <a:t>Compare two</a:t>
            </a:r>
          </a:p>
          <a:p>
            <a:pPr algn="ctr"/>
            <a:r>
              <a:rPr sz="1600" b="0">
                <a:solidFill>
                  <a:srgbClr val="FFFFFF"/>
                </a:solidFill>
              </a:rPr>
              <a:t>explanations</a:t>
            </a:r>
          </a:p>
          <a:p>
            <a:pPr algn="ctr"/>
            <a:r>
              <a:rPr sz="1600" b="0">
                <a:solidFill>
                  <a:srgbClr val="FFFFFF"/>
                </a:solidFill>
              </a:rPr>
              <a:t>"nothing broke"</a:t>
            </a:r>
          </a:p>
          <a:p>
            <a:pPr algn="ctr"/>
            <a:r>
              <a:rPr sz="1600" b="0">
                <a:solidFill>
                  <a:srgbClr val="FFFFFF"/>
                </a:solidFill>
              </a:rPr>
              <a:t>vs "plus a dent"</a:t>
            </a:r>
          </a:p>
        </p:txBody>
      </p:sp>
      <p:sp>
        <p:nvSpPr>
          <p:cNvPr id="9" name="Right Arrow 8"/>
          <p:cNvSpPr/>
          <p:nvPr/>
        </p:nvSpPr>
        <p:spPr>
          <a:xfrm>
            <a:off x="7863840" y="3552444"/>
            <a:ext cx="548640" cy="329184"/>
          </a:xfrm>
          <a:prstGeom prst="rightArrow">
            <a:avLst/>
          </a:prstGeom>
          <a:solidFill>
            <a:srgbClr val="5A65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7863840" y="4704588"/>
            <a:ext cx="548640" cy="329184"/>
          </a:xfrm>
          <a:prstGeom prst="rightArrow">
            <a:avLst/>
          </a:prstGeom>
          <a:solidFill>
            <a:srgbClr val="5A65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595360" y="3017520"/>
            <a:ext cx="3108960" cy="1028700"/>
          </a:xfrm>
          <a:prstGeom prst="roundRect">
            <a:avLst/>
          </a:pr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rPr>
              <a:t>DAMAGE FOUND</a:t>
            </a:r>
          </a:p>
          <a:p>
            <a:pPr algn="ctr"/>
            <a:r>
              <a:rPr sz="1800" b="0">
                <a:solidFill>
                  <a:srgbClr val="FFFFFF"/>
                </a:solidFill>
              </a:rPr>
              <a:t>0.35 mm deep, here</a:t>
            </a:r>
          </a:p>
        </p:txBody>
      </p:sp>
      <p:sp>
        <p:nvSpPr>
          <p:cNvPr id="12" name="Rounded Rectangle 11"/>
          <p:cNvSpPr/>
          <p:nvPr/>
        </p:nvSpPr>
        <p:spPr>
          <a:xfrm>
            <a:off x="8595360" y="4375404"/>
            <a:ext cx="3108960" cy="1028700"/>
          </a:xfrm>
          <a:prstGeom prst="round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rPr>
              <a:t>NOT ENOUGH</a:t>
            </a:r>
          </a:p>
          <a:p>
            <a:pPr algn="ctr"/>
            <a:r>
              <a:rPr sz="1800" b="0">
                <a:solidFill>
                  <a:srgbClr val="FFFFFF"/>
                </a:solidFill>
              </a:rPr>
              <a:t>EVIDENCE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How It Works</a:t>
            </a:r>
          </a:p>
        </p:txBody>
      </p:sp>
      <p:sp>
        <p:nvSpPr>
          <p:cNvPr id="3" name="Rounded Rectangle 2"/>
          <p:cNvSpPr/>
          <p:nvPr/>
        </p:nvSpPr>
        <p:spPr>
          <a:xfrm>
            <a:off x="457200" y="2441448"/>
            <a:ext cx="2468880" cy="1810512"/>
          </a:xfrm>
          <a:prstGeom prst="roundRect">
            <a:avLst/>
          </a:prstGeom>
          <a:solidFill>
            <a:srgbClr val="0047B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rPr>
              <a:t>1. Explain without damage</a:t>
            </a:r>
          </a:p>
          <a:p>
            <a:pPr algn="ctr"/>
            <a:r>
              <a:rPr sz="1700" b="0">
                <a:solidFill>
                  <a:srgbClr val="FFFFFF"/>
                </a:solidFill>
              </a:rPr>
              <a:t>camera · light · stain</a:t>
            </a:r>
          </a:p>
        </p:txBody>
      </p:sp>
      <p:sp>
        <p:nvSpPr>
          <p:cNvPr id="4" name="Right Arrow 3"/>
          <p:cNvSpPr/>
          <p:nvPr/>
        </p:nvSpPr>
        <p:spPr>
          <a:xfrm>
            <a:off x="2944368" y="3182112"/>
            <a:ext cx="411480" cy="329184"/>
          </a:xfrm>
          <a:prstGeom prst="rightArrow">
            <a:avLst/>
          </a:prstGeom>
          <a:solidFill>
            <a:srgbClr val="5A65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383280" y="2441448"/>
            <a:ext cx="2468880" cy="1810512"/>
          </a:xfrm>
          <a:prstGeom prst="round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rPr>
              <a:t>2. Find suspicious regions</a:t>
            </a:r>
          </a:p>
          <a:p>
            <a:pPr algn="ctr"/>
            <a:r>
              <a:rPr sz="1700" b="0">
                <a:solidFill>
                  <a:srgbClr val="FFFFFF"/>
                </a:solidFill>
              </a:rPr>
              <a:t>quick check of the whole surface</a:t>
            </a:r>
          </a:p>
        </p:txBody>
      </p:sp>
      <p:sp>
        <p:nvSpPr>
          <p:cNvPr id="6" name="Right Arrow 5"/>
          <p:cNvSpPr/>
          <p:nvPr/>
        </p:nvSpPr>
        <p:spPr>
          <a:xfrm>
            <a:off x="5870448" y="3182112"/>
            <a:ext cx="411480" cy="329184"/>
          </a:xfrm>
          <a:prstGeom prst="rightArrow">
            <a:avLst/>
          </a:prstGeom>
          <a:solidFill>
            <a:srgbClr val="5A65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309360" y="2441448"/>
            <a:ext cx="2468880" cy="1810512"/>
          </a:xfrm>
          <a:prstGeom prst="round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rPr>
              <a:t>3. Estimate 3D shape</a:t>
            </a:r>
          </a:p>
          <a:p>
            <a:pPr algn="ctr"/>
            <a:r>
              <a:rPr sz="1700" b="0">
                <a:solidFill>
                  <a:srgbClr val="FFFFFF"/>
                </a:solidFill>
              </a:rPr>
              <a:t>fit a smooth dent</a:t>
            </a:r>
          </a:p>
        </p:txBody>
      </p:sp>
      <p:sp>
        <p:nvSpPr>
          <p:cNvPr id="8" name="Right Arrow 7"/>
          <p:cNvSpPr/>
          <p:nvPr/>
        </p:nvSpPr>
        <p:spPr>
          <a:xfrm>
            <a:off x="8796528" y="3182112"/>
            <a:ext cx="411480" cy="329184"/>
          </a:xfrm>
          <a:prstGeom prst="rightArrow">
            <a:avLst/>
          </a:prstGeom>
          <a:solidFill>
            <a:srgbClr val="5A65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235440" y="2441448"/>
            <a:ext cx="2468880" cy="1810512"/>
          </a:xfrm>
          <a:prstGeom prst="roundRect">
            <a:avLst/>
          </a:pr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rPr>
              <a:t>4. Test the evidence</a:t>
            </a:r>
          </a:p>
          <a:p>
            <a:pPr algn="ctr"/>
            <a:r>
              <a:rPr sz="1700" b="0">
                <a:solidFill>
                  <a:srgbClr val="FFFFFF"/>
                </a:solidFill>
              </a:rPr>
              <a:t>beat a calibrated threshold?</a:t>
            </a:r>
          </a:p>
        </p:txBody>
      </p:sp>
      <p:sp>
        <p:nvSpPr>
          <p:cNvPr id="10" name="Rounded Rectangle 9"/>
          <p:cNvSpPr/>
          <p:nvPr/>
        </p:nvSpPr>
        <p:spPr>
          <a:xfrm>
            <a:off x="457200" y="4745736"/>
            <a:ext cx="11247120" cy="740664"/>
          </a:xfrm>
          <a:prstGeom prst="round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0">
                <a:solidFill>
                  <a:srgbClr val="1F2937"/>
                </a:solidFill>
              </a:rPr>
              <a:t>If the evidence is strong → report the dent.   If it is weak → abstain ("not supported").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System Architecture</a:t>
            </a:r>
          </a:p>
        </p:txBody>
      </p:sp>
      <p:sp>
        <p:nvSpPr>
          <p:cNvPr id="3" name="TextBox 2"/>
          <p:cNvSpPr txBox="1"/>
          <p:nvPr/>
        </p:nvSpPr>
        <p:spPr>
          <a:xfrm>
            <a:off x="365760" y="1741932"/>
            <a:ext cx="2743200" cy="329184"/>
          </a:xfrm>
          <a:prstGeom prst="rect">
            <a:avLst/>
          </a:prstGeom>
          <a:noFill/>
        </p:spPr>
        <p:txBody>
          <a:bodyPr wrap="square" anchor="t">
            <a:spAutoFit/>
          </a:bodyPr>
          <a:lstStyle/>
          <a:p>
            <a:pPr algn="l">
              <a:spcAft>
                <a:spcPts val="200"/>
              </a:spcAft>
            </a:pPr>
            <a:r>
              <a:rPr sz="1400" b="1">
                <a:solidFill>
                  <a:srgbClr val="5A6577"/>
                </a:solidFill>
              </a:rPr>
              <a:t>OFFLINE (once)</a:t>
            </a:r>
          </a:p>
        </p:txBody>
      </p:sp>
      <p:sp>
        <p:nvSpPr>
          <p:cNvPr id="4" name="Rounded Rectangle 3"/>
          <p:cNvSpPr/>
          <p:nvPr/>
        </p:nvSpPr>
        <p:spPr>
          <a:xfrm>
            <a:off x="365760" y="2071116"/>
            <a:ext cx="2514600" cy="822960"/>
          </a:xfrm>
          <a:prstGeom prst="roundRect">
            <a:avLst/>
          </a:prstGeom>
          <a:solidFill>
            <a:srgbClr val="5A65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rPr>
              <a:t>Blade CAD + synthetic damage</a:t>
            </a:r>
          </a:p>
          <a:p>
            <a:pPr algn="ctr"/>
            <a:r>
              <a:rPr sz="1300" b="0">
                <a:solidFill>
                  <a:srgbClr val="FFFFFF"/>
                </a:solidFill>
              </a:rPr>
              <a:t>Blender renders</a:t>
            </a:r>
          </a:p>
        </p:txBody>
      </p:sp>
      <p:sp>
        <p:nvSpPr>
          <p:cNvPr id="5" name="Right Arrow 4"/>
          <p:cNvSpPr/>
          <p:nvPr/>
        </p:nvSpPr>
        <p:spPr>
          <a:xfrm>
            <a:off x="2907791" y="2318004"/>
            <a:ext cx="292608" cy="288036"/>
          </a:xfrm>
          <a:prstGeom prst="rightArrow">
            <a:avLst/>
          </a:prstGeom>
          <a:solidFill>
            <a:srgbClr val="5A65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246120" y="2071116"/>
            <a:ext cx="2514600" cy="822960"/>
          </a:xfrm>
          <a:prstGeom prst="roundRect">
            <a:avLst/>
          </a:prstGeom>
          <a:solidFill>
            <a:srgbClr val="5A65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rPr>
              <a:t>Appearance model</a:t>
            </a:r>
          </a:p>
          <a:p>
            <a:pPr algn="ctr"/>
            <a:r>
              <a:rPr sz="1300" b="0">
                <a:solidFill>
                  <a:srgbClr val="FFFFFF"/>
                </a:solidFill>
              </a:rPr>
              <a:t>trained on renders</a:t>
            </a:r>
          </a:p>
        </p:txBody>
      </p:sp>
      <p:sp>
        <p:nvSpPr>
          <p:cNvPr id="7" name="Right Arrow 6"/>
          <p:cNvSpPr/>
          <p:nvPr/>
        </p:nvSpPr>
        <p:spPr>
          <a:xfrm>
            <a:off x="5788152" y="2318004"/>
            <a:ext cx="292608" cy="288036"/>
          </a:xfrm>
          <a:prstGeom prst="rightArrow">
            <a:avLst/>
          </a:prstGeom>
          <a:solidFill>
            <a:srgbClr val="5A65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126480" y="2071116"/>
            <a:ext cx="2514600" cy="822960"/>
          </a:xfrm>
          <a:prstGeom prst="roundRect">
            <a:avLst/>
          </a:prstGeom>
          <a:solidFill>
            <a:srgbClr val="5A65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rPr>
              <a:t>Calibrate threshold</a:t>
            </a:r>
          </a:p>
          <a:p>
            <a:pPr algn="ctr"/>
            <a:r>
              <a:rPr sz="1300" b="0">
                <a:solidFill>
                  <a:srgbClr val="FFFFFF"/>
                </a:solidFill>
              </a:rPr>
              <a:t>healthy + stained blades</a:t>
            </a:r>
          </a:p>
        </p:txBody>
      </p:sp>
      <p:sp>
        <p:nvSpPr>
          <p:cNvPr id="9" name="Right Arrow 8"/>
          <p:cNvSpPr/>
          <p:nvPr/>
        </p:nvSpPr>
        <p:spPr>
          <a:xfrm>
            <a:off x="8668512" y="2318004"/>
            <a:ext cx="292608" cy="288036"/>
          </a:xfrm>
          <a:prstGeom prst="rightArrow">
            <a:avLst/>
          </a:prstGeom>
          <a:solidFill>
            <a:srgbClr val="5A65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006840" y="2071116"/>
            <a:ext cx="2514600" cy="822960"/>
          </a:xfrm>
          <a:prstGeom prst="roundRect">
            <a:avLst/>
          </a:prstGeom>
          <a:solidFill>
            <a:srgbClr val="5A65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rPr>
              <a:t>Freeze</a:t>
            </a:r>
          </a:p>
          <a:p>
            <a:pPr algn="ctr"/>
            <a:r>
              <a:rPr sz="1300" b="0">
                <a:solidFill>
                  <a:srgbClr val="FFFFFF"/>
                </a:solidFill>
              </a:rPr>
              <a:t>fingerprint, then test</a:t>
            </a:r>
          </a:p>
        </p:txBody>
      </p:sp>
      <p:sp>
        <p:nvSpPr>
          <p:cNvPr id="11" name="TextBox 10"/>
          <p:cNvSpPr txBox="1"/>
          <p:nvPr/>
        </p:nvSpPr>
        <p:spPr>
          <a:xfrm>
            <a:off x="365760" y="3099816"/>
            <a:ext cx="2743200" cy="329184"/>
          </a:xfrm>
          <a:prstGeom prst="rect">
            <a:avLst/>
          </a:prstGeom>
          <a:noFill/>
        </p:spPr>
        <p:txBody>
          <a:bodyPr wrap="square" anchor="t">
            <a:spAutoFit/>
          </a:bodyPr>
          <a:lstStyle/>
          <a:p>
            <a:pPr algn="l">
              <a:spcAft>
                <a:spcPts val="200"/>
              </a:spcAft>
            </a:pPr>
            <a:r>
              <a:rPr sz="1400" b="1">
                <a:solidFill>
                  <a:srgbClr val="0047BB"/>
                </a:solidFill>
              </a:rPr>
              <a:t>ONLINE (each inspection)</a:t>
            </a:r>
          </a:p>
        </p:txBody>
      </p:sp>
      <p:sp>
        <p:nvSpPr>
          <p:cNvPr id="12" name="Rounded Rectangle 11"/>
          <p:cNvSpPr/>
          <p:nvPr/>
        </p:nvSpPr>
        <p:spPr>
          <a:xfrm>
            <a:off x="365760" y="3429000"/>
            <a:ext cx="1691640" cy="1028700"/>
          </a:xfrm>
          <a:prstGeom prst="roundRect">
            <a:avLst/>
          </a:prstGeom>
          <a:solidFill>
            <a:srgbClr val="0047B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CAD + 2–7 photos</a:t>
            </a:r>
          </a:p>
          <a:p>
            <a:pPr algn="ctr"/>
            <a:r>
              <a:rPr sz="1200" b="0">
                <a:solidFill>
                  <a:srgbClr val="FFFFFF"/>
                </a:solidFill>
              </a:rPr>
              <a:t>calibrated cameras</a:t>
            </a:r>
          </a:p>
        </p:txBody>
      </p:sp>
      <p:sp>
        <p:nvSpPr>
          <p:cNvPr id="13" name="Right Arrow 12"/>
          <p:cNvSpPr/>
          <p:nvPr/>
        </p:nvSpPr>
        <p:spPr>
          <a:xfrm>
            <a:off x="2075688" y="3799332"/>
            <a:ext cx="201168" cy="263347"/>
          </a:xfrm>
          <a:prstGeom prst="rightArrow">
            <a:avLst/>
          </a:prstGeom>
          <a:solidFill>
            <a:srgbClr val="5A65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286000" y="3429000"/>
            <a:ext cx="1691640" cy="1028700"/>
          </a:xfrm>
          <a:prstGeom prst="roundRect">
            <a:avLst/>
          </a:prstGeom>
          <a:solidFill>
            <a:srgbClr val="0047B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Camera &amp; light fix</a:t>
            </a:r>
          </a:p>
          <a:p>
            <a:pPr algn="ctr"/>
            <a:r>
              <a:rPr sz="1200" b="0">
                <a:solidFill>
                  <a:srgbClr val="FFFFFF"/>
                </a:solidFill>
              </a:rPr>
              <a:t>v1.1: moves with blade</a:t>
            </a:r>
          </a:p>
        </p:txBody>
      </p:sp>
      <p:sp>
        <p:nvSpPr>
          <p:cNvPr id="15" name="Right Arrow 14"/>
          <p:cNvSpPr/>
          <p:nvPr/>
        </p:nvSpPr>
        <p:spPr>
          <a:xfrm>
            <a:off x="3995928" y="3799332"/>
            <a:ext cx="201168" cy="263347"/>
          </a:xfrm>
          <a:prstGeom prst="rightArrow">
            <a:avLst/>
          </a:prstGeom>
          <a:solidFill>
            <a:srgbClr val="5A65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206240" y="3429000"/>
            <a:ext cx="1691640" cy="1028700"/>
          </a:xfrm>
          <a:prstGeom prst="roundRect">
            <a:avLst/>
          </a:prstGeom>
          <a:solidFill>
            <a:srgbClr val="0047B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No-damage fit</a:t>
            </a:r>
          </a:p>
          <a:p>
            <a:pPr algn="ctr"/>
            <a:r>
              <a:rPr sz="1200" b="0">
                <a:solidFill>
                  <a:srgbClr val="FFFFFF"/>
                </a:solidFill>
              </a:rPr>
              <a:t>pose · light · stain</a:t>
            </a:r>
          </a:p>
        </p:txBody>
      </p:sp>
      <p:sp>
        <p:nvSpPr>
          <p:cNvPr id="17" name="Right Arrow 16"/>
          <p:cNvSpPr/>
          <p:nvPr/>
        </p:nvSpPr>
        <p:spPr>
          <a:xfrm>
            <a:off x="5916168" y="3799332"/>
            <a:ext cx="201168" cy="263347"/>
          </a:xfrm>
          <a:prstGeom prst="rightArrow">
            <a:avLst/>
          </a:prstGeom>
          <a:solidFill>
            <a:srgbClr val="5A65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126480" y="3429000"/>
            <a:ext cx="1691640" cy="1028700"/>
          </a:xfrm>
          <a:prstGeom prst="round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Dent proposals</a:t>
            </a:r>
          </a:p>
          <a:p>
            <a:pPr algn="ctr"/>
            <a:r>
              <a:rPr sz="1200" b="0">
                <a:solidFill>
                  <a:srgbClr val="FFFFFF"/>
                </a:solidFill>
              </a:rPr>
              <a:t>score test, 1 pass</a:t>
            </a:r>
          </a:p>
        </p:txBody>
      </p:sp>
      <p:sp>
        <p:nvSpPr>
          <p:cNvPr id="19" name="Right Arrow 18"/>
          <p:cNvSpPr/>
          <p:nvPr/>
        </p:nvSpPr>
        <p:spPr>
          <a:xfrm>
            <a:off x="7836408" y="3799332"/>
            <a:ext cx="201168" cy="263347"/>
          </a:xfrm>
          <a:prstGeom prst="rightArrow">
            <a:avLst/>
          </a:prstGeom>
          <a:solidFill>
            <a:srgbClr val="5A65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046720" y="3429000"/>
            <a:ext cx="1691640" cy="1028700"/>
          </a:xfrm>
          <a:prstGeom prst="round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Dent fit</a:t>
            </a:r>
          </a:p>
          <a:p>
            <a:pPr algn="ctr"/>
            <a:r>
              <a:rPr sz="1200" b="0">
                <a:solidFill>
                  <a:srgbClr val="FFFFFF"/>
                </a:solidFill>
              </a:rPr>
              <a:t>differentiable rendering</a:t>
            </a:r>
          </a:p>
        </p:txBody>
      </p:sp>
      <p:sp>
        <p:nvSpPr>
          <p:cNvPr id="21" name="Right Arrow 20"/>
          <p:cNvSpPr/>
          <p:nvPr/>
        </p:nvSpPr>
        <p:spPr>
          <a:xfrm>
            <a:off x="9756648" y="3799332"/>
            <a:ext cx="201168" cy="263347"/>
          </a:xfrm>
          <a:prstGeom prst="rightArrow">
            <a:avLst/>
          </a:prstGeom>
          <a:solidFill>
            <a:srgbClr val="5A65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966960" y="3429000"/>
            <a:ext cx="1691640" cy="1028700"/>
          </a:xfrm>
          <a:prstGeom prst="roundRect">
            <a:avLst/>
          </a:pr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Evidence vs threshold</a:t>
            </a:r>
          </a:p>
          <a:p>
            <a:pPr algn="ctr"/>
            <a:r>
              <a:rPr sz="1200" b="0">
                <a:solidFill>
                  <a:srgbClr val="FFFFFF"/>
                </a:solidFill>
              </a:rPr>
              <a:t>report or abstain</a:t>
            </a:r>
          </a:p>
        </p:txBody>
      </p:sp>
      <p:sp>
        <p:nvSpPr>
          <p:cNvPr id="23" name="Rounded Rectangle 22"/>
          <p:cNvSpPr/>
          <p:nvPr/>
        </p:nvSpPr>
        <p:spPr>
          <a:xfrm>
            <a:off x="6126480" y="4828031"/>
            <a:ext cx="2651760" cy="740664"/>
          </a:xfrm>
          <a:prstGeom prst="roundRect">
            <a:avLst/>
          </a:pr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Dent: location + depth (mm)</a:t>
            </a:r>
          </a:p>
        </p:txBody>
      </p:sp>
      <p:sp>
        <p:nvSpPr>
          <p:cNvPr id="24" name="Rounded Rectangle 23"/>
          <p:cNvSpPr/>
          <p:nvPr/>
        </p:nvSpPr>
        <p:spPr>
          <a:xfrm>
            <a:off x="8961120" y="4828031"/>
            <a:ext cx="2651760" cy="740664"/>
          </a:xfrm>
          <a:prstGeom prst="round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Not supported</a:t>
            </a:r>
          </a:p>
        </p:txBody>
      </p:sp>
      <p:sp>
        <p:nvSpPr>
          <p:cNvPr id="25" name="Rounded Rectangle 24"/>
          <p:cNvSpPr/>
          <p:nvPr/>
        </p:nvSpPr>
        <p:spPr>
          <a:xfrm>
            <a:off x="365760" y="4828031"/>
            <a:ext cx="5486400" cy="740664"/>
          </a:xfrm>
          <a:prstGeom prst="round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F2937"/>
                </a:solidFill>
              </a:rPr>
              <a:t>Detection-limit map: smallest visible dent per point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Step 1: Explain the Photos Without Assuming Damage</a:t>
            </a:r>
          </a:p>
        </p:txBody>
      </p:sp>
      <p:pic>
        <p:nvPicPr>
          <p:cNvPr id="3" name="Picture 2" descr="c_cam.png"/>
          <p:cNvPicPr>
            <a:picLocks noChangeAspect="1"/>
          </p:cNvPicPr>
          <p:nvPr/>
        </p:nvPicPr>
        <p:blipFill>
          <a:blip r:embed="rId2"/>
          <a:stretch>
            <a:fillRect/>
          </a:stretch>
        </p:blipFill>
        <p:spPr>
          <a:xfrm>
            <a:off x="548640" y="2350824"/>
            <a:ext cx="3474720" cy="1991759"/>
          </a:xfrm>
          <a:prstGeom prst="rect">
            <a:avLst/>
          </a:prstGeom>
        </p:spPr>
      </p:pic>
      <p:sp>
        <p:nvSpPr>
          <p:cNvPr id="4" name="Rounded Rectangle 3"/>
          <p:cNvSpPr/>
          <p:nvPr/>
        </p:nvSpPr>
        <p:spPr>
          <a:xfrm>
            <a:off x="548640" y="4869180"/>
            <a:ext cx="3474720" cy="576072"/>
          </a:xfrm>
          <a:prstGeom prst="roundRect">
            <a:avLst/>
          </a:prstGeom>
          <a:solidFill>
            <a:srgbClr val="0047B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rPr>
              <a:t>Fix camera position</a:t>
            </a:r>
          </a:p>
        </p:txBody>
      </p:sp>
      <p:pic>
        <p:nvPicPr>
          <p:cNvPr id="5" name="Picture 4" descr="c_light.png"/>
          <p:cNvPicPr>
            <a:picLocks noChangeAspect="1"/>
          </p:cNvPicPr>
          <p:nvPr/>
        </p:nvPicPr>
        <p:blipFill>
          <a:blip r:embed="rId3"/>
          <a:stretch>
            <a:fillRect/>
          </a:stretch>
        </p:blipFill>
        <p:spPr>
          <a:xfrm>
            <a:off x="4343400" y="2350824"/>
            <a:ext cx="3474720" cy="1991759"/>
          </a:xfrm>
          <a:prstGeom prst="rect">
            <a:avLst/>
          </a:prstGeom>
        </p:spPr>
      </p:pic>
      <p:sp>
        <p:nvSpPr>
          <p:cNvPr id="6" name="Rounded Rectangle 5"/>
          <p:cNvSpPr/>
          <p:nvPr/>
        </p:nvSpPr>
        <p:spPr>
          <a:xfrm>
            <a:off x="4343400" y="4869180"/>
            <a:ext cx="3474720" cy="576072"/>
          </a:xfrm>
          <a:prstGeom prst="roundRect">
            <a:avLst/>
          </a:prstGeom>
          <a:solidFill>
            <a:srgbClr val="0047B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rPr>
              <a:t>Fix lighting changes</a:t>
            </a:r>
          </a:p>
        </p:txBody>
      </p:sp>
      <p:pic>
        <p:nvPicPr>
          <p:cNvPr id="7" name="Picture 6" descr="c_stain.png"/>
          <p:cNvPicPr>
            <a:picLocks noChangeAspect="1"/>
          </p:cNvPicPr>
          <p:nvPr/>
        </p:nvPicPr>
        <p:blipFill>
          <a:blip r:embed="rId4"/>
          <a:stretch>
            <a:fillRect/>
          </a:stretch>
        </p:blipFill>
        <p:spPr>
          <a:xfrm>
            <a:off x="8464829" y="1947672"/>
            <a:ext cx="2821381" cy="2798064"/>
          </a:xfrm>
          <a:prstGeom prst="rect">
            <a:avLst/>
          </a:prstGeom>
        </p:spPr>
      </p:pic>
      <p:sp>
        <p:nvSpPr>
          <p:cNvPr id="8" name="Rounded Rectangle 7"/>
          <p:cNvSpPr/>
          <p:nvPr/>
        </p:nvSpPr>
        <p:spPr>
          <a:xfrm>
            <a:off x="8138160" y="4869180"/>
            <a:ext cx="3474720" cy="576072"/>
          </a:xfrm>
          <a:prstGeom prst="roundRect">
            <a:avLst/>
          </a:prstGeom>
          <a:solidFill>
            <a:srgbClr val="0047B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rPr>
              <a:t>Fix stains</a:t>
            </a:r>
          </a:p>
        </p:txBody>
      </p:sp>
      <p:sp>
        <p:nvSpPr>
          <p:cNvPr id="9" name="TextBox 8"/>
          <p:cNvSpPr txBox="1"/>
          <p:nvPr/>
        </p:nvSpPr>
        <p:spPr>
          <a:xfrm>
            <a:off x="548640" y="5650992"/>
            <a:ext cx="11064240" cy="493776"/>
          </a:xfrm>
          <a:prstGeom prst="rect">
            <a:avLst/>
          </a:prstGeom>
          <a:noFill/>
        </p:spPr>
        <p:txBody>
          <a:bodyPr wrap="square" anchor="t">
            <a:spAutoFit/>
          </a:bodyPr>
          <a:lstStyle/>
          <a:p>
            <a:pPr algn="ctr">
              <a:spcAft>
                <a:spcPts val="200"/>
              </a:spcAft>
            </a:pPr>
            <a:r>
              <a:rPr sz="2200" b="1">
                <a:solidFill>
                  <a:srgbClr val="0047BB"/>
                </a:solidFill>
              </a:rPr>
              <a:t>This gives us the best 'no damage' explanation.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Step 2: Find Where Damage Could Be</a:t>
            </a:r>
          </a:p>
        </p:txBody>
      </p:sp>
      <p:pic>
        <p:nvPicPr>
          <p:cNvPr id="3" name="Picture 2" descr="s8_photo.png"/>
          <p:cNvPicPr>
            <a:picLocks noChangeAspect="1"/>
          </p:cNvPicPr>
          <p:nvPr/>
        </p:nvPicPr>
        <p:blipFill>
          <a:blip r:embed="rId2"/>
          <a:stretch>
            <a:fillRect/>
          </a:stretch>
        </p:blipFill>
        <p:spPr>
          <a:xfrm>
            <a:off x="927512" y="1947672"/>
            <a:ext cx="2534095" cy="3456432"/>
          </a:xfrm>
          <a:prstGeom prst="rect">
            <a:avLst/>
          </a:prstGeom>
        </p:spPr>
      </p:pic>
      <p:sp>
        <p:nvSpPr>
          <p:cNvPr id="4" name="TextBox 3"/>
          <p:cNvSpPr txBox="1"/>
          <p:nvPr/>
        </p:nvSpPr>
        <p:spPr>
          <a:xfrm>
            <a:off x="640080" y="5486400"/>
            <a:ext cx="3108960" cy="411480"/>
          </a:xfrm>
          <a:prstGeom prst="rect">
            <a:avLst/>
          </a:prstGeom>
          <a:noFill/>
        </p:spPr>
        <p:txBody>
          <a:bodyPr wrap="square" anchor="t">
            <a:spAutoFit/>
          </a:bodyPr>
          <a:lstStyle/>
          <a:p>
            <a:pPr algn="ctr">
              <a:spcAft>
                <a:spcPts val="200"/>
              </a:spcAft>
            </a:pPr>
            <a:r>
              <a:rPr sz="2000" b="1">
                <a:solidFill>
                  <a:srgbClr val="1F2937"/>
                </a:solidFill>
              </a:rPr>
              <a:t>Photo</a:t>
            </a:r>
          </a:p>
        </p:txBody>
      </p:sp>
      <p:pic>
        <p:nvPicPr>
          <p:cNvPr id="5" name="Picture 4" descr="s8_healthy.png"/>
          <p:cNvPicPr>
            <a:picLocks noChangeAspect="1"/>
          </p:cNvPicPr>
          <p:nvPr/>
        </p:nvPicPr>
        <p:blipFill>
          <a:blip r:embed="rId3"/>
          <a:stretch>
            <a:fillRect/>
          </a:stretch>
        </p:blipFill>
        <p:spPr>
          <a:xfrm>
            <a:off x="4859432" y="1947672"/>
            <a:ext cx="2534095" cy="3456432"/>
          </a:xfrm>
          <a:prstGeom prst="rect">
            <a:avLst/>
          </a:prstGeom>
        </p:spPr>
      </p:pic>
      <p:sp>
        <p:nvSpPr>
          <p:cNvPr id="6" name="TextBox 5"/>
          <p:cNvSpPr txBox="1"/>
          <p:nvPr/>
        </p:nvSpPr>
        <p:spPr>
          <a:xfrm>
            <a:off x="4572000" y="5486400"/>
            <a:ext cx="3108960" cy="411480"/>
          </a:xfrm>
          <a:prstGeom prst="rect">
            <a:avLst/>
          </a:prstGeom>
          <a:noFill/>
        </p:spPr>
        <p:txBody>
          <a:bodyPr wrap="square" anchor="t">
            <a:spAutoFit/>
          </a:bodyPr>
          <a:lstStyle/>
          <a:p>
            <a:pPr algn="ctr">
              <a:spcAft>
                <a:spcPts val="200"/>
              </a:spcAft>
            </a:pPr>
            <a:r>
              <a:rPr sz="2000" b="1">
                <a:solidFill>
                  <a:srgbClr val="1F2937"/>
                </a:solidFill>
              </a:rPr>
              <a:t>Healthy render</a:t>
            </a:r>
          </a:p>
        </p:txBody>
      </p:sp>
      <p:pic>
        <p:nvPicPr>
          <p:cNvPr id="7" name="Picture 6" descr="s8_residual.png"/>
          <p:cNvPicPr>
            <a:picLocks noChangeAspect="1"/>
          </p:cNvPicPr>
          <p:nvPr/>
        </p:nvPicPr>
        <p:blipFill>
          <a:blip r:embed="rId4"/>
          <a:stretch>
            <a:fillRect/>
          </a:stretch>
        </p:blipFill>
        <p:spPr>
          <a:xfrm>
            <a:off x="8791352" y="1947672"/>
            <a:ext cx="2534095" cy="3456432"/>
          </a:xfrm>
          <a:prstGeom prst="rect">
            <a:avLst/>
          </a:prstGeom>
        </p:spPr>
      </p:pic>
      <p:sp>
        <p:nvSpPr>
          <p:cNvPr id="8" name="TextBox 7"/>
          <p:cNvSpPr txBox="1"/>
          <p:nvPr/>
        </p:nvSpPr>
        <p:spPr>
          <a:xfrm>
            <a:off x="8503919" y="5486400"/>
            <a:ext cx="3108960" cy="411480"/>
          </a:xfrm>
          <a:prstGeom prst="rect">
            <a:avLst/>
          </a:prstGeom>
          <a:noFill/>
        </p:spPr>
        <p:txBody>
          <a:bodyPr wrap="square" anchor="t">
            <a:spAutoFit/>
          </a:bodyPr>
          <a:lstStyle/>
          <a:p>
            <a:pPr algn="ctr">
              <a:spcAft>
                <a:spcPts val="200"/>
              </a:spcAft>
            </a:pPr>
            <a:r>
              <a:rPr sz="2000" b="1">
                <a:solidFill>
                  <a:srgbClr val="1F2937"/>
                </a:solidFill>
              </a:rPr>
              <a:t>Difference</a:t>
            </a:r>
          </a:p>
        </p:txBody>
      </p:sp>
      <p:sp>
        <p:nvSpPr>
          <p:cNvPr id="9" name="TextBox 8"/>
          <p:cNvSpPr txBox="1"/>
          <p:nvPr/>
        </p:nvSpPr>
        <p:spPr>
          <a:xfrm>
            <a:off x="3749039" y="3346704"/>
            <a:ext cx="822960" cy="740664"/>
          </a:xfrm>
          <a:prstGeom prst="rect">
            <a:avLst/>
          </a:prstGeom>
          <a:noFill/>
        </p:spPr>
        <p:txBody>
          <a:bodyPr wrap="square" anchor="t">
            <a:spAutoFit/>
          </a:bodyPr>
          <a:lstStyle/>
          <a:p>
            <a:pPr algn="ctr">
              <a:spcAft>
                <a:spcPts val="200"/>
              </a:spcAft>
            </a:pPr>
            <a:r>
              <a:rPr sz="5400" b="1">
                <a:solidFill>
                  <a:srgbClr val="5A6577"/>
                </a:solidFill>
              </a:rPr>
              <a:t>−</a:t>
            </a:r>
          </a:p>
        </p:txBody>
      </p:sp>
      <p:sp>
        <p:nvSpPr>
          <p:cNvPr id="10" name="TextBox 9"/>
          <p:cNvSpPr txBox="1"/>
          <p:nvPr/>
        </p:nvSpPr>
        <p:spPr>
          <a:xfrm>
            <a:off x="7680960" y="3346704"/>
            <a:ext cx="822960" cy="740664"/>
          </a:xfrm>
          <a:prstGeom prst="rect">
            <a:avLst/>
          </a:prstGeom>
          <a:noFill/>
        </p:spPr>
        <p:txBody>
          <a:bodyPr wrap="square" anchor="t">
            <a:spAutoFit/>
          </a:bodyPr>
          <a:lstStyle/>
          <a:p>
            <a:pPr algn="ctr">
              <a:spcAft>
                <a:spcPts val="200"/>
              </a:spcAft>
            </a:pPr>
            <a:r>
              <a:rPr sz="5400" b="1">
                <a:solidFill>
                  <a:srgbClr val="5A6577"/>
                </a:solidFill>
              </a:rPr>
              <a:t>=</a:t>
            </a:r>
          </a:p>
        </p:txBody>
      </p:sp>
      <p:sp>
        <p:nvSpPr>
          <p:cNvPr id="11" name="TextBox 10"/>
          <p:cNvSpPr txBox="1"/>
          <p:nvPr/>
        </p:nvSpPr>
        <p:spPr>
          <a:xfrm>
            <a:off x="8046720" y="5856731"/>
            <a:ext cx="3840480" cy="411480"/>
          </a:xfrm>
          <a:prstGeom prst="rect">
            <a:avLst/>
          </a:prstGeom>
          <a:noFill/>
        </p:spPr>
        <p:txBody>
          <a:bodyPr wrap="square" anchor="t">
            <a:spAutoFit/>
          </a:bodyPr>
          <a:lstStyle/>
          <a:p>
            <a:pPr algn="ctr">
              <a:spcAft>
                <a:spcPts val="200"/>
              </a:spcAft>
            </a:pPr>
            <a:r>
              <a:rPr sz="1800" b="1">
                <a:solidFill>
                  <a:srgbClr val="E8833A"/>
                </a:solidFill>
              </a:rPr>
              <a:t>Bright = suspicious region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Step 3: Estimate the 3D Shape</a:t>
            </a:r>
          </a:p>
        </p:txBody>
      </p:sp>
      <p:sp>
        <p:nvSpPr>
          <p:cNvPr id="3" name="Rounded Rectangle 2"/>
          <p:cNvSpPr/>
          <p:nvPr/>
        </p:nvSpPr>
        <p:spPr>
          <a:xfrm>
            <a:off x="548640" y="2029968"/>
            <a:ext cx="3840480" cy="1069848"/>
          </a:xfrm>
          <a:prstGeom prst="roundRect">
            <a:avLst/>
          </a:prstGeom>
          <a:solidFill>
            <a:srgbClr val="0047B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rPr>
              <a:t>Candidate spot</a:t>
            </a:r>
          </a:p>
          <a:p>
            <a:pPr algn="ctr"/>
            <a:r>
              <a:rPr sz="1700" b="0">
                <a:solidFill>
                  <a:srgbClr val="FFFFFF"/>
                </a:solidFill>
              </a:rPr>
              <a:t>from step 2</a:t>
            </a:r>
          </a:p>
        </p:txBody>
      </p:sp>
      <p:sp>
        <p:nvSpPr>
          <p:cNvPr id="4" name="Rounded Rectangle 3"/>
          <p:cNvSpPr/>
          <p:nvPr/>
        </p:nvSpPr>
        <p:spPr>
          <a:xfrm>
            <a:off x="548640" y="3387852"/>
            <a:ext cx="3840480" cy="1069848"/>
          </a:xfrm>
          <a:prstGeom prst="round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rPr>
              <a:t>Smooth dent</a:t>
            </a:r>
          </a:p>
          <a:p>
            <a:pPr algn="ctr"/>
            <a:r>
              <a:rPr sz="1700" b="0">
                <a:solidFill>
                  <a:srgbClr val="FFFFFF"/>
                </a:solidFill>
              </a:rPr>
              <a:t>position · depth · size · shape</a:t>
            </a:r>
          </a:p>
        </p:txBody>
      </p:sp>
      <p:sp>
        <p:nvSpPr>
          <p:cNvPr id="5" name="Rounded Rectangle 4"/>
          <p:cNvSpPr/>
          <p:nvPr/>
        </p:nvSpPr>
        <p:spPr>
          <a:xfrm>
            <a:off x="548640" y="4745736"/>
            <a:ext cx="3840480" cy="1069848"/>
          </a:xfrm>
          <a:prstGeom prst="round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rPr>
              <a:t>Render &amp; compare</a:t>
            </a:r>
          </a:p>
          <a:p>
            <a:pPr algn="ctr"/>
            <a:r>
              <a:rPr sz="1700" b="0">
                <a:solidFill>
                  <a:srgbClr val="FFFFFF"/>
                </a:solidFill>
              </a:rPr>
              <a:t>with the photo, adjust</a:t>
            </a:r>
          </a:p>
        </p:txBody>
      </p:sp>
      <p:pic>
        <p:nvPicPr>
          <p:cNvPr id="6" name="Picture 5" descr="depth_01.png"/>
          <p:cNvPicPr>
            <a:picLocks noChangeAspect="1"/>
          </p:cNvPicPr>
          <p:nvPr/>
        </p:nvPicPr>
        <p:blipFill>
          <a:blip r:embed="rId2"/>
          <a:stretch>
            <a:fillRect/>
          </a:stretch>
        </p:blipFill>
        <p:spPr>
          <a:xfrm>
            <a:off x="4846320" y="1959647"/>
            <a:ext cx="6858000" cy="3761664"/>
          </a:xfrm>
          <a:prstGeom prst="rect">
            <a:avLst/>
          </a:prstGeom>
        </p:spPr>
      </p:pic>
      <p:sp>
        <p:nvSpPr>
          <p:cNvPr id="7" name="TextBox 6"/>
          <p:cNvSpPr txBox="1"/>
          <p:nvPr/>
        </p:nvSpPr>
        <p:spPr>
          <a:xfrm>
            <a:off x="548640" y="5939028"/>
            <a:ext cx="11155680" cy="411480"/>
          </a:xfrm>
          <a:prstGeom prst="rect">
            <a:avLst/>
          </a:prstGeom>
          <a:noFill/>
        </p:spPr>
        <p:txBody>
          <a:bodyPr wrap="square" anchor="t">
            <a:spAutoFit/>
          </a:bodyPr>
          <a:lstStyle/>
          <a:p>
            <a:pPr algn="ctr">
              <a:spcAft>
                <a:spcPts val="200"/>
              </a:spcAft>
            </a:pPr>
            <a:r>
              <a:rPr sz="1800" b="0">
                <a:solidFill>
                  <a:srgbClr val="5A6577"/>
                </a:solidFill>
              </a:rPr>
              <a:t>Optimised via differentiable rendering. Reported 0.35 mm, true 0.36 mm.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Step 4: The Evidence Test (Our Key Idea)</a:t>
            </a:r>
          </a:p>
        </p:txBody>
      </p:sp>
      <p:graphicFrame>
        <p:nvGraphicFramePr>
          <p:cNvPr id="3" name="Chart 2"/>
          <p:cNvGraphicFramePr>
            <a:graphicFrameLocks noGrp="1"/>
          </p:cNvGraphicFramePr>
          <p:nvPr/>
        </p:nvGraphicFramePr>
        <p:xfrm>
          <a:off x="548640" y="1865376"/>
          <a:ext cx="5852160" cy="4114800"/>
        </p:xfrm>
        <a:graphic>
          <a:graphicData uri="http://schemas.openxmlformats.org/drawingml/2006/chart">
            <c:chart xmlns:c="http://schemas.openxmlformats.org/drawingml/2006/chart" r:id="rId2"/>
          </a:graphicData>
        </a:graphic>
      </p:graphicFrame>
      <p:sp>
        <p:nvSpPr>
          <p:cNvPr id="4" name="TextBox 3"/>
          <p:cNvSpPr txBox="1"/>
          <p:nvPr/>
        </p:nvSpPr>
        <p:spPr>
          <a:xfrm>
            <a:off x="6675120" y="2112264"/>
            <a:ext cx="5029200" cy="2962656"/>
          </a:xfrm>
          <a:prstGeom prst="rect">
            <a:avLst/>
          </a:prstGeom>
          <a:noFill/>
        </p:spPr>
        <p:txBody>
          <a:bodyPr wrap="square" anchor="t">
            <a:spAutoFit/>
          </a:bodyPr>
          <a:lstStyle/>
          <a:p>
            <a:pPr algn="l">
              <a:spcAft>
                <a:spcPts val="800"/>
              </a:spcAft>
            </a:pPr>
            <a:r>
              <a:rPr sz="2000" b="0">
                <a:solidFill>
                  <a:srgbClr val="1F2937"/>
                </a:solidFill>
              </a:rPr>
              <a:t>•  Mismatch without a dent: 89.3</a:t>
            </a:r>
          </a:p>
          <a:p>
            <a:pPr algn="l">
              <a:spcAft>
                <a:spcPts val="800"/>
              </a:spcAft>
            </a:pPr>
            <a:r>
              <a:rPr sz="2000" b="0">
                <a:solidFill>
                  <a:srgbClr val="1F2937"/>
                </a:solidFill>
              </a:rPr>
              <a:t>•  Mismatch with the dent: 19.9</a:t>
            </a:r>
          </a:p>
          <a:p>
            <a:pPr algn="l">
              <a:spcAft>
                <a:spcPts val="800"/>
              </a:spcAft>
            </a:pPr>
            <a:r>
              <a:rPr sz="2000" b="0">
                <a:solidFill>
                  <a:srgbClr val="1F2937"/>
                </a:solidFill>
              </a:rPr>
              <a:t>•  Evidence (fit gain) = 69.4</a:t>
            </a:r>
          </a:p>
          <a:p>
            <a:pPr algn="l">
              <a:spcAft>
                <a:spcPts val="800"/>
              </a:spcAft>
            </a:pPr>
            <a:r>
              <a:rPr sz="2000" b="0">
                <a:solidFill>
                  <a:srgbClr val="1F2937"/>
                </a:solidFill>
              </a:rPr>
              <a:t>•  Threshold = 1.02 (set on healthy and stained blades)</a:t>
            </a:r>
          </a:p>
        </p:txBody>
      </p:sp>
      <p:sp>
        <p:nvSpPr>
          <p:cNvPr id="5" name="Rounded Rectangle 4"/>
          <p:cNvSpPr/>
          <p:nvPr/>
        </p:nvSpPr>
        <p:spPr>
          <a:xfrm>
            <a:off x="6675120" y="4910328"/>
            <a:ext cx="5029200" cy="1069848"/>
          </a:xfrm>
          <a:prstGeom prst="roundRect">
            <a:avLst/>
          </a:pr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rPr>
              <a:t>69.4 &gt; 1.02 → report the dent</a:t>
            </a:r>
          </a:p>
          <a:p>
            <a:pPr algn="ctr"/>
            <a:r>
              <a:rPr sz="1800" b="0">
                <a:solidFill>
                  <a:srgbClr val="FFFFFF"/>
                </a:solidFill>
              </a:rPr>
              <a:t>otherwise → abstain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What We Built: BladeDelta Benchmark</a:t>
            </a:r>
          </a:p>
        </p:txBody>
      </p:sp>
      <p:sp>
        <p:nvSpPr>
          <p:cNvPr id="3" name="TextBox 2"/>
          <p:cNvSpPr txBox="1"/>
          <p:nvPr/>
        </p:nvSpPr>
        <p:spPr>
          <a:xfrm>
            <a:off x="548640" y="1824228"/>
            <a:ext cx="11155680" cy="822960"/>
          </a:xfrm>
          <a:prstGeom prst="rect">
            <a:avLst/>
          </a:prstGeom>
          <a:noFill/>
        </p:spPr>
        <p:txBody>
          <a:bodyPr wrap="square" anchor="t">
            <a:spAutoFit/>
          </a:bodyPr>
          <a:lstStyle/>
          <a:p>
            <a:pPr algn="l">
              <a:spcAft>
                <a:spcPts val="200"/>
              </a:spcAft>
            </a:pPr>
            <a:r>
              <a:rPr sz="1800" b="0">
                <a:solidFill>
                  <a:srgbClr val="5A6577"/>
                </a:solidFill>
              </a:rPr>
              <a:t>696 cases on 84 public blade shapes  +  456 cases on 6 industrial blade designs</a:t>
            </a:r>
          </a:p>
          <a:p>
            <a:pPr algn="l">
              <a:spcAft>
                <a:spcPts val="200"/>
              </a:spcAft>
            </a:pPr>
            <a:r>
              <a:rPr sz="1800" b="0">
                <a:solidFill>
                  <a:srgbClr val="5A6577"/>
                </a:solidFill>
              </a:rPr>
              <a:t>Sealed test: 240 cases on 30 blades the method never saw</a:t>
            </a:r>
          </a:p>
        </p:txBody>
      </p:sp>
      <p:pic>
        <p:nvPicPr>
          <p:cNvPr id="4" name="Picture 3" descr="ex_01_dent_found.jpg"/>
          <p:cNvPicPr>
            <a:picLocks noChangeAspect="1"/>
          </p:cNvPicPr>
          <p:nvPr/>
        </p:nvPicPr>
        <p:blipFill>
          <a:blip r:embed="rId2"/>
          <a:stretch>
            <a:fillRect/>
          </a:stretch>
        </p:blipFill>
        <p:spPr>
          <a:xfrm>
            <a:off x="548640" y="2778910"/>
            <a:ext cx="3566160" cy="1176734"/>
          </a:xfrm>
          <a:prstGeom prst="rect">
            <a:avLst/>
          </a:prstGeom>
        </p:spPr>
      </p:pic>
      <p:sp>
        <p:nvSpPr>
          <p:cNvPr id="5" name="Rounded Rectangle 4"/>
          <p:cNvSpPr/>
          <p:nvPr/>
        </p:nvSpPr>
        <p:spPr>
          <a:xfrm>
            <a:off x="548640" y="4046220"/>
            <a:ext cx="3566160" cy="411480"/>
          </a:xfrm>
          <a:prstGeom prst="roundRect">
            <a:avLst/>
          </a:prstGeom>
          <a:solidFill>
            <a:srgbClr val="0047B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FFFFFF"/>
                </a:solidFill>
              </a:rPr>
              <a:t>Observable dent</a:t>
            </a:r>
          </a:p>
        </p:txBody>
      </p:sp>
      <p:pic>
        <p:nvPicPr>
          <p:cNvPr id="6" name="Picture 5" descr="ex_02_hidden_dent.jpg"/>
          <p:cNvPicPr>
            <a:picLocks noChangeAspect="1"/>
          </p:cNvPicPr>
          <p:nvPr/>
        </p:nvPicPr>
        <p:blipFill>
          <a:blip r:embed="rId3"/>
          <a:stretch>
            <a:fillRect/>
          </a:stretch>
        </p:blipFill>
        <p:spPr>
          <a:xfrm>
            <a:off x="4343400" y="2778910"/>
            <a:ext cx="3566160" cy="1176734"/>
          </a:xfrm>
          <a:prstGeom prst="rect">
            <a:avLst/>
          </a:prstGeom>
        </p:spPr>
      </p:pic>
      <p:sp>
        <p:nvSpPr>
          <p:cNvPr id="7" name="Rounded Rectangle 6"/>
          <p:cNvSpPr/>
          <p:nvPr/>
        </p:nvSpPr>
        <p:spPr>
          <a:xfrm>
            <a:off x="4343400" y="4046220"/>
            <a:ext cx="3566160" cy="411480"/>
          </a:xfrm>
          <a:prstGeom prst="roundRect">
            <a:avLst/>
          </a:prstGeom>
          <a:solidFill>
            <a:srgbClr val="0047B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FFFFFF"/>
                </a:solidFill>
              </a:rPr>
              <a:t>Hidden dent</a:t>
            </a:r>
          </a:p>
        </p:txBody>
      </p:sp>
      <p:pic>
        <p:nvPicPr>
          <p:cNvPr id="8" name="Picture 7" descr="ex_04_healthy.jpg"/>
          <p:cNvPicPr>
            <a:picLocks noChangeAspect="1"/>
          </p:cNvPicPr>
          <p:nvPr/>
        </p:nvPicPr>
        <p:blipFill>
          <a:blip r:embed="rId4"/>
          <a:stretch>
            <a:fillRect/>
          </a:stretch>
        </p:blipFill>
        <p:spPr>
          <a:xfrm>
            <a:off x="8138160" y="2778910"/>
            <a:ext cx="3566160" cy="1176734"/>
          </a:xfrm>
          <a:prstGeom prst="rect">
            <a:avLst/>
          </a:prstGeom>
        </p:spPr>
      </p:pic>
      <p:sp>
        <p:nvSpPr>
          <p:cNvPr id="9" name="Rounded Rectangle 8"/>
          <p:cNvSpPr/>
          <p:nvPr/>
        </p:nvSpPr>
        <p:spPr>
          <a:xfrm>
            <a:off x="8138160" y="4046220"/>
            <a:ext cx="3566160" cy="411480"/>
          </a:xfrm>
          <a:prstGeom prst="roundRect">
            <a:avLst/>
          </a:prstGeom>
          <a:solidFill>
            <a:srgbClr val="0047B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FFFFFF"/>
                </a:solidFill>
              </a:rPr>
              <a:t>Healthy</a:t>
            </a:r>
          </a:p>
        </p:txBody>
      </p:sp>
      <p:pic>
        <p:nvPicPr>
          <p:cNvPr id="10" name="Picture 9" descr="ex_03_stain_only.jpg"/>
          <p:cNvPicPr>
            <a:picLocks noChangeAspect="1"/>
          </p:cNvPicPr>
          <p:nvPr/>
        </p:nvPicPr>
        <p:blipFill>
          <a:blip r:embed="rId5"/>
          <a:stretch>
            <a:fillRect/>
          </a:stretch>
        </p:blipFill>
        <p:spPr>
          <a:xfrm>
            <a:off x="548640" y="4712866"/>
            <a:ext cx="3566160" cy="1176734"/>
          </a:xfrm>
          <a:prstGeom prst="rect">
            <a:avLst/>
          </a:prstGeom>
        </p:spPr>
      </p:pic>
      <p:sp>
        <p:nvSpPr>
          <p:cNvPr id="11" name="Rounded Rectangle 10"/>
          <p:cNvSpPr/>
          <p:nvPr/>
        </p:nvSpPr>
        <p:spPr>
          <a:xfrm>
            <a:off x="548640" y="5980176"/>
            <a:ext cx="3566160" cy="411480"/>
          </a:xfrm>
          <a:prstGeom prst="roundRect">
            <a:avLst/>
          </a:prstGeom>
          <a:solidFill>
            <a:srgbClr val="0047B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FFFFFF"/>
                </a:solidFill>
              </a:rPr>
              <a:t>Stain</a:t>
            </a:r>
          </a:p>
        </p:txBody>
      </p:sp>
      <p:pic>
        <p:nvPicPr>
          <p:cNvPr id="12" name="Picture 11" descr="s11_mixed.jpg"/>
          <p:cNvPicPr>
            <a:picLocks noChangeAspect="1"/>
          </p:cNvPicPr>
          <p:nvPr/>
        </p:nvPicPr>
        <p:blipFill>
          <a:blip r:embed="rId6"/>
          <a:stretch>
            <a:fillRect/>
          </a:stretch>
        </p:blipFill>
        <p:spPr>
          <a:xfrm>
            <a:off x="4343400" y="4712866"/>
            <a:ext cx="3566160" cy="1176734"/>
          </a:xfrm>
          <a:prstGeom prst="rect">
            <a:avLst/>
          </a:prstGeom>
        </p:spPr>
      </p:pic>
      <p:sp>
        <p:nvSpPr>
          <p:cNvPr id="13" name="Rounded Rectangle 12"/>
          <p:cNvSpPr/>
          <p:nvPr/>
        </p:nvSpPr>
        <p:spPr>
          <a:xfrm>
            <a:off x="4343400" y="5980176"/>
            <a:ext cx="3566160" cy="411480"/>
          </a:xfrm>
          <a:prstGeom prst="roundRect">
            <a:avLst/>
          </a:prstGeom>
          <a:solidFill>
            <a:srgbClr val="0047B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FFFFFF"/>
                </a:solidFill>
              </a:rPr>
              <a:t>Dent + stain</a:t>
            </a:r>
          </a:p>
        </p:txBody>
      </p:sp>
      <p:pic>
        <p:nvPicPr>
          <p:cNvPr id="14" name="Picture 13" descr="ex_05_camera_error.jpg"/>
          <p:cNvPicPr>
            <a:picLocks noChangeAspect="1"/>
          </p:cNvPicPr>
          <p:nvPr/>
        </p:nvPicPr>
        <p:blipFill>
          <a:blip r:embed="rId7"/>
          <a:stretch>
            <a:fillRect/>
          </a:stretch>
        </p:blipFill>
        <p:spPr>
          <a:xfrm>
            <a:off x="8138160" y="4712866"/>
            <a:ext cx="3566160" cy="1176734"/>
          </a:xfrm>
          <a:prstGeom prst="rect">
            <a:avLst/>
          </a:prstGeom>
        </p:spPr>
      </p:pic>
      <p:sp>
        <p:nvSpPr>
          <p:cNvPr id="15" name="Rounded Rectangle 14"/>
          <p:cNvSpPr/>
          <p:nvPr/>
        </p:nvSpPr>
        <p:spPr>
          <a:xfrm>
            <a:off x="8138160" y="5980176"/>
            <a:ext cx="3566160" cy="411480"/>
          </a:xfrm>
          <a:prstGeom prst="roundRect">
            <a:avLst/>
          </a:prstGeom>
          <a:solidFill>
            <a:srgbClr val="0047B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FFFFFF"/>
                </a:solidFill>
              </a:rPr>
              <a:t>Camera error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Our Data: Six Industrial Blade Designs</a:t>
            </a:r>
          </a:p>
        </p:txBody>
      </p:sp>
      <p:pic>
        <p:nvPicPr>
          <p:cNvPr id="3" name="Picture 2" descr="cad6_blades.png"/>
          <p:cNvPicPr>
            <a:picLocks noChangeAspect="1"/>
          </p:cNvPicPr>
          <p:nvPr/>
        </p:nvPicPr>
        <p:blipFill>
          <a:blip r:embed="rId2"/>
          <a:stretch>
            <a:fillRect/>
          </a:stretch>
        </p:blipFill>
        <p:spPr>
          <a:xfrm>
            <a:off x="970357" y="1783080"/>
            <a:ext cx="10220805" cy="2386584"/>
          </a:xfrm>
          <a:prstGeom prst="rect">
            <a:avLst/>
          </a:prstGeom>
        </p:spPr>
      </p:pic>
      <p:sp>
        <p:nvSpPr>
          <p:cNvPr id="4" name="TextBox 3"/>
          <p:cNvSpPr txBox="1"/>
          <p:nvPr/>
        </p:nvSpPr>
        <p:spPr>
          <a:xfrm>
            <a:off x="548640" y="4334256"/>
            <a:ext cx="5669280" cy="1975104"/>
          </a:xfrm>
          <a:prstGeom prst="rect">
            <a:avLst/>
          </a:prstGeom>
          <a:noFill/>
        </p:spPr>
        <p:txBody>
          <a:bodyPr wrap="square" anchor="t">
            <a:spAutoFit/>
          </a:bodyPr>
          <a:lstStyle/>
          <a:p>
            <a:pPr algn="l">
              <a:spcAft>
                <a:spcPts val="800"/>
              </a:spcAft>
            </a:pPr>
            <a:r>
              <a:rPr sz="1700" b="0">
                <a:solidFill>
                  <a:srgbClr val="1F2937"/>
                </a:solidFill>
              </a:rPr>
              <a:t>•  Your six STEP CAD models (airfoils 24–70 mm), with platform and root</a:t>
            </a:r>
          </a:p>
          <a:p>
            <a:pPr algn="l">
              <a:spcAft>
                <a:spcPts val="800"/>
              </a:spcAft>
            </a:pPr>
            <a:r>
              <a:rPr sz="1700" b="0">
                <a:solidFill>
                  <a:srgbClr val="1F2937"/>
                </a:solidFill>
              </a:rPr>
              <a:t>•  456 cases: 30% visible dents, 15% hidden, 20% healthy, 15% stain, 10% dent + stain, 10% camera error</a:t>
            </a:r>
          </a:p>
          <a:p>
            <a:pPr algn="l">
              <a:spcAft>
                <a:spcPts val="800"/>
              </a:spcAft>
            </a:pPr>
            <a:r>
              <a:rPr sz="1700" b="0">
                <a:solidFill>
                  <a:srgbClr val="1F2937"/>
                </a:solidFill>
              </a:rPr>
              <a:t>•  Real-world dent sizes: 0.1–1.0 mm deep, 1–5 mm radius</a:t>
            </a:r>
          </a:p>
        </p:txBody>
      </p:sp>
      <p:sp>
        <p:nvSpPr>
          <p:cNvPr id="5" name="Rounded Rectangle 4"/>
          <p:cNvSpPr/>
          <p:nvPr/>
        </p:nvSpPr>
        <p:spPr>
          <a:xfrm>
            <a:off x="6492240" y="4416552"/>
            <a:ext cx="5212080" cy="1563624"/>
          </a:xfrm>
          <a:prstGeom prst="round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1F2937"/>
                </a:solidFill>
              </a:rPr>
              <a:t>A tougher test</a:t>
            </a:r>
          </a:p>
          <a:p>
            <a:pPr algn="ctr"/>
            <a:r>
              <a:rPr sz="1500" b="0">
                <a:solidFill>
                  <a:srgbClr val="1F2937"/>
                </a:solidFill>
              </a:rPr>
              <a:t>The method was never trained or tuned on these designs.</a:t>
            </a:r>
          </a:p>
          <a:p>
            <a:pPr algn="ctr"/>
            <a:r>
              <a:rPr sz="1500" b="0">
                <a:solidFill>
                  <a:srgbClr val="1F2937"/>
                </a:solidFill>
              </a:rPr>
              <a:t>Blades 1–2: develop the fix · 3–6: held out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Our Method vs. Baselines</a:t>
            </a:r>
          </a:p>
        </p:txBody>
      </p:sp>
      <p:graphicFrame>
        <p:nvGraphicFramePr>
          <p:cNvPr id="3" name="Chart 2"/>
          <p:cNvGraphicFramePr>
            <a:graphicFrameLocks noGrp="1"/>
          </p:cNvGraphicFramePr>
          <p:nvPr/>
        </p:nvGraphicFramePr>
        <p:xfrm>
          <a:off x="457200" y="1783080"/>
          <a:ext cx="11247120" cy="4032504"/>
        </p:xfrm>
        <a:graphic>
          <a:graphicData uri="http://schemas.openxmlformats.org/drawingml/2006/chart">
            <c:chart xmlns:c="http://schemas.openxmlformats.org/drawingml/2006/chart" r:id="rId2"/>
          </a:graphicData>
        </a:graphic>
      </p:graphicFrame>
      <p:sp>
        <p:nvSpPr>
          <p:cNvPr id="4" name="TextBox 3"/>
          <p:cNvSpPr txBox="1"/>
          <p:nvPr/>
        </p:nvSpPr>
        <p:spPr>
          <a:xfrm>
            <a:off x="457200" y="5856731"/>
            <a:ext cx="11247120" cy="493776"/>
          </a:xfrm>
          <a:prstGeom prst="rect">
            <a:avLst/>
          </a:prstGeom>
          <a:noFill/>
        </p:spPr>
        <p:txBody>
          <a:bodyPr wrap="square" anchor="t">
            <a:spAutoFit/>
          </a:bodyPr>
          <a:lstStyle/>
          <a:p>
            <a:pPr algn="ctr">
              <a:spcAft>
                <a:spcPts val="200"/>
              </a:spcAft>
            </a:pPr>
            <a:r>
              <a:rPr sz="1900" b="1">
                <a:solidFill>
                  <a:srgbClr val="0047BB"/>
                </a:solidFill>
              </a:rPr>
              <a:t>At the same 5% false-alarm rate: ours locates 51% of visible dents; every other method 19% or less.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What the Evidence Test Buys</a:t>
            </a:r>
          </a:p>
        </p:txBody>
      </p:sp>
      <p:graphicFrame>
        <p:nvGraphicFramePr>
          <p:cNvPr id="3" name="Chart 2"/>
          <p:cNvGraphicFramePr>
            <a:graphicFrameLocks noGrp="1"/>
          </p:cNvGraphicFramePr>
          <p:nvPr/>
        </p:nvGraphicFramePr>
        <p:xfrm>
          <a:off x="457200" y="1865376"/>
          <a:ext cx="5486400" cy="3785615"/>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217920" y="1865376"/>
          <a:ext cx="5486400" cy="3785615"/>
        </p:xfrm>
        <a:graphic>
          <a:graphicData uri="http://schemas.openxmlformats.org/drawingml/2006/chart">
            <c:chart xmlns:c="http://schemas.openxmlformats.org/drawingml/2006/chart" r:id="rId3"/>
          </a:graphicData>
        </a:graphic>
      </p:graphicFrame>
      <p:sp>
        <p:nvSpPr>
          <p:cNvPr id="5" name="TextBox 4"/>
          <p:cNvSpPr txBox="1"/>
          <p:nvPr/>
        </p:nvSpPr>
        <p:spPr>
          <a:xfrm>
            <a:off x="457200" y="5815584"/>
            <a:ext cx="11247120" cy="493776"/>
          </a:xfrm>
          <a:prstGeom prst="rect">
            <a:avLst/>
          </a:prstGeom>
          <a:noFill/>
        </p:spPr>
        <p:txBody>
          <a:bodyPr wrap="square" anchor="t">
            <a:spAutoFit/>
          </a:bodyPr>
          <a:lstStyle/>
          <a:p>
            <a:pPr algn="ctr">
              <a:spcAft>
                <a:spcPts val="200"/>
              </a:spcAft>
            </a:pPr>
            <a:r>
              <a:rPr sz="2200" b="1">
                <a:solidFill>
                  <a:srgbClr val="0047BB"/>
                </a:solidFill>
              </a:rPr>
              <a:t>We trade some recall for trust: far fewer wrong claims.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Recall Depends on Dent Depth</a:t>
            </a:r>
          </a:p>
        </p:txBody>
      </p:sp>
      <p:graphicFrame>
        <p:nvGraphicFramePr>
          <p:cNvPr id="3" name="Chart 2"/>
          <p:cNvGraphicFramePr>
            <a:graphicFrameLocks noGrp="1"/>
          </p:cNvGraphicFramePr>
          <p:nvPr/>
        </p:nvGraphicFramePr>
        <p:xfrm>
          <a:off x="548640" y="1865376"/>
          <a:ext cx="6949440" cy="4114800"/>
        </p:xfrm>
        <a:graphic>
          <a:graphicData uri="http://schemas.openxmlformats.org/drawingml/2006/chart">
            <c:chart xmlns:c="http://schemas.openxmlformats.org/drawingml/2006/chart" r:id="rId2"/>
          </a:graphicData>
        </a:graphic>
      </p:graphicFrame>
      <p:sp>
        <p:nvSpPr>
          <p:cNvPr id="4" name="TextBox 3"/>
          <p:cNvSpPr txBox="1"/>
          <p:nvPr/>
        </p:nvSpPr>
        <p:spPr>
          <a:xfrm>
            <a:off x="7772400" y="2194560"/>
            <a:ext cx="3931920" cy="3127248"/>
          </a:xfrm>
          <a:prstGeom prst="rect">
            <a:avLst/>
          </a:prstGeom>
          <a:noFill/>
        </p:spPr>
        <p:txBody>
          <a:bodyPr wrap="square" anchor="t">
            <a:spAutoFit/>
          </a:bodyPr>
          <a:lstStyle/>
          <a:p>
            <a:pPr algn="l">
              <a:spcAft>
                <a:spcPts val="800"/>
              </a:spcAft>
            </a:pPr>
            <a:r>
              <a:rPr sz="2000" b="0">
                <a:solidFill>
                  <a:srgbClr val="1F2937"/>
                </a:solidFill>
              </a:rPr>
              <a:t>•  &gt; 0.2 mm: 12 of 13 found</a:t>
            </a:r>
          </a:p>
          <a:p>
            <a:pPr algn="l">
              <a:spcAft>
                <a:spcPts val="800"/>
              </a:spcAft>
            </a:pPr>
            <a:r>
              <a:rPr sz="2000" b="0">
                <a:solidFill>
                  <a:srgbClr val="1F2937"/>
                </a:solidFill>
              </a:rPr>
              <a:t>•  0.1–0.2 mm: 7 of 14</a:t>
            </a:r>
          </a:p>
          <a:p>
            <a:pPr algn="l">
              <a:spcAft>
                <a:spcPts val="800"/>
              </a:spcAft>
            </a:pPr>
            <a:r>
              <a:rPr sz="2000" b="0">
                <a:solidFill>
                  <a:srgbClr val="1F2937"/>
                </a:solidFill>
              </a:rPr>
              <a:t>•  &lt; 0.1 mm: 1 of 10</a:t>
            </a:r>
          </a:p>
          <a:p>
            <a:pPr algn="l">
              <a:spcAft>
                <a:spcPts val="800"/>
              </a:spcAft>
            </a:pPr>
            <a:r>
              <a:rPr sz="2000" b="0">
                <a:solidFill>
                  <a:srgbClr val="1F2937"/>
                </a:solidFill>
              </a:rPr>
              <a:t>•  Every reported dent is in the right place</a:t>
            </a:r>
          </a:p>
        </p:txBody>
      </p:sp>
      <p:sp>
        <p:nvSpPr>
          <p:cNvPr id="5" name="Rounded Rectangle 4"/>
          <p:cNvSpPr/>
          <p:nvPr/>
        </p:nvSpPr>
        <p:spPr>
          <a:xfrm>
            <a:off x="7772400" y="5074920"/>
            <a:ext cx="3931920" cy="905256"/>
          </a:xfrm>
          <a:prstGeom prst="round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a:solidFill>
                  <a:srgbClr val="1F2937"/>
                </a:solidFill>
              </a:rPr>
              <a:t>Below what the photos can resolve, it abstains instead of guessing.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Does It Work on New Blades?</a:t>
            </a:r>
          </a:p>
        </p:txBody>
      </p:sp>
      <p:graphicFrame>
        <p:nvGraphicFramePr>
          <p:cNvPr id="3" name="Chart 2"/>
          <p:cNvGraphicFramePr>
            <a:graphicFrameLocks noGrp="1"/>
          </p:cNvGraphicFramePr>
          <p:nvPr/>
        </p:nvGraphicFramePr>
        <p:xfrm>
          <a:off x="457200" y="1865376"/>
          <a:ext cx="5486400" cy="370332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217920" y="1865376"/>
          <a:ext cx="5486400" cy="3703320"/>
        </p:xfrm>
        <a:graphic>
          <a:graphicData uri="http://schemas.openxmlformats.org/drawingml/2006/chart">
            <c:chart xmlns:c="http://schemas.openxmlformats.org/drawingml/2006/chart" r:id="rId3"/>
          </a:graphicData>
        </a:graphic>
      </p:graphicFrame>
      <p:sp>
        <p:nvSpPr>
          <p:cNvPr id="5" name="TextBox 4"/>
          <p:cNvSpPr txBox="1"/>
          <p:nvPr/>
        </p:nvSpPr>
        <p:spPr>
          <a:xfrm>
            <a:off x="457200" y="5692140"/>
            <a:ext cx="11247120" cy="740664"/>
          </a:xfrm>
          <a:prstGeom prst="rect">
            <a:avLst/>
          </a:prstGeom>
          <a:noFill/>
        </p:spPr>
        <p:txBody>
          <a:bodyPr wrap="square" anchor="t">
            <a:spAutoFit/>
          </a:bodyPr>
          <a:lstStyle/>
          <a:p>
            <a:pPr algn="ctr">
              <a:spcAft>
                <a:spcPts val="200"/>
              </a:spcAft>
            </a:pPr>
            <a:r>
              <a:rPr sz="1800" b="0">
                <a:solidFill>
                  <a:srgbClr val="1F2937"/>
                </a:solidFill>
              </a:rPr>
              <a:t>Six industrial blade designs; results on the 4 held-out blades the fix never saw.</a:t>
            </a:r>
          </a:p>
          <a:p>
            <a:pPr algn="ctr">
              <a:spcAft>
                <a:spcPts val="200"/>
              </a:spcAft>
            </a:pPr>
            <a:r>
              <a:rPr sz="1800" b="0">
                <a:solidFill>
                  <a:srgbClr val="1F2937"/>
                </a:solidFill>
              </a:rPr>
              <a:t>We found two causes, fixed them without retraining, and proved it on unseen blades.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Industrial Blades: Before and After the Fix</a:t>
            </a:r>
          </a:p>
        </p:txBody>
      </p:sp>
      <p:sp>
        <p:nvSpPr>
          <p:cNvPr id="3" name="TextBox 2"/>
          <p:cNvSpPr txBox="1"/>
          <p:nvPr/>
        </p:nvSpPr>
        <p:spPr>
          <a:xfrm>
            <a:off x="548640" y="1783080"/>
            <a:ext cx="5486400" cy="329184"/>
          </a:xfrm>
          <a:prstGeom prst="rect">
            <a:avLst/>
          </a:prstGeom>
          <a:noFill/>
        </p:spPr>
        <p:txBody>
          <a:bodyPr wrap="square" anchor="t">
            <a:spAutoFit/>
          </a:bodyPr>
          <a:lstStyle/>
          <a:p>
            <a:pPr algn="l">
              <a:spcAft>
                <a:spcPts val="200"/>
              </a:spcAft>
            </a:pPr>
            <a:r>
              <a:rPr sz="1600" b="1">
                <a:solidFill>
                  <a:srgbClr val="C62828"/>
                </a:solidFill>
              </a:rPr>
              <a:t>Frozen v1</a:t>
            </a:r>
          </a:p>
        </p:txBody>
      </p:sp>
      <p:sp>
        <p:nvSpPr>
          <p:cNvPr id="4" name="TextBox 3"/>
          <p:cNvSpPr txBox="1"/>
          <p:nvPr/>
        </p:nvSpPr>
        <p:spPr>
          <a:xfrm>
            <a:off x="6309360" y="1783080"/>
            <a:ext cx="5486400" cy="329184"/>
          </a:xfrm>
          <a:prstGeom prst="rect">
            <a:avLst/>
          </a:prstGeom>
          <a:noFill/>
        </p:spPr>
        <p:txBody>
          <a:bodyPr wrap="square" anchor="t">
            <a:spAutoFit/>
          </a:bodyPr>
          <a:lstStyle/>
          <a:p>
            <a:pPr algn="l">
              <a:spcAft>
                <a:spcPts val="200"/>
              </a:spcAft>
            </a:pPr>
            <a:r>
              <a:rPr sz="1600" b="1">
                <a:solidFill>
                  <a:srgbClr val="1A7F37"/>
                </a:solidFill>
              </a:rPr>
              <a:t>v1.1 (fixed)</a:t>
            </a:r>
          </a:p>
        </p:txBody>
      </p:sp>
      <p:pic>
        <p:nvPicPr>
          <p:cNvPr id="5" name="Picture 4" descr="fix_before.jpg"/>
          <p:cNvPicPr>
            <a:picLocks noChangeAspect="1"/>
          </p:cNvPicPr>
          <p:nvPr/>
        </p:nvPicPr>
        <p:blipFill>
          <a:blip r:embed="rId2"/>
          <a:stretch>
            <a:fillRect/>
          </a:stretch>
        </p:blipFill>
        <p:spPr>
          <a:xfrm>
            <a:off x="1177747" y="2153412"/>
            <a:ext cx="4228185" cy="1316736"/>
          </a:xfrm>
          <a:prstGeom prst="rect">
            <a:avLst/>
          </a:prstGeom>
        </p:spPr>
      </p:pic>
      <p:pic>
        <p:nvPicPr>
          <p:cNvPr id="6" name="Picture 5" descr="fix_after.jpg"/>
          <p:cNvPicPr>
            <a:picLocks noChangeAspect="1"/>
          </p:cNvPicPr>
          <p:nvPr/>
        </p:nvPicPr>
        <p:blipFill>
          <a:blip r:embed="rId3"/>
          <a:stretch>
            <a:fillRect/>
          </a:stretch>
        </p:blipFill>
        <p:spPr>
          <a:xfrm>
            <a:off x="6938467" y="2153412"/>
            <a:ext cx="4228185" cy="1316736"/>
          </a:xfrm>
          <a:prstGeom prst="rect">
            <a:avLst/>
          </a:prstGeom>
        </p:spPr>
      </p:pic>
      <p:pic>
        <p:nvPicPr>
          <p:cNvPr id="7" name="Picture 6" descr="fix2_before.jpg"/>
          <p:cNvPicPr>
            <a:picLocks noChangeAspect="1"/>
          </p:cNvPicPr>
          <p:nvPr/>
        </p:nvPicPr>
        <p:blipFill>
          <a:blip r:embed="rId4"/>
          <a:stretch>
            <a:fillRect/>
          </a:stretch>
        </p:blipFill>
        <p:spPr>
          <a:xfrm>
            <a:off x="1216152" y="3593592"/>
            <a:ext cx="4151376" cy="1316736"/>
          </a:xfrm>
          <a:prstGeom prst="rect">
            <a:avLst/>
          </a:prstGeom>
        </p:spPr>
      </p:pic>
      <p:pic>
        <p:nvPicPr>
          <p:cNvPr id="8" name="Picture 7" descr="fix2_after.jpg"/>
          <p:cNvPicPr>
            <a:picLocks noChangeAspect="1"/>
          </p:cNvPicPr>
          <p:nvPr/>
        </p:nvPicPr>
        <p:blipFill>
          <a:blip r:embed="rId5"/>
          <a:stretch>
            <a:fillRect/>
          </a:stretch>
        </p:blipFill>
        <p:spPr>
          <a:xfrm>
            <a:off x="6976872" y="3593592"/>
            <a:ext cx="4151376" cy="1316736"/>
          </a:xfrm>
          <a:prstGeom prst="rect">
            <a:avLst/>
          </a:prstGeom>
        </p:spPr>
      </p:pic>
      <p:sp>
        <p:nvSpPr>
          <p:cNvPr id="9" name="TextBox 8"/>
          <p:cNvSpPr txBox="1"/>
          <p:nvPr/>
        </p:nvSpPr>
        <p:spPr>
          <a:xfrm>
            <a:off x="548640" y="4992624"/>
            <a:ext cx="11247120" cy="1234440"/>
          </a:xfrm>
          <a:prstGeom prst="rect">
            <a:avLst/>
          </a:prstGeom>
          <a:noFill/>
        </p:spPr>
        <p:txBody>
          <a:bodyPr wrap="square" anchor="t">
            <a:spAutoFit/>
          </a:bodyPr>
          <a:lstStyle/>
          <a:p>
            <a:pPr algn="l">
              <a:spcAft>
                <a:spcPts val="800"/>
              </a:spcAft>
            </a:pPr>
            <a:r>
              <a:rPr sz="1600" b="0">
                <a:solidFill>
                  <a:srgbClr val="1F2937"/>
                </a:solidFill>
              </a:rPr>
              <a:t>•  Top: healthy blade, camera moved: v1 invents a dent; v1.1 reports nothing.</a:t>
            </a:r>
          </a:p>
          <a:p>
            <a:pPr algn="l">
              <a:spcAft>
                <a:spcPts val="800"/>
              </a:spcAft>
            </a:pPr>
            <a:r>
              <a:rPr sz="1600" b="0">
                <a:solidFill>
                  <a:srgbClr val="1F2937"/>
                </a:solidFill>
              </a:rPr>
              <a:t>•  Bottom: real dent: v1 is 37 mm off; v1.1 finds the right place.</a:t>
            </a:r>
          </a:p>
          <a:p>
            <a:pPr algn="l">
              <a:spcAft>
                <a:spcPts val="800"/>
              </a:spcAft>
            </a:pPr>
            <a:r>
              <a:rPr sz="1600" b="0">
                <a:solidFill>
                  <a:srgbClr val="1F2937"/>
                </a:solidFill>
              </a:rPr>
              <a:t>•  Still open: on new designs depth is underestimated (median 60% of true, vs 89% on Rotor37).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 New Idea: Knowing What the Photos Can Show</a:t>
            </a:r>
          </a:p>
        </p:txBody>
      </p:sp>
      <p:sp>
        <p:nvSpPr>
          <p:cNvPr id="3" name="TextBox 2"/>
          <p:cNvSpPr txBox="1"/>
          <p:nvPr/>
        </p:nvSpPr>
        <p:spPr>
          <a:xfrm>
            <a:off x="548640" y="1947672"/>
            <a:ext cx="6035040" cy="3127248"/>
          </a:xfrm>
          <a:prstGeom prst="rect">
            <a:avLst/>
          </a:prstGeom>
          <a:noFill/>
        </p:spPr>
        <p:txBody>
          <a:bodyPr wrap="square" anchor="t">
            <a:spAutoFit/>
          </a:bodyPr>
          <a:lstStyle/>
          <a:p>
            <a:pPr algn="l">
              <a:spcAft>
                <a:spcPts val="800"/>
              </a:spcAft>
            </a:pPr>
            <a:r>
              <a:rPr sz="2100" b="0">
                <a:solidFill>
                  <a:srgbClr val="1F2937"/>
                </a:solidFill>
              </a:rPr>
              <a:t>•  Before searching, predict the smallest detectable dent</a:t>
            </a:r>
          </a:p>
          <a:p>
            <a:pPr algn="l">
              <a:spcAft>
                <a:spcPts val="800"/>
              </a:spcAft>
            </a:pPr>
            <a:r>
              <a:rPr sz="2100" b="0">
                <a:solidFill>
                  <a:srgbClr val="1F2937"/>
                </a:solidFill>
              </a:rPr>
              <a:t>•  Per-point map: where can we see damage?</a:t>
            </a:r>
          </a:p>
          <a:p>
            <a:pPr algn="l">
              <a:spcAft>
                <a:spcPts val="800"/>
              </a:spcAft>
            </a:pPr>
            <a:r>
              <a:rPr sz="2100" b="0">
                <a:solidFill>
                  <a:srgbClr val="1F2937"/>
                </a:solidFill>
              </a:rPr>
              <a:t>•  Tested against reality: predicts which dents are found (AUROC 0.90–0.95 on two sealed tests)</a:t>
            </a:r>
          </a:p>
        </p:txBody>
      </p:sp>
      <p:sp>
        <p:nvSpPr>
          <p:cNvPr id="4" name="Rounded Rectangle 3"/>
          <p:cNvSpPr/>
          <p:nvPr/>
        </p:nvSpPr>
        <p:spPr>
          <a:xfrm>
            <a:off x="548640" y="4910328"/>
            <a:ext cx="6035040" cy="987552"/>
          </a:xfrm>
          <a:prstGeom prst="round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0047BB"/>
                </a:solidFill>
              </a:rPr>
              <a:t>We bound our misses, not just our false alarms.</a:t>
            </a:r>
          </a:p>
        </p:txBody>
      </p:sp>
      <p:pic>
        <p:nvPicPr>
          <p:cNvPr id="5" name="Picture 4" descr="s16_map.png"/>
          <p:cNvPicPr>
            <a:picLocks noChangeAspect="1"/>
          </p:cNvPicPr>
          <p:nvPr/>
        </p:nvPicPr>
        <p:blipFill>
          <a:blip r:embed="rId2"/>
          <a:stretch>
            <a:fillRect/>
          </a:stretch>
        </p:blipFill>
        <p:spPr>
          <a:xfrm>
            <a:off x="7104888" y="1783080"/>
            <a:ext cx="4443984" cy="4608576"/>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From Synthetic to Real Data</a:t>
            </a:r>
          </a:p>
        </p:txBody>
      </p:sp>
      <p:sp>
        <p:nvSpPr>
          <p:cNvPr id="3" name="Rounded Rectangle 2"/>
          <p:cNvSpPr/>
          <p:nvPr/>
        </p:nvSpPr>
        <p:spPr>
          <a:xfrm>
            <a:off x="365760" y="1947672"/>
            <a:ext cx="1691640" cy="1316736"/>
          </a:xfrm>
          <a:prstGeom prst="roundRect">
            <a:avLst/>
          </a:prstGeom>
          <a:solidFill>
            <a:srgbClr val="5A65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rPr>
              <a:t>Synthetic</a:t>
            </a:r>
          </a:p>
          <a:p>
            <a:pPr algn="ctr"/>
            <a:r>
              <a:rPr sz="1300" b="0">
                <a:solidFill>
                  <a:srgbClr val="FFFFFF"/>
                </a:solidFill>
              </a:rPr>
              <a:t>rendered blades, exact truth</a:t>
            </a:r>
          </a:p>
        </p:txBody>
      </p:sp>
      <p:sp>
        <p:nvSpPr>
          <p:cNvPr id="4" name="Right Arrow 3"/>
          <p:cNvSpPr/>
          <p:nvPr/>
        </p:nvSpPr>
        <p:spPr>
          <a:xfrm>
            <a:off x="2075688" y="2441448"/>
            <a:ext cx="201168" cy="263347"/>
          </a:xfrm>
          <a:prstGeom prst="rightArrow">
            <a:avLst/>
          </a:prstGeom>
          <a:solidFill>
            <a:srgbClr val="5A65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286000" y="1947672"/>
            <a:ext cx="1691640" cy="1316736"/>
          </a:xfrm>
          <a:prstGeom prst="roundRect">
            <a:avLst/>
          </a:prstGeom>
          <a:solidFill>
            <a:srgbClr val="0047B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rPr>
              <a:t>Compare to healthy</a:t>
            </a:r>
          </a:p>
          <a:p>
            <a:pPr algn="ctr"/>
            <a:r>
              <a:rPr sz="1300" b="0">
                <a:solidFill>
                  <a:srgbClr val="FFFFFF"/>
                </a:solidFill>
              </a:rPr>
              <a:t>appearance errors cancel</a:t>
            </a:r>
          </a:p>
        </p:txBody>
      </p:sp>
      <p:sp>
        <p:nvSpPr>
          <p:cNvPr id="6" name="Right Arrow 5"/>
          <p:cNvSpPr/>
          <p:nvPr/>
        </p:nvSpPr>
        <p:spPr>
          <a:xfrm>
            <a:off x="3995928" y="2441448"/>
            <a:ext cx="201168" cy="263347"/>
          </a:xfrm>
          <a:prstGeom prst="rightArrow">
            <a:avLst/>
          </a:prstGeom>
          <a:solidFill>
            <a:srgbClr val="5A65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206240" y="1947672"/>
            <a:ext cx="1691640" cy="1316736"/>
          </a:xfrm>
          <a:prstGeom prst="roundRect">
            <a:avLst/>
          </a:prstGeom>
          <a:solidFill>
            <a:srgbClr val="0047B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rPr>
              <a:t>Correction follows camera</a:t>
            </a:r>
          </a:p>
          <a:p>
            <a:pPr algn="ctr"/>
            <a:r>
              <a:rPr sz="1300" b="0">
                <a:solidFill>
                  <a:srgbClr val="FFFFFF"/>
                </a:solidFill>
              </a:rPr>
              <a:t>v1.1: survives camera drift</a:t>
            </a:r>
          </a:p>
        </p:txBody>
      </p:sp>
      <p:sp>
        <p:nvSpPr>
          <p:cNvPr id="8" name="Right Arrow 7"/>
          <p:cNvSpPr/>
          <p:nvPr/>
        </p:nvSpPr>
        <p:spPr>
          <a:xfrm>
            <a:off x="5916168" y="2441448"/>
            <a:ext cx="201168" cy="263347"/>
          </a:xfrm>
          <a:prstGeom prst="rightArrow">
            <a:avLst/>
          </a:prstGeom>
          <a:solidFill>
            <a:srgbClr val="5A65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126480" y="1947672"/>
            <a:ext cx="1691640" cy="1316736"/>
          </a:xfrm>
          <a:prstGeom prst="roundRect">
            <a:avLst/>
          </a:prstGeom>
          <a:solidFill>
            <a:srgbClr val="0047B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rPr>
              <a:t>Calibrate on negatives</a:t>
            </a:r>
          </a:p>
          <a:p>
            <a:pPr algn="ctr"/>
            <a:r>
              <a:rPr sz="1300" b="0">
                <a:solidFill>
                  <a:srgbClr val="FFFFFF"/>
                </a:solidFill>
              </a:rPr>
              <a:t>threshold set on data</a:t>
            </a:r>
          </a:p>
        </p:txBody>
      </p:sp>
      <p:sp>
        <p:nvSpPr>
          <p:cNvPr id="10" name="Right Arrow 9"/>
          <p:cNvSpPr/>
          <p:nvPr/>
        </p:nvSpPr>
        <p:spPr>
          <a:xfrm>
            <a:off x="7836408" y="2441448"/>
            <a:ext cx="201168" cy="263347"/>
          </a:xfrm>
          <a:prstGeom prst="rightArrow">
            <a:avLst/>
          </a:prstGeom>
          <a:solidFill>
            <a:srgbClr val="5A65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46720" y="1947672"/>
            <a:ext cx="1691640" cy="1316736"/>
          </a:xfrm>
          <a:prstGeom prst="round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rPr>
              <a:t>New designs</a:t>
            </a:r>
          </a:p>
          <a:p>
            <a:pPr algn="ctr"/>
            <a:r>
              <a:rPr sz="1300" b="0">
                <a:solidFill>
                  <a:srgbClr val="FFFFFF"/>
                </a:solidFill>
              </a:rPr>
              <a:t>6 industrial blades: detection transfers</a:t>
            </a:r>
          </a:p>
        </p:txBody>
      </p:sp>
      <p:sp>
        <p:nvSpPr>
          <p:cNvPr id="12" name="Right Arrow 11"/>
          <p:cNvSpPr/>
          <p:nvPr/>
        </p:nvSpPr>
        <p:spPr>
          <a:xfrm>
            <a:off x="9756648" y="2441448"/>
            <a:ext cx="201168" cy="263347"/>
          </a:xfrm>
          <a:prstGeom prst="rightArrow">
            <a:avLst/>
          </a:prstGeom>
          <a:solidFill>
            <a:srgbClr val="5A65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966960" y="1947672"/>
            <a:ext cx="1691640" cy="1316736"/>
          </a:xfrm>
          <a:prstGeom prst="roundRect">
            <a:avLst/>
          </a:pr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rPr>
              <a:t>Real blade</a:t>
            </a:r>
          </a:p>
          <a:p>
            <a:pPr algn="ctr"/>
            <a:r>
              <a:rPr sz="1300" b="0">
                <a:solidFill>
                  <a:srgbClr val="FFFFFF"/>
                </a:solidFill>
              </a:rPr>
              <a:t>printed, dented, scanned (next)</a:t>
            </a:r>
          </a:p>
        </p:txBody>
      </p:sp>
      <p:sp>
        <p:nvSpPr>
          <p:cNvPr id="14" name="TextBox 13"/>
          <p:cNvSpPr txBox="1"/>
          <p:nvPr/>
        </p:nvSpPr>
        <p:spPr>
          <a:xfrm>
            <a:off x="548640" y="3593592"/>
            <a:ext cx="5486400" cy="2468880"/>
          </a:xfrm>
          <a:prstGeom prst="rect">
            <a:avLst/>
          </a:prstGeom>
          <a:noFill/>
        </p:spPr>
        <p:txBody>
          <a:bodyPr wrap="square" anchor="t">
            <a:spAutoFit/>
          </a:bodyPr>
          <a:lstStyle/>
          <a:p>
            <a:pPr algn="l">
              <a:spcAft>
                <a:spcPts val="800"/>
              </a:spcAft>
            </a:pPr>
            <a:r>
              <a:rPr sz="1700" b="0">
                <a:solidFill>
                  <a:srgbClr val="1F2937"/>
                </a:solidFill>
              </a:rPr>
              <a:t>•  Real scanned objects (SiM3D, ICCV 2025): not working yet (separation 0.54)</a:t>
            </a:r>
          </a:p>
          <a:p>
            <a:pPr algn="l">
              <a:spcAft>
                <a:spcPts val="800"/>
              </a:spcAft>
            </a:pPr>
            <a:r>
              <a:rPr sz="1700" b="0">
                <a:solidFill>
                  <a:srgbClr val="1F2937"/>
                </a:solidFill>
              </a:rPr>
              <a:t>•  Why: healthy and damaged photos 4–18 px apart; textured wood</a:t>
            </a:r>
          </a:p>
          <a:p>
            <a:pPr algn="l">
              <a:spcAft>
                <a:spcPts val="800"/>
              </a:spcAft>
            </a:pPr>
            <a:r>
              <a:rPr sz="1700" b="0">
                <a:solidFill>
                  <a:srgbClr val="1F2937"/>
                </a:solidFill>
              </a:rPr>
              <a:t>•  Plan: print industrial blade 5 at 2×, dent it, marker-based camera poses, scanner truth</a:t>
            </a:r>
          </a:p>
        </p:txBody>
      </p:sp>
      <p:pic>
        <p:nvPicPr>
          <p:cNvPr id="15" name="Picture 14" descr="s8_photo.png"/>
          <p:cNvPicPr>
            <a:picLocks noChangeAspect="1"/>
          </p:cNvPicPr>
          <p:nvPr/>
        </p:nvPicPr>
        <p:blipFill>
          <a:blip r:embed="rId2"/>
          <a:stretch>
            <a:fillRect/>
          </a:stretch>
        </p:blipFill>
        <p:spPr>
          <a:xfrm>
            <a:off x="6532710" y="3511296"/>
            <a:ext cx="1930739" cy="2633472"/>
          </a:xfrm>
          <a:prstGeom prst="rect">
            <a:avLst/>
          </a:prstGeom>
        </p:spPr>
      </p:pic>
      <p:sp>
        <p:nvSpPr>
          <p:cNvPr id="16" name="Right Arrow 15"/>
          <p:cNvSpPr/>
          <p:nvPr/>
        </p:nvSpPr>
        <p:spPr>
          <a:xfrm>
            <a:off x="8732520" y="4663440"/>
            <a:ext cx="502920" cy="329184"/>
          </a:xfrm>
          <a:prstGeom prst="rightArrow">
            <a:avLst/>
          </a:prstGeom>
          <a:solidFill>
            <a:srgbClr val="5A65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372600" y="3511296"/>
            <a:ext cx="2377440" cy="2633472"/>
          </a:xfrm>
          <a:prstGeom prst="roundRect">
            <a:avLst/>
          </a:prstGeom>
          <a:solidFill>
            <a:srgbClr val="F2F5FA"/>
          </a:solidFill>
          <a:ln w="19050">
            <a:solidFill>
              <a:srgbClr val="5A657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5A6577"/>
                </a:solidFill>
              </a:rPr>
              <a:t>?</a:t>
            </a:r>
          </a:p>
          <a:p>
            <a:pPr algn="ctr"/>
            <a:r>
              <a:rPr sz="1800" b="0">
                <a:solidFill>
                  <a:srgbClr val="5A6577"/>
                </a:solidFill>
              </a:rPr>
              <a:t>real printed</a:t>
            </a:r>
          </a:p>
          <a:p>
            <a:pPr algn="ctr"/>
            <a:r>
              <a:rPr sz="1800" b="0">
                <a:solidFill>
                  <a:srgbClr val="5A6577"/>
                </a:solidFill>
              </a:rPr>
              <a:t>blade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What's Still Missing</a:t>
            </a:r>
          </a:p>
        </p:txBody>
      </p:sp>
      <p:sp>
        <p:nvSpPr>
          <p:cNvPr id="3" name="TextBox 2"/>
          <p:cNvSpPr txBox="1"/>
          <p:nvPr/>
        </p:nvSpPr>
        <p:spPr>
          <a:xfrm>
            <a:off x="548640" y="1947672"/>
            <a:ext cx="5486400" cy="2962656"/>
          </a:xfrm>
          <a:prstGeom prst="rect">
            <a:avLst/>
          </a:prstGeom>
          <a:noFill/>
        </p:spPr>
        <p:txBody>
          <a:bodyPr wrap="square" anchor="t">
            <a:spAutoFit/>
          </a:bodyPr>
          <a:lstStyle/>
          <a:p>
            <a:pPr algn="l">
              <a:spcAft>
                <a:spcPts val="800"/>
              </a:spcAft>
            </a:pPr>
            <a:r>
              <a:rPr sz="2100" b="0">
                <a:solidFill>
                  <a:srgbClr val="1F2937"/>
                </a:solidFill>
              </a:rPr>
              <a:t>•  All results so far are on rendered blades</a:t>
            </a:r>
          </a:p>
          <a:p>
            <a:pPr algn="l">
              <a:spcAft>
                <a:spcPts val="800"/>
              </a:spcAft>
            </a:pPr>
            <a:r>
              <a:rPr sz="2100" b="0">
                <a:solidFill>
                  <a:srgbClr val="1F2937"/>
                </a:solidFill>
              </a:rPr>
              <a:t>•  One real dataset (scanned furniture) did not work yet</a:t>
            </a:r>
          </a:p>
          <a:p>
            <a:pPr algn="l">
              <a:spcAft>
                <a:spcPts val="800"/>
              </a:spcAft>
            </a:pPr>
            <a:r>
              <a:rPr sz="2100" b="0">
                <a:solidFill>
                  <a:srgbClr val="1F2937"/>
                </a:solidFill>
              </a:rPr>
              <a:t>•  Next: 3D-print a real blade, dent it, photograph it and scan it</a:t>
            </a:r>
          </a:p>
        </p:txBody>
      </p:sp>
      <p:pic>
        <p:nvPicPr>
          <p:cNvPr id="4" name="Picture 3" descr="s8_photo.png"/>
          <p:cNvPicPr>
            <a:picLocks noChangeAspect="1"/>
          </p:cNvPicPr>
          <p:nvPr/>
        </p:nvPicPr>
        <p:blipFill>
          <a:blip r:embed="rId2"/>
          <a:stretch>
            <a:fillRect/>
          </a:stretch>
        </p:blipFill>
        <p:spPr>
          <a:xfrm>
            <a:off x="6412038" y="1947672"/>
            <a:ext cx="2172082" cy="2962656"/>
          </a:xfrm>
          <a:prstGeom prst="rect">
            <a:avLst/>
          </a:prstGeom>
        </p:spPr>
      </p:pic>
      <p:sp>
        <p:nvSpPr>
          <p:cNvPr id="5" name="Right Arrow 4"/>
          <p:cNvSpPr/>
          <p:nvPr/>
        </p:nvSpPr>
        <p:spPr>
          <a:xfrm>
            <a:off x="8823960" y="3264408"/>
            <a:ext cx="548640" cy="329184"/>
          </a:xfrm>
          <a:prstGeom prst="rightArrow">
            <a:avLst/>
          </a:prstGeom>
          <a:solidFill>
            <a:srgbClr val="5A65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509760" y="1947672"/>
            <a:ext cx="2286000" cy="2962656"/>
          </a:xfrm>
          <a:prstGeom prst="roundRect">
            <a:avLst/>
          </a:prstGeom>
          <a:solidFill>
            <a:srgbClr val="F2F5FA"/>
          </a:solidFill>
          <a:ln w="19050">
            <a:solidFill>
              <a:srgbClr val="5A657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5A6577"/>
                </a:solidFill>
              </a:rPr>
              <a:t>?</a:t>
            </a:r>
          </a:p>
          <a:p>
            <a:pPr algn="ctr"/>
            <a:r>
              <a:rPr sz="2000" b="0">
                <a:solidFill>
                  <a:srgbClr val="5A6577"/>
                </a:solidFill>
              </a:rPr>
              <a:t>real printed</a:t>
            </a:r>
          </a:p>
          <a:p>
            <a:pPr algn="ctr"/>
            <a:r>
              <a:rPr sz="2000" b="0">
                <a:solidFill>
                  <a:srgbClr val="5A6577"/>
                </a:solidFill>
              </a:rPr>
              <a:t>blade</a:t>
            </a:r>
          </a:p>
        </p:txBody>
      </p:sp>
      <p:sp>
        <p:nvSpPr>
          <p:cNvPr id="7" name="TextBox 6"/>
          <p:cNvSpPr txBox="1"/>
          <p:nvPr/>
        </p:nvSpPr>
        <p:spPr>
          <a:xfrm>
            <a:off x="6309360" y="5074920"/>
            <a:ext cx="5486400" cy="493776"/>
          </a:xfrm>
          <a:prstGeom prst="rect">
            <a:avLst/>
          </a:prstGeom>
          <a:noFill/>
        </p:spPr>
        <p:txBody>
          <a:bodyPr wrap="square" anchor="t">
            <a:spAutoFit/>
          </a:bodyPr>
          <a:lstStyle/>
          <a:p>
            <a:pPr algn="ctr">
              <a:spcAft>
                <a:spcPts val="200"/>
              </a:spcAft>
            </a:pPr>
            <a:r>
              <a:rPr sz="2200" b="1">
                <a:solidFill>
                  <a:srgbClr val="0047BB"/>
                </a:solidFill>
              </a:rPr>
              <a:t>Next step: real validation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Summary</a:t>
            </a:r>
          </a:p>
        </p:txBody>
      </p:sp>
      <p:sp>
        <p:nvSpPr>
          <p:cNvPr id="3" name="TextBox 2"/>
          <p:cNvSpPr txBox="1"/>
          <p:nvPr/>
        </p:nvSpPr>
        <p:spPr>
          <a:xfrm>
            <a:off x="548640" y="1865376"/>
            <a:ext cx="5852160" cy="3950208"/>
          </a:xfrm>
          <a:prstGeom prst="rect">
            <a:avLst/>
          </a:prstGeom>
          <a:noFill/>
        </p:spPr>
        <p:txBody>
          <a:bodyPr wrap="square" anchor="t">
            <a:spAutoFit/>
          </a:bodyPr>
          <a:lstStyle/>
          <a:p>
            <a:pPr algn="l">
              <a:spcAft>
                <a:spcPts val="800"/>
              </a:spcAft>
            </a:pPr>
            <a:r>
              <a:rPr sz="2100" b="0">
                <a:solidFill>
                  <a:srgbClr val="1F2937"/>
                </a:solidFill>
              </a:rPr>
              <a:t>•  We built a method that finds 3D damage on blades from a few photos</a:t>
            </a:r>
          </a:p>
          <a:p>
            <a:pPr algn="l">
              <a:spcAft>
                <a:spcPts val="800"/>
              </a:spcAft>
            </a:pPr>
            <a:r>
              <a:rPr sz="2100" b="0">
                <a:solidFill>
                  <a:srgbClr val="1F2937"/>
                </a:solidFill>
              </a:rPr>
              <a:t>•  It knows when to say "not enough evidence"</a:t>
            </a:r>
          </a:p>
          <a:p>
            <a:pPr algn="l">
              <a:spcAft>
                <a:spcPts val="800"/>
              </a:spcAft>
            </a:pPr>
            <a:r>
              <a:rPr sz="2100" b="0">
                <a:solidFill>
                  <a:srgbClr val="1F2937"/>
                </a:solidFill>
              </a:rPr>
              <a:t>•  It controls false alarms and predicts which dents it can see</a:t>
            </a:r>
          </a:p>
          <a:p>
            <a:pPr algn="l">
              <a:spcAft>
                <a:spcPts val="800"/>
              </a:spcAft>
            </a:pPr>
            <a:r>
              <a:rPr sz="2100" b="0">
                <a:solidFill>
                  <a:srgbClr val="1F2937"/>
                </a:solidFill>
              </a:rPr>
              <a:t>•  Finds damage on new blade designs (after a fix); depth there still ~40% low</a:t>
            </a:r>
          </a:p>
          <a:p>
            <a:pPr algn="l">
              <a:spcAft>
                <a:spcPts val="800"/>
              </a:spcAft>
            </a:pPr>
            <a:r>
              <a:rPr sz="2100" b="0">
                <a:solidFill>
                  <a:srgbClr val="1F2937"/>
                </a:solidFill>
              </a:rPr>
              <a:t>•  Real validation is next</a:t>
            </a:r>
          </a:p>
        </p:txBody>
      </p:sp>
      <p:pic>
        <p:nvPicPr>
          <p:cNvPr id="4" name="Picture 3" descr="method_overview.png"/>
          <p:cNvPicPr>
            <a:picLocks noChangeAspect="1"/>
          </p:cNvPicPr>
          <p:nvPr/>
        </p:nvPicPr>
        <p:blipFill>
          <a:blip r:embed="rId2"/>
          <a:stretch>
            <a:fillRect/>
          </a:stretch>
        </p:blipFill>
        <p:spPr>
          <a:xfrm>
            <a:off x="6583680" y="2640003"/>
            <a:ext cx="5303520" cy="1742585"/>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3D Demo: Actual Damage vs Model Prediction</a:t>
            </a:r>
          </a:p>
        </p:txBody>
      </p:sp>
      <p:pic>
        <p:nvPicPr>
          <p:cNvPr id="3" name="Picture 2" descr="viewer_ind.png"/>
          <p:cNvPicPr>
            <a:picLocks noChangeAspect="1"/>
          </p:cNvPicPr>
          <p:nvPr/>
        </p:nvPicPr>
        <p:blipFill>
          <a:blip r:embed="rId2"/>
          <a:stretch>
            <a:fillRect/>
          </a:stretch>
        </p:blipFill>
        <p:spPr>
          <a:xfrm>
            <a:off x="715571" y="1783080"/>
            <a:ext cx="6889897" cy="4114800"/>
          </a:xfrm>
          <a:prstGeom prst="rect">
            <a:avLst/>
          </a:prstGeom>
        </p:spPr>
      </p:pic>
      <p:sp>
        <p:nvSpPr>
          <p:cNvPr id="4" name="TextBox 3"/>
          <p:cNvSpPr txBox="1"/>
          <p:nvPr/>
        </p:nvSpPr>
        <p:spPr>
          <a:xfrm>
            <a:off x="8138160" y="1947672"/>
            <a:ext cx="3657600" cy="2962656"/>
          </a:xfrm>
          <a:prstGeom prst="rect">
            <a:avLst/>
          </a:prstGeom>
          <a:noFill/>
        </p:spPr>
        <p:txBody>
          <a:bodyPr wrap="square" anchor="t">
            <a:spAutoFit/>
          </a:bodyPr>
          <a:lstStyle/>
          <a:p>
            <a:pPr algn="l">
              <a:spcAft>
                <a:spcPts val="800"/>
              </a:spcAft>
            </a:pPr>
            <a:r>
              <a:rPr sz="1600" b="0">
                <a:solidFill>
                  <a:srgbClr val="1F2937"/>
                </a:solidFill>
              </a:rPr>
              <a:t>•  Rotate the blade 360°</a:t>
            </a:r>
          </a:p>
          <a:p>
            <a:pPr algn="l">
              <a:spcAft>
                <a:spcPts val="800"/>
              </a:spcAft>
            </a:pPr>
            <a:r>
              <a:rPr sz="1600" b="0">
                <a:solidFill>
                  <a:srgbClr val="1F2937"/>
                </a:solidFill>
              </a:rPr>
              <a:t>•  Switch: healthy · actual damage · model prediction · old model</a:t>
            </a:r>
          </a:p>
          <a:p>
            <a:pPr algn="l">
              <a:spcAft>
                <a:spcPts val="800"/>
              </a:spcAft>
            </a:pPr>
            <a:r>
              <a:rPr sz="1600" b="0">
                <a:solidFill>
                  <a:srgbClr val="1F2937"/>
                </a:solidFill>
              </a:rPr>
              <a:t>•  Side by side: truth (left) vs model (right)</a:t>
            </a:r>
          </a:p>
          <a:p>
            <a:pPr algn="l">
              <a:spcAft>
                <a:spcPts val="800"/>
              </a:spcAft>
            </a:pPr>
            <a:r>
              <a:rPr sz="1600" b="0">
                <a:solidFill>
                  <a:srgbClr val="1F2937"/>
                </a:solidFill>
              </a:rPr>
              <a:t>•  Rotor37 and industrial blades</a:t>
            </a:r>
          </a:p>
        </p:txBody>
      </p:sp>
      <p:sp>
        <p:nvSpPr>
          <p:cNvPr id="5" name="TextBox 4"/>
          <p:cNvSpPr txBox="1"/>
          <p:nvPr/>
        </p:nvSpPr>
        <p:spPr>
          <a:xfrm>
            <a:off x="8138160" y="4910328"/>
            <a:ext cx="3657600" cy="987552"/>
          </a:xfrm>
          <a:prstGeom prst="rect">
            <a:avLst/>
          </a:prstGeom>
          <a:noFill/>
        </p:spPr>
        <p:txBody>
          <a:bodyPr wrap="square" anchor="t">
            <a:spAutoFit/>
          </a:bodyPr>
          <a:lstStyle/>
          <a:p>
            <a:pPr algn="l">
              <a:spcAft>
                <a:spcPts val="200"/>
              </a:spcAft>
            </a:pPr>
            <a:r>
              <a:rPr sz="1400" b="1">
                <a:solidFill>
                  <a:srgbClr val="0047BB"/>
                </a:solidFill>
              </a:rPr>
              <a:t>afeefaaazam03.github.io/3D-Jetblade/viewer3d.html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Try It</a:t>
            </a:r>
          </a:p>
        </p:txBody>
      </p:sp>
      <p:pic>
        <p:nvPicPr>
          <p:cNvPr id="3" name="Picture 2" descr="s19_demo.png"/>
          <p:cNvPicPr>
            <a:picLocks noChangeAspect="1"/>
          </p:cNvPicPr>
          <p:nvPr/>
        </p:nvPicPr>
        <p:blipFill>
          <a:blip r:embed="rId2"/>
          <a:stretch>
            <a:fillRect/>
          </a:stretch>
        </p:blipFill>
        <p:spPr>
          <a:xfrm>
            <a:off x="1372597" y="1783080"/>
            <a:ext cx="6033044" cy="4608576"/>
          </a:xfrm>
          <a:prstGeom prst="rect">
            <a:avLst/>
          </a:prstGeom>
        </p:spPr>
      </p:pic>
      <p:sp>
        <p:nvSpPr>
          <p:cNvPr id="4" name="TextBox 3"/>
          <p:cNvSpPr txBox="1"/>
          <p:nvPr/>
        </p:nvSpPr>
        <p:spPr>
          <a:xfrm>
            <a:off x="8503920" y="2276856"/>
            <a:ext cx="3291840" cy="2880360"/>
          </a:xfrm>
          <a:prstGeom prst="rect">
            <a:avLst/>
          </a:prstGeom>
          <a:noFill/>
        </p:spPr>
        <p:txBody>
          <a:bodyPr wrap="square" anchor="t">
            <a:spAutoFit/>
          </a:bodyPr>
          <a:lstStyle/>
          <a:p>
            <a:pPr algn="l">
              <a:spcAft>
                <a:spcPts val="800"/>
              </a:spcAft>
            </a:pPr>
            <a:r>
              <a:rPr sz="1900" b="0">
                <a:solidFill>
                  <a:srgbClr val="1F2937"/>
                </a:solidFill>
              </a:rPr>
              <a:t>•  Pick a blade case</a:t>
            </a:r>
          </a:p>
          <a:p>
            <a:pPr algn="l">
              <a:spcAft>
                <a:spcPts val="800"/>
              </a:spcAft>
            </a:pPr>
            <a:r>
              <a:rPr sz="1900" b="0">
                <a:solidFill>
                  <a:srgbClr val="1F2937"/>
                </a:solidFill>
              </a:rPr>
              <a:t>•  See the decision, depth and evidence</a:t>
            </a:r>
          </a:p>
          <a:p>
            <a:pPr algn="l">
              <a:spcAft>
                <a:spcPts val="800"/>
              </a:spcAft>
            </a:pPr>
            <a:r>
              <a:rPr sz="1900" b="0">
                <a:solidFill>
                  <a:srgbClr val="1F2937"/>
                </a:solidFill>
              </a:rPr>
              <a:t>•  Drag the slider: healthy vs photo</a:t>
            </a:r>
          </a:p>
        </p:txBody>
      </p:sp>
      <p:sp>
        <p:nvSpPr>
          <p:cNvPr id="5" name="TextBox 4"/>
          <p:cNvSpPr txBox="1"/>
          <p:nvPr/>
        </p:nvSpPr>
        <p:spPr>
          <a:xfrm>
            <a:off x="8503920" y="4992624"/>
            <a:ext cx="3291840" cy="987552"/>
          </a:xfrm>
          <a:prstGeom prst="rect">
            <a:avLst/>
          </a:prstGeom>
          <a:noFill/>
        </p:spPr>
        <p:txBody>
          <a:bodyPr wrap="square" anchor="t">
            <a:spAutoFit/>
          </a:bodyPr>
          <a:lstStyle/>
          <a:p>
            <a:pPr algn="l">
              <a:spcAft>
                <a:spcPts val="200"/>
              </a:spcAft>
            </a:pPr>
            <a:r>
              <a:rPr sz="1500" b="1">
                <a:solidFill>
                  <a:srgbClr val="0047BB"/>
                </a:solidFill>
              </a:rPr>
              <a:t>afeefaaazam03.github.io/3D-Jetblade/try.html</a:t>
            </a:r>
          </a:p>
        </p:txBody>
      </p:sp>
    </p:spTree>
  </p:cSld>
  <p:clrMapOvr>
    <a:masterClrMapping/>
  </p:clrMapOvr>
</p:sld>
</file>

<file path=ppt/theme/theme1.xml><?xml version="1.0" encoding="utf-8"?>
<a:theme xmlns:a="http://schemas.openxmlformats.org/drawingml/2006/main" name="KU Theme">
  <a:themeElements>
    <a:clrScheme name="KU">
      <a:dk1>
        <a:sysClr val="windowText" lastClr="000000"/>
      </a:dk1>
      <a:lt1>
        <a:sysClr val="window" lastClr="FFFFFF"/>
      </a:lt1>
      <a:dk2>
        <a:srgbClr val="0047BA"/>
      </a:dk2>
      <a:lt2>
        <a:srgbClr val="96969A"/>
      </a:lt2>
      <a:accent1>
        <a:srgbClr val="00CE7C"/>
      </a:accent1>
      <a:accent2>
        <a:srgbClr val="E53E51"/>
      </a:accent2>
      <a:accent3>
        <a:srgbClr val="84DADE"/>
      </a:accent3>
      <a:accent4>
        <a:srgbClr val="4C3041"/>
      </a:accent4>
      <a:accent5>
        <a:srgbClr val="F5CE3E"/>
      </a:accent5>
      <a:accent6>
        <a:srgbClr val="D0CFCD"/>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850" smtClean="0"/>
        </a:defPPr>
      </a:lstStyle>
    </a:txDef>
  </a:objectDefaults>
  <a:extraClrSchemeLst/>
  <a:extLst>
    <a:ext uri="{05A4C25C-085E-4340-85A3-A5531E510DB2}">
      <thm15:themeFamily xmlns:thm15="http://schemas.microsoft.com/office/thememl/2012/main" name="KU_presentation_template_v2018-04-09 E.potx" id="{AF960482-6B50-417C-AC38-1AFEBFC77BA4}" vid="{1F04D338-456F-4FFC-9561-BAAA645232F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7BCE9BEE86D22418B98990A0B028EF2" ma:contentTypeVersion="2" ma:contentTypeDescription="Create a new document." ma:contentTypeScope="" ma:versionID="c92d080676834feb7a8d6e7ac37a685f">
  <xsd:schema xmlns:xsd="http://www.w3.org/2001/XMLSchema" xmlns:xs="http://www.w3.org/2001/XMLSchema" xmlns:p="http://schemas.microsoft.com/office/2006/metadata/properties" xmlns:ns1="http://schemas.microsoft.com/sharepoint/v3" xmlns:ns2="557946a8-a765-46f2-8d44-445b86b509b9" targetNamespace="http://schemas.microsoft.com/office/2006/metadata/properties" ma:root="true" ma:fieldsID="773afa511ca0245c4474d0f23d29f83c" ns1:_="" ns2:_="">
    <xsd:import namespace="http://schemas.microsoft.com/sharepoint/v3"/>
    <xsd:import namespace="557946a8-a765-46f2-8d44-445b86b509b9"/>
    <xsd:element name="properties">
      <xsd:complexType>
        <xsd:sequence>
          <xsd:element name="documentManagement">
            <xsd:complexType>
              <xsd:all>
                <xsd:element ref="ns1:PublishingStartDate" minOccurs="0"/>
                <xsd:element ref="ns1:PublishingExpirationDate" minOccurs="0"/>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hidden="true"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57946a8-a765-46f2-8d44-445b86b509b9" elementFormDefault="qualified">
    <xsd:import namespace="http://schemas.microsoft.com/office/2006/documentManagement/types"/>
    <xsd:import namespace="http://schemas.microsoft.com/office/infopath/2007/PartnerControls"/>
    <xsd:element name="SharedWithUsers" ma:index="10"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B510135-11A2-4CE9-AC9A-F9B5F7E81A9F}">
  <ds:schemaRefs>
    <ds:schemaRef ds:uri="http://www.w3.org/XML/1998/namespace"/>
    <ds:schemaRef ds:uri="http://schemas.microsoft.com/office/2006/documentManagement/types"/>
    <ds:schemaRef ds:uri="http://purl.org/dc/terms/"/>
    <ds:schemaRef ds:uri="http://schemas.microsoft.com/sharepoint/v3"/>
    <ds:schemaRef ds:uri="557946a8-a765-46f2-8d44-445b86b509b9"/>
    <ds:schemaRef ds:uri="http://purl.org/dc/elements/1.1/"/>
    <ds:schemaRef ds:uri="http://schemas.microsoft.com/office/2006/metadata/properties"/>
    <ds:schemaRef ds:uri="http://schemas.microsoft.com/office/infopath/2007/PartnerControls"/>
    <ds:schemaRef ds:uri="http://schemas.openxmlformats.org/package/2006/metadata/core-properties"/>
    <ds:schemaRef ds:uri="http://purl.org/dc/dcmitype/"/>
  </ds:schemaRefs>
</ds:datastoreItem>
</file>

<file path=customXml/itemProps2.xml><?xml version="1.0" encoding="utf-8"?>
<ds:datastoreItem xmlns:ds="http://schemas.openxmlformats.org/officeDocument/2006/customXml" ds:itemID="{1FD50A8C-CA97-4410-A798-5A85CCD8F172}">
  <ds:schemaRefs>
    <ds:schemaRef ds:uri="http://schemas.microsoft.com/sharepoint/v3/contenttype/forms"/>
  </ds:schemaRefs>
</ds:datastoreItem>
</file>

<file path=customXml/itemProps3.xml><?xml version="1.0" encoding="utf-8"?>
<ds:datastoreItem xmlns:ds="http://schemas.openxmlformats.org/officeDocument/2006/customXml" ds:itemID="{AC14F958-FA86-4F8B-BDB0-691B121869C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57946a8-a765-46f2-8d44-445b86b509b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KU Theme</Template>
  <TotalTime>30283</TotalTime>
  <Words>122</Words>
  <Application>Microsoft Office PowerPoint</Application>
  <PresentationFormat>Widescreen</PresentationFormat>
  <Paragraphs>24</Paragraphs>
  <Slides>5</Slides>
  <Notes>0</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KU Theme</vt:lpstr>
      <vt:lpstr>Silal &amp; Khalifa University Incubation Program</vt:lpstr>
      <vt:lpstr>Dataset Summary</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 Title Goes Here</dc:title>
  <dc:creator>Majed Almansoori</dc:creator>
  <cp:lastModifiedBy>Muhammad  Shafay</cp:lastModifiedBy>
  <cp:revision>182</cp:revision>
  <dcterms:created xsi:type="dcterms:W3CDTF">2018-04-29T10:48:36Z</dcterms:created>
  <dcterms:modified xsi:type="dcterms:W3CDTF">2026-10-13T07:33:33Z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0x010100E7BCE9BEE86D22418B98990A0B028EF2</vt:lpwstr>
  </property>
</Properties>
</file>